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Ground truth</c:v>
                </c:pt>
              </c:strCache>
            </c:strRef>
          </c:tx>
          <c:spPr>
            <a:solidFill>
              <a:srgbClr val="1F4D36"/>
            </a:solidFill>
            <a:effectLst/>
          </c:spPr>
          <c:invertIfNegative val="0"/>
          <c:dLbls>
            <c:numFmt formatCode="0" sourceLinked="0"/>
            <c:txPr>
              <a:bodyPr/>
              <a:lstStyle/>
              <a:p>
                <a:pPr>
                  <a:defRPr b="0" i="0" strike="noStrike" sz="800" u="none">
                    <a:solidFill>
                      <a:srgbClr val="1E2B24"/>
                    </a:solidFill>
                    <a:latin typeface="Arial"/>
                  </a:defRPr>
                </a:pPr>
              </a:p>
            </c:txPr>
            <c:showLegendKey val="0"/>
            <c:showVal val="1"/>
            <c:showCatName val="0"/>
            <c:showSerName val="0"/>
            <c:showPercent val="0"/>
            <c:showBubbleSize val="0"/>
            <c:showLeaderLines val="0"/>
          </c:dLbls>
          <c:cat>
            <c:multiLvlStrRef>
              <c:f>Sheet1!$A$2:$A$8</c:f>
              <c:multiLvlStrCache>
                <c:ptCount val="7"/>
                <c:lvl>
                  <c:pt idx="0">
                    <c:v>Naive sum</c:v>
                  </c:pt>
                  <c:pt idx="1">
                    <c:v>Global divisor</c:v>
                  </c:pt>
                  <c:pt idx="2">
                    <c:v>ElasticNet</c:v>
                  </c:pt>
                  <c:pt idx="3">
                    <c:v>SVM</c:v>
                  </c:pt>
                  <c:pt idx="4">
                    <c:v>Ridge</c:v>
                  </c:pt>
                  <c:pt idx="5">
                    <c:v>Linear</c:v>
                  </c:pt>
                  <c:pt idx="6">
                    <c:v>Random forest</c:v>
                  </c:pt>
                </c:lvl>
              </c:multiLvlStrCache>
            </c:multiLvlStrRef>
          </c:cat>
          <c:val>
            <c:numRef>
              <c:f>Sheet1!$B$2:$B$8</c:f>
              <c:numCache>
                <c:formatCode>General</c:formatCode>
                <c:ptCount val="7"/>
                <c:pt idx="0">
                  <c:v>50</c:v>
                </c:pt>
                <c:pt idx="1">
                  <c:v>95.57</c:v>
                </c:pt>
                <c:pt idx="2">
                  <c:v>98.05</c:v>
                </c:pt>
                <c:pt idx="3">
                  <c:v>97.87</c:v>
                </c:pt>
                <c:pt idx="4">
                  <c:v>97.7</c:v>
                </c:pt>
                <c:pt idx="5">
                  <c:v>97.52</c:v>
                </c:pt>
                <c:pt idx="6">
                  <c:v>95.92</c:v>
                </c:pt>
              </c:numCache>
            </c:numRef>
          </c:val>
        </c:ser>
        <c:ser>
          <c:idx val="1"/>
          <c:order val="1"/>
          <c:tx>
            <c:strRef>
              <c:f>Sheet1!$C$1</c:f>
              <c:strCache>
                <c:ptCount val="1"/>
                <c:pt idx="0">
                  <c:v>Fixed detector</c:v>
                </c:pt>
              </c:strCache>
            </c:strRef>
          </c:tx>
          <c:spPr>
            <a:solidFill>
              <a:srgbClr val="C8511B"/>
            </a:solidFill>
            <a:effectLst/>
          </c:spPr>
          <c:invertIfNegative val="0"/>
          <c:dLbls>
            <c:numFmt formatCode="0" sourceLinked="0"/>
            <c:txPr>
              <a:bodyPr/>
              <a:lstStyle/>
              <a:p>
                <a:pPr>
                  <a:defRPr b="0" i="0" strike="noStrike" sz="800" u="none">
                    <a:solidFill>
                      <a:srgbClr val="1E2B24"/>
                    </a:solidFill>
                    <a:latin typeface="Arial"/>
                  </a:defRPr>
                </a:pPr>
              </a:p>
            </c:txPr>
            <c:showLegendKey val="0"/>
            <c:showVal val="1"/>
            <c:showCatName val="0"/>
            <c:showSerName val="0"/>
            <c:showPercent val="0"/>
            <c:showBubbleSize val="0"/>
            <c:showLeaderLines val="0"/>
          </c:dLbls>
          <c:cat>
            <c:multiLvlStrRef>
              <c:f>Sheet1!$A$2:$A$8</c:f>
              <c:multiLvlStrCache>
                <c:ptCount val="7"/>
                <c:lvl>
                  <c:pt idx="0">
                    <c:v>Naive sum</c:v>
                  </c:pt>
                  <c:pt idx="1">
                    <c:v>Global divisor</c:v>
                  </c:pt>
                  <c:pt idx="2">
                    <c:v>ElasticNet</c:v>
                  </c:pt>
                  <c:pt idx="3">
                    <c:v>SVM</c:v>
                  </c:pt>
                  <c:pt idx="4">
                    <c:v>Ridge</c:v>
                  </c:pt>
                  <c:pt idx="5">
                    <c:v>Linear</c:v>
                  </c:pt>
                  <c:pt idx="6">
                    <c:v>Random forest</c:v>
                  </c:pt>
                </c:lvl>
              </c:multiLvlStrCache>
            </c:multiLvlStrRef>
          </c:cat>
          <c:val>
            <c:numRef>
              <c:f>Sheet1!$C$2:$C$8</c:f>
              <c:numCache>
                <c:formatCode>General</c:formatCode>
                <c:ptCount val="7"/>
                <c:pt idx="0">
                  <c:v>50.71</c:v>
                </c:pt>
                <c:pt idx="1">
                  <c:v>70.21</c:v>
                </c:pt>
                <c:pt idx="2">
                  <c:v>76.42</c:v>
                </c:pt>
                <c:pt idx="3">
                  <c:v>74.82</c:v>
                </c:pt>
                <c:pt idx="4">
                  <c:v>76.06</c:v>
                </c:pt>
                <c:pt idx="5">
                  <c:v>75.71</c:v>
                </c:pt>
                <c:pt idx="6">
                  <c:v>73.23</c:v>
                </c:pt>
              </c:numCache>
            </c:numRef>
          </c:val>
        </c:ser>
        <c:dLbls>
          <c:numFmt formatCode="0" sourceLinked="0"/>
          <c:txPr>
            <a:bodyPr/>
            <a:lstStyle/>
            <a:p>
              <a:pPr>
                <a:defRPr b="0" i="0" strike="noStrike" sz="800" u="none">
                  <a:solidFill>
                    <a:srgbClr val="1E2B24"/>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B6B62"/>
                </a:solidFill>
                <a:latin typeface="Arial"/>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E2B24"/>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FFFFF"/>
                </a:solidFill>
                <a:latin typeface="Arial"/>
              </a:defRPr>
            </a:pPr>
            <a:r>
              <a:rPr sz="1200" b="0" i="0" u="none" strike="noStrike">
                <a:solidFill>
                  <a:srgbClr val="FFFFFF"/>
                </a:solidFill>
                <a:latin typeface="Arial"/>
              </a:rPr>
              <a:t>Detector vs 2,612 GT appearances</a:t>
            </a:r>
          </a:p>
        </c:rich>
      </c:tx>
      <c:layout/>
      <c:overlay val="0"/>
    </c:title>
    <c:autoTitleDeleted val="0"/>
    <c:plotArea>
      <c:layout/>
      <c:doughnutChart>
        <c:varyColors val="1"/>
        <c:ser>
          <c:idx val="0"/>
          <c:order val="0"/>
          <c:tx>
            <c:strRef>
              <c:f>Sheet1!$B$1</c:f>
              <c:strCache>
                <c:ptCount val="1"/>
                <c:pt idx="0">
                  <c:v>Appearances</c:v>
                </c:pt>
              </c:strCache>
            </c:strRef>
          </c:tx>
          <c:spPr>
            <a:solidFill>
              <a:schemeClr val="accent1"/>
            </a:solidFill>
            <a:ln w="9525" cap="flat">
              <a:solidFill>
                <a:srgbClr val="F9F9F9"/>
              </a:solidFill>
              <a:prstDash val="solid"/>
              <a:round/>
            </a:ln>
            <a:effectLst/>
          </c:spPr>
          <c:dPt>
            <c:idx val="0"/>
            <c:bubble3D val="0"/>
            <c:spPr>
              <a:solidFill>
                <a:srgbClr val="A9C9A4"/>
              </a:solidFill>
              <a:effectLst/>
            </c:spPr>
          </c:dPt>
          <c:dPt>
            <c:idx val="1"/>
            <c:bubble3D val="0"/>
            <c:spPr>
              <a:solidFill>
                <a:srgbClr val="E57373"/>
              </a:solidFill>
              <a:effectLst/>
            </c:spPr>
          </c:dPt>
          <c:dPt>
            <c:idx val="2"/>
            <c:bubble3D val="0"/>
            <c:spPr>
              <a:solidFill>
                <a:srgbClr val="F2A36B"/>
              </a:solidFill>
              <a:effectLst/>
            </c:spPr>
          </c:dPt>
          <c:dLbls>
            <c:dLbl>
              <c:idx val="0"/>
              <c:numFmt formatCode="0%" sourceLinked="0"/>
              <c:spPr/>
              <c:txPr>
                <a:bodyPr/>
                <a:lstStyle/>
                <a:p>
                  <a:pPr>
                    <a:defRPr sz="1200" b="0" i="0" u="none" strike="noStrike">
                      <a:solidFill>
                        <a:srgbClr val="12291D"/>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12291D"/>
                      </a:solidFill>
                      <a:latin typeface="Arial"/>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12291D"/>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Found, right class</c:v>
                </c:pt>
                <c:pt idx="1">
                  <c:v>Missed</c:v>
                </c:pt>
                <c:pt idx="2">
                  <c:v>Wrong class</c:v>
                </c:pt>
              </c:strCache>
            </c:strRef>
          </c:cat>
          <c:val>
            <c:numRef>
              <c:f>Sheet1!$B$2:$B$4</c:f>
              <c:numCache>
                <c:ptCount val="3"/>
                <c:pt idx="0">
                  <c:v>1252</c:v>
                </c:pt>
                <c:pt idx="1">
                  <c:v>964</c:v>
                </c:pt>
                <c:pt idx="2">
                  <c:v>396</c:v>
                </c:pt>
              </c:numCache>
            </c:numRef>
          </c:val>
        </c:ser>
        <c:firstSliceAng val="0"/>
        <c:holeSize val="58"/>
      </c:doughnutChart>
      <c:spPr>
        <a:noFill/>
        <a:ln>
          <a:noFill/>
        </a:ln>
        <a:effectLst/>
      </c:spPr>
    </c:plotArea>
    <c:legend>
      <c:legendPos val="b"/>
      <c:overlay val="0"/>
      <c:txPr>
        <a:bodyPr/>
        <a:lstStyle/>
        <a:p>
          <a:pPr>
            <a:defRPr sz="1000">
              <a:solidFill>
                <a:srgbClr val="FFFFFF"/>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Muhammad Zainal Muttaqin, and I am from Lambung Mangkurat University.
Today I will present our paper, titled "Benchmarking Multi-View Tree-Level Oil Palm Bunch Counting Under a Fixed Detector".
In simple words, this work is about counting oil palm fruit bunches from photos. A system like this usually has two parts: one model that finds the bunches in each photo, and another one that turns those detections into a final count for the tree. So the question I want to answer today is quite simple. When the final count is wrong, which of the two is actually responsible?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why we count bunches in the first place. In an oil palm plantation, the harvest has to be planned ahead, and to do that the manager needs to know how many bunches are on each tree and how ripe they are.
This survey is called the Black Bunch Census. Every bunch on the tree is put into one of four classes, which you can see here. B1 is the ripe one, B2 is starting to turn red, and B3 and B4 are still unripe, so they will be harvested later.
Right now, this is done manually. Workers walk from tree to tree and count by eye, which takes a lot of time and also depends on who is counting. That is why we want to do it with a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study this, we built our own dataset, which we call SawitMVC. We collected it in a field survey at two plantations in Indonesia, DAMIMAS and LONSUM, using a smartphone.
The problem with taking only one photo is that you cannot see the whole tree. The bunches grow all around the trunk, and some of them are hidden behind the leaves. So for each tree, we walked around it and took photos from four sides, and for a small number of trees from eight sides. In total we have 953 trees and almost four thousand images.
After that, domain experts drew a box around every bunch and gave it a class. And there is one more step, which is very important for us: they also marked which boxes in different photos belong to the same physical bunch. Because of that, we know the true number of bunches on every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taking photos from several sides solves one problem, but it creates another one.
Please look at the bunch inside the orange box. *[point]* You can see it in the first view, then again in the second view, and again in the third view. So we have three boxes, but in reality it is only one bunch.
And this happens a lot. On average, one bunch appears about 1.89 times, so almost twice. That means if we just add up all the boxes, we will get almost double the real number.
So we need something that takes the boxes from all the photos and turns them into the real number of bunches on the tree. In this talk, I will call that part the counter.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course, in a real system nobody draws the boxes by hand. A detector does that, and a detector makes mistakes. So when the final count is wrong, we do not know if the problem comes from the detector or from the counter.
To separate the two, we run every counter twice.
The first time, on the left, we give it the ground truth boxes, the ones drawn by the experts. Here every bunch is found and every class is correct.
The second time, on the right, we give it the boxes from a YOLO26m detector. We trained this detector once on the 716 training trees and then we did not change it anymore, which is why we call it a fixed detector. And as you can see on this tree from the test set, it is not perfect. It misses one bunch completely, it labels a B2 bunch as B3, and it puts a second box on a bunch it has already found.
The important point is that the counting method is the same in both cases, and the only thing that changes is the boxes. So if the accuracy drops, we know that the drop comes from the detection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does a counter actually work? It does not look at the images at all. It only looks at a few numbers that summarise the boxes of one tree.
Let me use this example for class B3. This tree has four views, and each view contains two B3 boxes. *[point: the yellow boxes]* From these, we compute three simple numbers. The sum is eight. The maximum in a single view is two. And the mean per view is two.
Why these three? Because the sum is usually too high, since it counts the same bunch several times. And the maximum is usually too low, since one photo cannot see every bunch. On this tree the true number of B3 bunches is four, so the real answer is somewhere in between, and these numbers help the counter find it.
We do the same for all four classes, and we add the number of views. That gives us thirteen numbers for each tree, and this is our baseline feature set. We also tried a larger set with up to 67 features, and I will come back to that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counting itself. We start with two very simple rules that do not need any training.
The first one is the naive sum. It just takes the total, which is eight in our example, and as we already saw, that counts the same bunch several times.
The second one is a bit smarter. We know that on average one bunch appears about 1.89 times, so we simply divide the sum by that number. In our example, eight divided by 1.89 gives about four. We get this divisor from the training trees only, and we compute it separately for each kind of boxes: it is 1.89 for the ground truth boxes and 1.79 for the detector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using one divisor for all trees is a rough rule, because different trees can have different patterns. So we also train regression models on the 716 training trees. Each model takes the features of one tree as input, thirteen numbers in the baseline, and gives four numbers as output, which are the counts for B1 to B4.
We compare five models that are all quite standard: linear regression, Ridge, ElasticNet, SVM, and random forest. We did not try to design a new counter here. What we want to see is how much the choice of counter really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show the results, let me explain how we measure accuracy, because we use two metrics and they are easy to mix up.
In both of them, we say a prediction is correct if it is within one bunch of the true count. So if a tree has five bunches and we predict four or six, we still count that as correct.
Let me show you with this example tree. For B1, the true count is one and we predict one, so that is correct. For B2, it is two and we predict three, which is still within one. For B4, it is two and two, also correct. But for B3, the true count is five and we predict seven. That is off by two, so it is wrong. *[point: B3 column]*
The first metric is Class ±1. It looks at every class separately, so this tree gets three out of four, or 75 percent.
The second metric is Tree ±1, and it is much stricter. Here the tree is only counted as correct if all four classes are correct at the same time. Because B3 is wrong, the whole tree is counted as wrong, so it gets zero.
So when you see the results, please remember that the tree-level number can never be higher than the class-level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look at the results on the 141 test trees.
First, the green bars. These are the counters when we give them the ground truth boxes. The naive sum on the left only gets 50 percent, which is what we expected. But all the other counters are very high, around 96 to 98 percent. And if we use the strict metric, the best counter still gets 92 percent of the trees right in all four classes. So when the boxes are correct, counting from several views is actually not that difficult, even with simple models.
Now look at the orange bars. These are the same counting methods, but this time with the boxes from the detector. The accuracy goes down a lot. The best bar in this chart is about 76 percent, and even our best configuration overall only reaches 77 percent. With the strict metric, only about one tree in three is right in all four classes.
And there is one more thing I want you to notice. If you compare the five machine learning counters with each other, the difference between the best and the worst is only about three points, and that difference is not statistically significant. So changing the counter gives us about three points, but changing the boxes costs us about 21 points. That is the main result of this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next question is, what exactly goes wrong in the detector? The chart on the left gives the overall picture. Out of all the bunch appearances in the test images, the detector finds and labels correctly only about 48 percent. About 37 percent are missed, and about 15 percent are found but given the wrong class. So there are two main problems.
The first one is missed bunches. Some of them are still caught in another view, but about 23 percent of the bunches are never detected in any of the views. And for B4, the small and very unripe bunches, it is even worse, more than 40 percent. If a bunch is never detected, the counter has no information about it at all, so the best it can do is guess.
The second problem is the wrong class. Sometimes the detector finds the bunch but gives it the wrong label. The most common case is B2 being labelled as B3, which happened 158 times in the test set. In that case the total number of bunches is still right, but the bunch is counted in the wrong class.
We also asked ourselves if a better counter could fix this. So we gave the counter more information, 67 features instead of 13. But the improvement was only 1.4 points, and it was not statistically significant.
Finally, we wanted to make sure this is not just a coincidence from one setup. So we repeated the comparison in four ways: with the configuration chosen on the validation set, with cross-validation, with a different detector, YOLO11m, and with four YOLO26 checkpoints. In all of these checks, the gap stays between 23 and 25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 me come back to the question from the beginning. When the count is wrong, is it the detector or the counter?
On our dataset, it is mostly the detector. We lose about 21 points because of the detector, and only about three points between the different counters.
This also tells us where to work next. The detector needs to find more of the B3 and B4 bunches, and it needs to be better at telling B2 and B3 apart.
We also have one suggestion for other people who work on counting. Please report your counter with both the ground truth boxes and the detector boxes, per class and per tree. If you only use one of them, you cannot really tell where the errors come from.
I should also be honest about the limits. This is one dataset from two estates, and the ground truth result is an empirical reference for us, not an upper bound. For future work, we plan to try explicit multi-view association, to repeat the detector training, and to test on an independent plantation.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all from me. Our code and results are available on GitHub, and the link is on the slide. Thank you very much for listening, and I would be 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image" Target="../media/image-6-4.jp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ULM-SawitMVC/Baseline-SawitMVC" TargetMode="External"/><Relationship Id="rId1" Type="http://schemas.openxmlformats.org/officeDocument/2006/relationships/image" Target="../media/image-13-1.jpg"/><Relationship Id="rId2"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91D"/>
        </a:solidFill>
      </p:bgPr>
    </p:bg>
    <p:spTree>
      <p:nvGrpSpPr>
        <p:cNvPr id="1" name=""/>
        <p:cNvGrpSpPr/>
        <p:nvPr/>
      </p:nvGrpSpPr>
      <p:grpSpPr>
        <a:xfrm>
          <a:off x="0" y="0"/>
          <a:ext cx="0" cy="0"/>
          <a:chOff x="0" y="0"/>
          <a:chExt cx="0" cy="0"/>
        </a:xfrm>
      </p:grpSpPr>
      <p:pic>
        <p:nvPicPr>
          <p:cNvPr id="2" name="Image 0" descr="/home/claude/real/s3.jpg">    </p:cNvPr>
          <p:cNvPicPr>
            <a:picLocks noChangeAspect="1"/>
          </p:cNvPicPr>
          <p:nvPr/>
        </p:nvPicPr>
        <p:blipFill>
          <a:blip r:embed="rId1"/>
          <a:srcRect l="0" r="0" t="0" b="0"/>
          <a:stretch/>
        </p:blipFill>
        <p:spPr>
          <a:xfrm>
            <a:off x="5120640" y="0"/>
            <a:ext cx="4023360" cy="5143500"/>
          </a:xfrm>
          <a:prstGeom prst="rect">
            <a:avLst/>
          </a:prstGeom>
        </p:spPr>
      </p:pic>
      <p:sp>
        <p:nvSpPr>
          <p:cNvPr id="3" name="Shape 0"/>
          <p:cNvSpPr/>
          <p:nvPr/>
        </p:nvSpPr>
        <p:spPr>
          <a:xfrm>
            <a:off x="5120640" y="0"/>
            <a:ext cx="4023360" cy="5143500"/>
          </a:xfrm>
          <a:prstGeom prst="rect">
            <a:avLst/>
          </a:prstGeom>
          <a:solidFill>
            <a:srgbClr val="12291D">
              <a:alpha val="30000"/>
            </a:srgbClr>
          </a:solidFill>
          <a:ln/>
        </p:spPr>
      </p:sp>
      <p:sp>
        <p:nvSpPr>
          <p:cNvPr id="4" name="Text 1"/>
          <p:cNvSpPr txBox="1"/>
          <p:nvPr/>
        </p:nvSpPr>
        <p:spPr>
          <a:xfrm>
            <a:off x="457200" y="411480"/>
            <a:ext cx="4572000" cy="365760"/>
          </a:xfrm>
          <a:prstGeom prst="rect">
            <a:avLst/>
          </a:prstGeom>
          <a:noFill/>
          <a:ln/>
        </p:spPr>
        <p:txBody>
          <a:bodyPr wrap="square" lIns="0" tIns="0" rIns="0" bIns="0" rtlCol="0" anchor="ctr"/>
          <a:lstStyle/>
          <a:p>
            <a:pPr indent="0" marL="0">
              <a:buNone/>
            </a:pPr>
            <a:r>
              <a:rPr lang="en-US" sz="1100" dirty="0">
                <a:solidFill>
                  <a:srgbClr val="A9C9A4"/>
                </a:solidFill>
                <a:latin typeface="Calibri" pitchFamily="34" charset="0"/>
                <a:ea typeface="Calibri" pitchFamily="34" charset="-122"/>
                <a:cs typeface="Calibri" pitchFamily="34" charset="-120"/>
              </a:rPr>
              <a:t>ICIC 2026  ·  The Tenth International Conference on Informatics and Computing</a:t>
            </a:r>
            <a:endParaRPr lang="en-US" sz="1100" dirty="0"/>
          </a:p>
        </p:txBody>
      </p:sp>
      <p:sp>
        <p:nvSpPr>
          <p:cNvPr id="5" name="Text 2"/>
          <p:cNvSpPr txBox="1"/>
          <p:nvPr/>
        </p:nvSpPr>
        <p:spPr>
          <a:xfrm>
            <a:off x="457200" y="1051560"/>
            <a:ext cx="4480560" cy="192024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Benchmarking Multi-View Tree-Level Oil Palm Bunch Counting Under a Fixed Detector</a:t>
            </a:r>
            <a:endParaRPr lang="en-US" sz="3000" dirty="0"/>
          </a:p>
        </p:txBody>
      </p:sp>
      <p:sp>
        <p:nvSpPr>
          <p:cNvPr id="6" name="Text 3"/>
          <p:cNvSpPr txBox="1"/>
          <p:nvPr/>
        </p:nvSpPr>
        <p:spPr>
          <a:xfrm>
            <a:off x="457200" y="3703320"/>
            <a:ext cx="4480560" cy="1005840"/>
          </a:xfrm>
          <a:prstGeom prst="rect">
            <a:avLst/>
          </a:prstGeom>
          <a:noFill/>
          <a:ln/>
        </p:spPr>
        <p:txBody>
          <a:bodyPr wrap="square" lIns="0" tIns="0" rIns="0" bIns="0" rtlCol="0" anchor="t"/>
          <a:lstStyle/>
          <a:p>
            <a:pPr indent="0" marL="0">
              <a:spcAft>
                <a:spcPts val="300"/>
              </a:spcAft>
              <a:buNone/>
            </a:pPr>
            <a:r>
              <a:rPr lang="en-US" sz="1100" b="1" dirty="0">
                <a:solidFill>
                  <a:srgbClr val="DCE8DE"/>
                </a:solidFill>
                <a:latin typeface="Calibri" pitchFamily="34" charset="0"/>
                <a:ea typeface="Calibri" pitchFamily="34" charset="-122"/>
                <a:cs typeface="Calibri" pitchFamily="34" charset="-120"/>
              </a:rPr>
              <a:t>Muhammad Zainal Muttaqin</a:t>
            </a:r>
            <a:endParaRPr lang="en-US" sz="1100" dirty="0"/>
          </a:p>
          <a:p>
            <a:pPr indent="0" marL="0">
              <a:spcAft>
                <a:spcPts val="300"/>
              </a:spcAft>
              <a:buNone/>
            </a:pPr>
            <a:r>
              <a:rPr lang="en-US" sz="1100" dirty="0">
                <a:solidFill>
                  <a:srgbClr val="DCE8DE"/>
                </a:solidFill>
                <a:latin typeface="Calibri" pitchFamily="34" charset="0"/>
                <a:ea typeface="Calibri" pitchFamily="34" charset="-122"/>
                <a:cs typeface="Calibri" pitchFamily="34" charset="-120"/>
              </a:rPr>
              <a:t>F. Indriani, S. W. Saputro, A. Rahmi, T. H. Saragih, Hartoni, D. Kartini, N. Said</a:t>
            </a:r>
            <a:endParaRPr lang="en-US" sz="1100" dirty="0"/>
          </a:p>
          <a:p>
            <a:pPr indent="0" marL="0">
              <a:spcAft>
                <a:spcPts val="300"/>
              </a:spcAft>
              <a:buNone/>
            </a:pPr>
            <a:r>
              <a:rPr lang="en-US" sz="1100" dirty="0">
                <a:solidFill>
                  <a:srgbClr val="DCE8DE"/>
                </a:solidFill>
                <a:latin typeface="Calibri" pitchFamily="34" charset="0"/>
                <a:ea typeface="Calibri" pitchFamily="34" charset="-122"/>
                <a:cs typeface="Calibri" pitchFamily="34" charset="-120"/>
              </a:rPr>
              <a:t>Lambung Mangkurat University, Banjarbaru, Indonesia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B24"/>
                </a:solidFill>
                <a:latin typeface="Cambria" pitchFamily="34" charset="0"/>
                <a:ea typeface="Cambria" pitchFamily="34" charset="-122"/>
                <a:cs typeface="Cambria" pitchFamily="34" charset="-120"/>
              </a:rPr>
              <a:t>Black Bunch Census: four maturity classes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500" dirty="0">
                <a:solidFill>
                  <a:srgbClr val="5B6B62"/>
                </a:solidFill>
                <a:latin typeface="Calibri" pitchFamily="34" charset="0"/>
                <a:ea typeface="Calibri" pitchFamily="34" charset="-122"/>
                <a:cs typeface="Calibri" pitchFamily="34" charset="-120"/>
              </a:rPr>
              <a:t>Every bunch on a tree is assigned to one class</a:t>
            </a:r>
            <a:endParaRPr lang="en-US" sz="1500" dirty="0"/>
          </a:p>
        </p:txBody>
      </p:sp>
      <p:sp>
        <p:nvSpPr>
          <p:cNvPr id="4" name="Shape 2"/>
          <p:cNvSpPr/>
          <p:nvPr/>
        </p:nvSpPr>
        <p:spPr>
          <a:xfrm>
            <a:off x="457200" y="1325880"/>
            <a:ext cx="1874520" cy="2926080"/>
          </a:xfrm>
          <a:prstGeom prst="roundRect">
            <a:avLst>
              <a:gd name="adj" fmla="val 4878"/>
            </a:avLst>
          </a:prstGeom>
          <a:solidFill>
            <a:srgbClr val="EEF4EF"/>
          </a:solidFill>
          <a:ln/>
        </p:spPr>
      </p:sp>
      <p:pic>
        <p:nvPicPr>
          <p:cNvPr id="5" name="Image 0" descr="/home/claude/real/c_B1.jpg">    </p:cNvPr>
          <p:cNvPicPr>
            <a:picLocks noChangeAspect="1"/>
          </p:cNvPicPr>
          <p:nvPr/>
        </p:nvPicPr>
        <p:blipFill>
          <a:blip r:embed="rId1"/>
          <a:srcRect l="0" r="0" t="0" b="0"/>
          <a:stretch/>
        </p:blipFill>
        <p:spPr>
          <a:xfrm>
            <a:off x="594360" y="1463040"/>
            <a:ext cx="1600200" cy="1325880"/>
          </a:xfrm>
          <a:prstGeom prst="rect">
            <a:avLst/>
          </a:prstGeom>
        </p:spPr>
      </p:pic>
      <p:sp>
        <p:nvSpPr>
          <p:cNvPr id="6" name="Shape 3"/>
          <p:cNvSpPr/>
          <p:nvPr/>
        </p:nvSpPr>
        <p:spPr>
          <a:xfrm>
            <a:off x="1024128" y="2852928"/>
            <a:ext cx="731520" cy="329184"/>
          </a:xfrm>
          <a:prstGeom prst="roundRect">
            <a:avLst>
              <a:gd name="adj" fmla="val 50000"/>
            </a:avLst>
          </a:prstGeom>
          <a:solidFill>
            <a:srgbClr val="C8511B"/>
          </a:solidFill>
          <a:ln/>
        </p:spPr>
      </p:sp>
      <p:sp>
        <p:nvSpPr>
          <p:cNvPr id="7" name="Text 4"/>
          <p:cNvSpPr txBox="1"/>
          <p:nvPr/>
        </p:nvSpPr>
        <p:spPr>
          <a:xfrm>
            <a:off x="1024128" y="2852928"/>
            <a:ext cx="73152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B1</a:t>
            </a:r>
            <a:endParaRPr lang="en-US" sz="1500" dirty="0"/>
          </a:p>
        </p:txBody>
      </p:sp>
      <p:sp>
        <p:nvSpPr>
          <p:cNvPr id="8" name="Text 5"/>
          <p:cNvSpPr txBox="1"/>
          <p:nvPr/>
        </p:nvSpPr>
        <p:spPr>
          <a:xfrm>
            <a:off x="548640" y="3291840"/>
            <a:ext cx="1691640" cy="320040"/>
          </a:xfrm>
          <a:prstGeom prst="rect">
            <a:avLst/>
          </a:prstGeom>
          <a:noFill/>
          <a:ln/>
        </p:spPr>
        <p:txBody>
          <a:bodyPr wrap="square" lIns="0" tIns="0" rIns="0" bIns="0" rtlCol="0" anchor="ctr"/>
          <a:lstStyle/>
          <a:p>
            <a:pPr algn="ctr" indent="0" marL="0">
              <a:buNone/>
            </a:pPr>
            <a:r>
              <a:rPr lang="en-US" sz="1300" b="1" dirty="0">
                <a:solidFill>
                  <a:srgbClr val="1E2B24"/>
                </a:solidFill>
                <a:latin typeface="Calibri" pitchFamily="34" charset="0"/>
                <a:ea typeface="Calibri" pitchFamily="34" charset="-122"/>
                <a:cs typeface="Calibri" pitchFamily="34" charset="-120"/>
              </a:rPr>
              <a:t>Red, large, round</a:t>
            </a:r>
            <a:endParaRPr lang="en-US" sz="1300" dirty="0"/>
          </a:p>
        </p:txBody>
      </p:sp>
      <p:sp>
        <p:nvSpPr>
          <p:cNvPr id="9" name="Text 6"/>
          <p:cNvSpPr txBox="1"/>
          <p:nvPr/>
        </p:nvSpPr>
        <p:spPr>
          <a:xfrm>
            <a:off x="548640" y="3611880"/>
            <a:ext cx="1691640" cy="274320"/>
          </a:xfrm>
          <a:prstGeom prst="rect">
            <a:avLst/>
          </a:prstGeom>
          <a:noFill/>
          <a:ln/>
        </p:spPr>
        <p:txBody>
          <a:bodyPr wrap="square" lIns="0" tIns="0" rIns="0" bIns="0" rtlCol="0" anchor="ctr"/>
          <a:lstStyle/>
          <a:p>
            <a:pPr algn="ctr" indent="0" marL="0">
              <a:buNone/>
            </a:pPr>
            <a:r>
              <a:rPr lang="en-US" sz="1200" dirty="0">
                <a:solidFill>
                  <a:srgbClr val="5B6B62"/>
                </a:solidFill>
                <a:latin typeface="Calibri" pitchFamily="34" charset="0"/>
                <a:ea typeface="Calibri" pitchFamily="34" charset="-122"/>
                <a:cs typeface="Calibri" pitchFamily="34" charset="-120"/>
              </a:rPr>
              <a:t>Ripe</a:t>
            </a:r>
            <a:endParaRPr lang="en-US" sz="1200" dirty="0"/>
          </a:p>
        </p:txBody>
      </p:sp>
      <p:sp>
        <p:nvSpPr>
          <p:cNvPr id="10" name="Shape 7"/>
          <p:cNvSpPr/>
          <p:nvPr/>
        </p:nvSpPr>
        <p:spPr>
          <a:xfrm>
            <a:off x="2560320" y="1325880"/>
            <a:ext cx="1874520" cy="2926080"/>
          </a:xfrm>
          <a:prstGeom prst="roundRect">
            <a:avLst>
              <a:gd name="adj" fmla="val 4878"/>
            </a:avLst>
          </a:prstGeom>
          <a:solidFill>
            <a:srgbClr val="EEF4EF"/>
          </a:solidFill>
          <a:ln/>
        </p:spPr>
      </p:sp>
      <p:pic>
        <p:nvPicPr>
          <p:cNvPr id="11" name="Image 1" descr="/home/claude/real/c_B2.jpg">    </p:cNvPr>
          <p:cNvPicPr>
            <a:picLocks noChangeAspect="1"/>
          </p:cNvPicPr>
          <p:nvPr/>
        </p:nvPicPr>
        <p:blipFill>
          <a:blip r:embed="rId2"/>
          <a:srcRect l="0" r="0" t="0" b="0"/>
          <a:stretch/>
        </p:blipFill>
        <p:spPr>
          <a:xfrm>
            <a:off x="2697480" y="1463040"/>
            <a:ext cx="1600200" cy="1325880"/>
          </a:xfrm>
          <a:prstGeom prst="rect">
            <a:avLst/>
          </a:prstGeom>
        </p:spPr>
      </p:pic>
      <p:sp>
        <p:nvSpPr>
          <p:cNvPr id="12" name="Shape 8"/>
          <p:cNvSpPr/>
          <p:nvPr/>
        </p:nvSpPr>
        <p:spPr>
          <a:xfrm>
            <a:off x="3127248" y="2852928"/>
            <a:ext cx="731520" cy="329184"/>
          </a:xfrm>
          <a:prstGeom prst="roundRect">
            <a:avLst>
              <a:gd name="adj" fmla="val 50000"/>
            </a:avLst>
          </a:prstGeom>
          <a:solidFill>
            <a:srgbClr val="9E2A2B"/>
          </a:solidFill>
          <a:ln/>
        </p:spPr>
      </p:sp>
      <p:sp>
        <p:nvSpPr>
          <p:cNvPr id="13" name="Text 9"/>
          <p:cNvSpPr txBox="1"/>
          <p:nvPr/>
        </p:nvSpPr>
        <p:spPr>
          <a:xfrm>
            <a:off x="3127248" y="2852928"/>
            <a:ext cx="73152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B2</a:t>
            </a:r>
            <a:endParaRPr lang="en-US" sz="1500" dirty="0"/>
          </a:p>
        </p:txBody>
      </p:sp>
      <p:sp>
        <p:nvSpPr>
          <p:cNvPr id="14" name="Text 10"/>
          <p:cNvSpPr txBox="1"/>
          <p:nvPr/>
        </p:nvSpPr>
        <p:spPr>
          <a:xfrm>
            <a:off x="2651760" y="3291840"/>
            <a:ext cx="1691640" cy="320040"/>
          </a:xfrm>
          <a:prstGeom prst="rect">
            <a:avLst/>
          </a:prstGeom>
          <a:noFill/>
          <a:ln/>
        </p:spPr>
        <p:txBody>
          <a:bodyPr wrap="square" lIns="0" tIns="0" rIns="0" bIns="0" rtlCol="0" anchor="ctr"/>
          <a:lstStyle/>
          <a:p>
            <a:pPr algn="ctr" indent="0" marL="0">
              <a:buNone/>
            </a:pPr>
            <a:r>
              <a:rPr lang="en-US" sz="1300" b="1" dirty="0">
                <a:solidFill>
                  <a:srgbClr val="1E2B24"/>
                </a:solidFill>
                <a:latin typeface="Calibri" pitchFamily="34" charset="0"/>
                <a:ea typeface="Calibri" pitchFamily="34" charset="-122"/>
                <a:cs typeface="Calibri" pitchFamily="34" charset="-120"/>
              </a:rPr>
              <a:t>Dark, turning red</a:t>
            </a:r>
            <a:endParaRPr lang="en-US" sz="1300" dirty="0"/>
          </a:p>
        </p:txBody>
      </p:sp>
      <p:sp>
        <p:nvSpPr>
          <p:cNvPr id="15" name="Text 11"/>
          <p:cNvSpPr txBox="1"/>
          <p:nvPr/>
        </p:nvSpPr>
        <p:spPr>
          <a:xfrm>
            <a:off x="2651760" y="3611880"/>
            <a:ext cx="1691640" cy="274320"/>
          </a:xfrm>
          <a:prstGeom prst="rect">
            <a:avLst/>
          </a:prstGeom>
          <a:noFill/>
          <a:ln/>
        </p:spPr>
        <p:txBody>
          <a:bodyPr wrap="square" lIns="0" tIns="0" rIns="0" bIns="0" rtlCol="0" anchor="ctr"/>
          <a:lstStyle/>
          <a:p>
            <a:pPr algn="ctr" indent="0" marL="0">
              <a:buNone/>
            </a:pPr>
            <a:r>
              <a:rPr lang="en-US" sz="1200" dirty="0">
                <a:solidFill>
                  <a:srgbClr val="5B6B62"/>
                </a:solidFill>
                <a:latin typeface="Calibri" pitchFamily="34" charset="0"/>
                <a:ea typeface="Calibri" pitchFamily="34" charset="-122"/>
                <a:cs typeface="Calibri" pitchFamily="34" charset="-120"/>
              </a:rPr>
              <a:t>Transitioning</a:t>
            </a:r>
            <a:endParaRPr lang="en-US" sz="1200" dirty="0"/>
          </a:p>
        </p:txBody>
      </p:sp>
      <p:sp>
        <p:nvSpPr>
          <p:cNvPr id="16" name="Shape 12"/>
          <p:cNvSpPr/>
          <p:nvPr/>
        </p:nvSpPr>
        <p:spPr>
          <a:xfrm>
            <a:off x="4663440" y="1325880"/>
            <a:ext cx="1874520" cy="2926080"/>
          </a:xfrm>
          <a:prstGeom prst="roundRect">
            <a:avLst>
              <a:gd name="adj" fmla="val 4878"/>
            </a:avLst>
          </a:prstGeom>
          <a:solidFill>
            <a:srgbClr val="EEF4EF"/>
          </a:solidFill>
          <a:ln/>
        </p:spPr>
      </p:sp>
      <p:pic>
        <p:nvPicPr>
          <p:cNvPr id="17" name="Image 2" descr="/home/claude/real/c_B3.jpg">    </p:cNvPr>
          <p:cNvPicPr>
            <a:picLocks noChangeAspect="1"/>
          </p:cNvPicPr>
          <p:nvPr/>
        </p:nvPicPr>
        <p:blipFill>
          <a:blip r:embed="rId3"/>
          <a:srcRect l="0" r="0" t="0" b="0"/>
          <a:stretch/>
        </p:blipFill>
        <p:spPr>
          <a:xfrm>
            <a:off x="4800600" y="1463040"/>
            <a:ext cx="1600200" cy="1325880"/>
          </a:xfrm>
          <a:prstGeom prst="rect">
            <a:avLst/>
          </a:prstGeom>
        </p:spPr>
      </p:pic>
      <p:sp>
        <p:nvSpPr>
          <p:cNvPr id="18" name="Shape 13"/>
          <p:cNvSpPr/>
          <p:nvPr/>
        </p:nvSpPr>
        <p:spPr>
          <a:xfrm>
            <a:off x="5230368" y="2852928"/>
            <a:ext cx="731520" cy="329184"/>
          </a:xfrm>
          <a:prstGeom prst="roundRect">
            <a:avLst>
              <a:gd name="adj" fmla="val 50000"/>
            </a:avLst>
          </a:prstGeom>
          <a:solidFill>
            <a:srgbClr val="12291D"/>
          </a:solidFill>
          <a:ln/>
        </p:spPr>
      </p:sp>
      <p:sp>
        <p:nvSpPr>
          <p:cNvPr id="19" name="Text 14"/>
          <p:cNvSpPr txBox="1"/>
          <p:nvPr/>
        </p:nvSpPr>
        <p:spPr>
          <a:xfrm>
            <a:off x="5230368" y="2852928"/>
            <a:ext cx="73152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B3</a:t>
            </a:r>
            <a:endParaRPr lang="en-US" sz="1500" dirty="0"/>
          </a:p>
        </p:txBody>
      </p:sp>
      <p:sp>
        <p:nvSpPr>
          <p:cNvPr id="20" name="Text 15"/>
          <p:cNvSpPr txBox="1"/>
          <p:nvPr/>
        </p:nvSpPr>
        <p:spPr>
          <a:xfrm>
            <a:off x="4754880" y="3291840"/>
            <a:ext cx="1691640" cy="320040"/>
          </a:xfrm>
          <a:prstGeom prst="rect">
            <a:avLst/>
          </a:prstGeom>
          <a:noFill/>
          <a:ln/>
        </p:spPr>
        <p:txBody>
          <a:bodyPr wrap="square" lIns="0" tIns="0" rIns="0" bIns="0" rtlCol="0" anchor="ctr"/>
          <a:lstStyle/>
          <a:p>
            <a:pPr algn="ctr" indent="0" marL="0">
              <a:buNone/>
            </a:pPr>
            <a:r>
              <a:rPr lang="en-US" sz="1300" b="1" dirty="0">
                <a:solidFill>
                  <a:srgbClr val="1E2B24"/>
                </a:solidFill>
                <a:latin typeface="Calibri" pitchFamily="34" charset="0"/>
                <a:ea typeface="Calibri" pitchFamily="34" charset="-122"/>
                <a:cs typeface="Calibri" pitchFamily="34" charset="-120"/>
              </a:rPr>
              <a:t>Black, spiny, elongated</a:t>
            </a:r>
            <a:endParaRPr lang="en-US" sz="1300" dirty="0"/>
          </a:p>
        </p:txBody>
      </p:sp>
      <p:sp>
        <p:nvSpPr>
          <p:cNvPr id="21" name="Text 16"/>
          <p:cNvSpPr txBox="1"/>
          <p:nvPr/>
        </p:nvSpPr>
        <p:spPr>
          <a:xfrm>
            <a:off x="4754880" y="3611880"/>
            <a:ext cx="1691640" cy="274320"/>
          </a:xfrm>
          <a:prstGeom prst="rect">
            <a:avLst/>
          </a:prstGeom>
          <a:noFill/>
          <a:ln/>
        </p:spPr>
        <p:txBody>
          <a:bodyPr wrap="square" lIns="0" tIns="0" rIns="0" bIns="0" rtlCol="0" anchor="ctr"/>
          <a:lstStyle/>
          <a:p>
            <a:pPr algn="ctr" indent="0" marL="0">
              <a:buNone/>
            </a:pPr>
            <a:r>
              <a:rPr lang="en-US" sz="1200" dirty="0">
                <a:solidFill>
                  <a:srgbClr val="5B6B62"/>
                </a:solidFill>
                <a:latin typeface="Calibri" pitchFamily="34" charset="0"/>
                <a:ea typeface="Calibri" pitchFamily="34" charset="-122"/>
                <a:cs typeface="Calibri" pitchFamily="34" charset="-120"/>
              </a:rPr>
              <a:t>Unripe</a:t>
            </a:r>
            <a:endParaRPr lang="en-US" sz="1200" dirty="0"/>
          </a:p>
        </p:txBody>
      </p:sp>
      <p:sp>
        <p:nvSpPr>
          <p:cNvPr id="22" name="Shape 17"/>
          <p:cNvSpPr/>
          <p:nvPr/>
        </p:nvSpPr>
        <p:spPr>
          <a:xfrm>
            <a:off x="6766560" y="1325880"/>
            <a:ext cx="1874520" cy="2926080"/>
          </a:xfrm>
          <a:prstGeom prst="roundRect">
            <a:avLst>
              <a:gd name="adj" fmla="val 4878"/>
            </a:avLst>
          </a:prstGeom>
          <a:solidFill>
            <a:srgbClr val="EEF4EF"/>
          </a:solidFill>
          <a:ln/>
        </p:spPr>
      </p:sp>
      <p:pic>
        <p:nvPicPr>
          <p:cNvPr id="23" name="Image 3" descr="/home/claude/real/c_B4.jpg">    </p:cNvPr>
          <p:cNvPicPr>
            <a:picLocks noChangeAspect="1"/>
          </p:cNvPicPr>
          <p:nvPr/>
        </p:nvPicPr>
        <p:blipFill>
          <a:blip r:embed="rId4"/>
          <a:srcRect l="0" r="0" t="0" b="0"/>
          <a:stretch/>
        </p:blipFill>
        <p:spPr>
          <a:xfrm>
            <a:off x="6903720" y="1463040"/>
            <a:ext cx="1600200" cy="1325880"/>
          </a:xfrm>
          <a:prstGeom prst="rect">
            <a:avLst/>
          </a:prstGeom>
        </p:spPr>
      </p:pic>
      <p:sp>
        <p:nvSpPr>
          <p:cNvPr id="24" name="Shape 18"/>
          <p:cNvSpPr/>
          <p:nvPr/>
        </p:nvSpPr>
        <p:spPr>
          <a:xfrm>
            <a:off x="7333488" y="2852928"/>
            <a:ext cx="731520" cy="329184"/>
          </a:xfrm>
          <a:prstGeom prst="roundRect">
            <a:avLst>
              <a:gd name="adj" fmla="val 50000"/>
            </a:avLst>
          </a:prstGeom>
          <a:solidFill>
            <a:srgbClr val="1F4D36"/>
          </a:solidFill>
          <a:ln/>
        </p:spPr>
      </p:sp>
      <p:sp>
        <p:nvSpPr>
          <p:cNvPr id="25" name="Text 19"/>
          <p:cNvSpPr txBox="1"/>
          <p:nvPr/>
        </p:nvSpPr>
        <p:spPr>
          <a:xfrm>
            <a:off x="7333488" y="2852928"/>
            <a:ext cx="73152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B4</a:t>
            </a:r>
            <a:endParaRPr lang="en-US" sz="1500" dirty="0"/>
          </a:p>
        </p:txBody>
      </p:sp>
      <p:sp>
        <p:nvSpPr>
          <p:cNvPr id="26" name="Text 20"/>
          <p:cNvSpPr txBox="1"/>
          <p:nvPr/>
        </p:nvSpPr>
        <p:spPr>
          <a:xfrm>
            <a:off x="6858000" y="3291840"/>
            <a:ext cx="1691640" cy="320040"/>
          </a:xfrm>
          <a:prstGeom prst="rect">
            <a:avLst/>
          </a:prstGeom>
          <a:noFill/>
          <a:ln/>
        </p:spPr>
        <p:txBody>
          <a:bodyPr wrap="square" lIns="0" tIns="0" rIns="0" bIns="0" rtlCol="0" anchor="ctr"/>
          <a:lstStyle/>
          <a:p>
            <a:pPr algn="ctr" indent="0" marL="0">
              <a:buNone/>
            </a:pPr>
            <a:r>
              <a:rPr lang="en-US" sz="1300" b="1" dirty="0">
                <a:solidFill>
                  <a:srgbClr val="1E2B24"/>
                </a:solidFill>
                <a:latin typeface="Calibri" pitchFamily="34" charset="0"/>
                <a:ea typeface="Calibri" pitchFamily="34" charset="-122"/>
                <a:cs typeface="Calibri" pitchFamily="34" charset="-120"/>
              </a:rPr>
              <a:t>Small, black to green</a:t>
            </a:r>
            <a:endParaRPr lang="en-US" sz="1300" dirty="0"/>
          </a:p>
        </p:txBody>
      </p:sp>
      <p:sp>
        <p:nvSpPr>
          <p:cNvPr id="27" name="Text 21"/>
          <p:cNvSpPr txBox="1"/>
          <p:nvPr/>
        </p:nvSpPr>
        <p:spPr>
          <a:xfrm>
            <a:off x="6858000" y="3611880"/>
            <a:ext cx="1691640" cy="274320"/>
          </a:xfrm>
          <a:prstGeom prst="rect">
            <a:avLst/>
          </a:prstGeom>
          <a:noFill/>
          <a:ln/>
        </p:spPr>
        <p:txBody>
          <a:bodyPr wrap="square" lIns="0" tIns="0" rIns="0" bIns="0" rtlCol="0" anchor="ctr"/>
          <a:lstStyle/>
          <a:p>
            <a:pPr algn="ctr" indent="0" marL="0">
              <a:buNone/>
            </a:pPr>
            <a:r>
              <a:rPr lang="en-US" sz="1200" dirty="0">
                <a:solidFill>
                  <a:srgbClr val="5B6B62"/>
                </a:solidFill>
                <a:latin typeface="Calibri" pitchFamily="34" charset="0"/>
                <a:ea typeface="Calibri" pitchFamily="34" charset="-122"/>
                <a:cs typeface="Calibri" pitchFamily="34" charset="-120"/>
              </a:rPr>
              <a:t>Very unripe</a:t>
            </a:r>
            <a:endParaRPr lang="en-US" sz="1200" dirty="0"/>
          </a:p>
        </p:txBody>
      </p:sp>
      <p:sp>
        <p:nvSpPr>
          <p:cNvPr id="28" name="Shape 22"/>
          <p:cNvSpPr/>
          <p:nvPr/>
        </p:nvSpPr>
        <p:spPr>
          <a:xfrm>
            <a:off x="822960" y="4480560"/>
            <a:ext cx="7498080" cy="0"/>
          </a:xfrm>
          <a:prstGeom prst="line">
            <a:avLst/>
          </a:prstGeom>
          <a:noFill/>
          <a:ln w="19050">
            <a:solidFill>
              <a:srgbClr val="5B6B62"/>
            </a:solidFill>
            <a:prstDash val="solid"/>
            <a:tailEnd type="triangle"/>
          </a:ln>
        </p:spPr>
      </p:sp>
      <p:sp>
        <p:nvSpPr>
          <p:cNvPr id="29" name="Text 23"/>
          <p:cNvSpPr txBox="1"/>
          <p:nvPr/>
        </p:nvSpPr>
        <p:spPr>
          <a:xfrm>
            <a:off x="457200" y="4526280"/>
            <a:ext cx="2743200" cy="274320"/>
          </a:xfrm>
          <a:prstGeom prst="rect">
            <a:avLst/>
          </a:prstGeom>
          <a:noFill/>
          <a:ln/>
        </p:spPr>
        <p:txBody>
          <a:bodyPr wrap="square" lIns="0" tIns="0" rIns="0" bIns="0" rtlCol="0" anchor="ctr"/>
          <a:lstStyle/>
          <a:p>
            <a:pPr indent="0" marL="0">
              <a:buNone/>
            </a:pPr>
            <a:r>
              <a:rPr lang="en-US" sz="1100" dirty="0">
                <a:solidFill>
                  <a:srgbClr val="5B6B62"/>
                </a:solidFill>
                <a:latin typeface="Calibri" pitchFamily="34" charset="0"/>
                <a:ea typeface="Calibri" pitchFamily="34" charset="-122"/>
                <a:cs typeface="Calibri" pitchFamily="34" charset="-120"/>
              </a:rPr>
              <a:t>most ripe</a:t>
            </a:r>
            <a:endParaRPr lang="en-US" sz="1100" dirty="0"/>
          </a:p>
        </p:txBody>
      </p:sp>
      <p:sp>
        <p:nvSpPr>
          <p:cNvPr id="30" name="Text 24"/>
          <p:cNvSpPr txBox="1"/>
          <p:nvPr/>
        </p:nvSpPr>
        <p:spPr>
          <a:xfrm>
            <a:off x="5943600" y="4526280"/>
            <a:ext cx="2743200" cy="274320"/>
          </a:xfrm>
          <a:prstGeom prst="rect">
            <a:avLst/>
          </a:prstGeom>
          <a:noFill/>
          <a:ln/>
        </p:spPr>
        <p:txBody>
          <a:bodyPr wrap="square" lIns="0" tIns="0" rIns="0" bIns="0" rtlCol="0" anchor="ctr"/>
          <a:lstStyle/>
          <a:p>
            <a:pPr algn="r" indent="0" marL="0">
              <a:buNone/>
            </a:pPr>
            <a:r>
              <a:rPr lang="en-US" sz="1100" dirty="0">
                <a:solidFill>
                  <a:srgbClr val="5B6B62"/>
                </a:solidFill>
                <a:latin typeface="Calibri" pitchFamily="34" charset="0"/>
                <a:ea typeface="Calibri" pitchFamily="34" charset="-122"/>
                <a:cs typeface="Calibri" pitchFamily="34" charset="-120"/>
              </a:rPr>
              <a:t>least ripe</a:t>
            </a:r>
            <a:endParaRPr lang="en-US" sz="1100" dirty="0"/>
          </a:p>
        </p:txBody>
      </p:sp>
      <p:sp>
        <p:nvSpPr>
          <p:cNvPr id="31" name="Text 25"/>
          <p:cNvSpPr txBox="1"/>
          <p:nvPr/>
        </p:nvSpPr>
        <p:spPr>
          <a:xfrm>
            <a:off x="5029200" y="1024128"/>
            <a:ext cx="3657600" cy="22860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Annotated crops, tree DAMIMAS_A21B_0140</a:t>
            </a:r>
            <a:endParaRPr lang="en-US" sz="900" dirty="0"/>
          </a:p>
        </p:txBody>
      </p:sp>
      <p:sp>
        <p:nvSpPr>
          <p:cNvPr id="32" name="Text 26"/>
          <p:cNvSpPr txBox="1"/>
          <p:nvPr/>
        </p:nvSpPr>
        <p:spPr>
          <a:xfrm>
            <a:off x="8412480" y="4773168"/>
            <a:ext cx="365760" cy="228600"/>
          </a:xfrm>
          <a:prstGeom prst="rect">
            <a:avLst/>
          </a:prstGeom>
          <a:noFill/>
          <a:ln/>
        </p:spPr>
        <p:txBody>
          <a:bodyPr wrap="square" lIns="0" tIns="0" rIns="0" bIns="0" rtlCol="0" anchor="ctr"/>
          <a:lstStyle/>
          <a:p>
            <a:pPr algn="r" indent="0" marL="0">
              <a:buNone/>
            </a:pPr>
            <a:r>
              <a:rPr lang="en-US" sz="1000" dirty="0">
                <a:solidFill>
                  <a:srgbClr val="5B6B6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4E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B24"/>
                </a:solidFill>
                <a:latin typeface="Cambria" pitchFamily="34" charset="0"/>
                <a:ea typeface="Cambria" pitchFamily="34" charset="-122"/>
                <a:cs typeface="Cambria" pitchFamily="34" charset="-120"/>
              </a:rPr>
              <a:t>How we collected SawitMVC</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500" dirty="0">
                <a:solidFill>
                  <a:srgbClr val="5B6B62"/>
                </a:solidFill>
                <a:latin typeface="Calibri" pitchFamily="34" charset="0"/>
                <a:ea typeface="Calibri" pitchFamily="34" charset="-122"/>
                <a:cs typeface="Calibri" pitchFamily="34" charset="-120"/>
              </a:rPr>
              <a:t>Field survey at DAMIMAS &amp; LONSUM plantations, Indonesia · February 2026</a:t>
            </a:r>
            <a:endParaRPr lang="en-US" sz="1500" dirty="0"/>
          </a:p>
        </p:txBody>
      </p:sp>
      <p:pic>
        <p:nvPicPr>
          <p:cNvPr id="4" name="Image 0" descr="/home/claude/real/crown_s1.jpg">    </p:cNvPr>
          <p:cNvPicPr>
            <a:picLocks noChangeAspect="1"/>
          </p:cNvPicPr>
          <p:nvPr/>
        </p:nvPicPr>
        <p:blipFill>
          <a:blip r:embed="rId1"/>
          <a:srcRect l="0" r="0" t="0" b="0"/>
          <a:stretch/>
        </p:blipFill>
        <p:spPr>
          <a:xfrm>
            <a:off x="457200" y="1188720"/>
            <a:ext cx="1572768" cy="1536192"/>
          </a:xfrm>
          <a:prstGeom prst="rect">
            <a:avLst/>
          </a:prstGeom>
        </p:spPr>
      </p:pic>
      <p:sp>
        <p:nvSpPr>
          <p:cNvPr id="5" name="Shape 2"/>
          <p:cNvSpPr/>
          <p:nvPr/>
        </p:nvSpPr>
        <p:spPr>
          <a:xfrm>
            <a:off x="530352" y="1261872"/>
            <a:ext cx="640080" cy="237744"/>
          </a:xfrm>
          <a:prstGeom prst="roundRect">
            <a:avLst>
              <a:gd name="adj" fmla="val 50000"/>
            </a:avLst>
          </a:prstGeom>
          <a:solidFill>
            <a:srgbClr val="12291D"/>
          </a:solidFill>
          <a:ln/>
        </p:spPr>
      </p:sp>
      <p:sp>
        <p:nvSpPr>
          <p:cNvPr id="6" name="Text 3"/>
          <p:cNvSpPr txBox="1"/>
          <p:nvPr/>
        </p:nvSpPr>
        <p:spPr>
          <a:xfrm>
            <a:off x="530352" y="1261872"/>
            <a:ext cx="64008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Side 1</a:t>
            </a:r>
            <a:endParaRPr lang="en-US" sz="900" dirty="0"/>
          </a:p>
        </p:txBody>
      </p:sp>
      <p:pic>
        <p:nvPicPr>
          <p:cNvPr id="7" name="Image 1" descr="/home/claude/real/crown_s2.jpg">    </p:cNvPr>
          <p:cNvPicPr>
            <a:picLocks noChangeAspect="1"/>
          </p:cNvPicPr>
          <p:nvPr/>
        </p:nvPicPr>
        <p:blipFill>
          <a:blip r:embed="rId2"/>
          <a:srcRect l="0" r="0" t="0" b="0"/>
          <a:stretch/>
        </p:blipFill>
        <p:spPr>
          <a:xfrm>
            <a:off x="2148840" y="1188720"/>
            <a:ext cx="1572768" cy="1536192"/>
          </a:xfrm>
          <a:prstGeom prst="rect">
            <a:avLst/>
          </a:prstGeom>
        </p:spPr>
      </p:pic>
      <p:sp>
        <p:nvSpPr>
          <p:cNvPr id="8" name="Shape 4"/>
          <p:cNvSpPr/>
          <p:nvPr/>
        </p:nvSpPr>
        <p:spPr>
          <a:xfrm>
            <a:off x="2221992" y="1261872"/>
            <a:ext cx="640080" cy="237744"/>
          </a:xfrm>
          <a:prstGeom prst="roundRect">
            <a:avLst>
              <a:gd name="adj" fmla="val 50000"/>
            </a:avLst>
          </a:prstGeom>
          <a:solidFill>
            <a:srgbClr val="12291D"/>
          </a:solidFill>
          <a:ln/>
        </p:spPr>
      </p:sp>
      <p:sp>
        <p:nvSpPr>
          <p:cNvPr id="9" name="Text 5"/>
          <p:cNvSpPr txBox="1"/>
          <p:nvPr/>
        </p:nvSpPr>
        <p:spPr>
          <a:xfrm>
            <a:off x="2221992" y="1261872"/>
            <a:ext cx="64008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Side 2</a:t>
            </a:r>
            <a:endParaRPr lang="en-US" sz="900" dirty="0"/>
          </a:p>
        </p:txBody>
      </p:sp>
      <p:pic>
        <p:nvPicPr>
          <p:cNvPr id="10" name="Image 2" descr="/home/claude/real/crown_s3.jpg">    </p:cNvPr>
          <p:cNvPicPr>
            <a:picLocks noChangeAspect="1"/>
          </p:cNvPicPr>
          <p:nvPr/>
        </p:nvPicPr>
        <p:blipFill>
          <a:blip r:embed="rId3"/>
          <a:srcRect l="0" r="0" t="0" b="0"/>
          <a:stretch/>
        </p:blipFill>
        <p:spPr>
          <a:xfrm>
            <a:off x="457200" y="2834640"/>
            <a:ext cx="1572768" cy="1536192"/>
          </a:xfrm>
          <a:prstGeom prst="rect">
            <a:avLst/>
          </a:prstGeom>
        </p:spPr>
      </p:pic>
      <p:sp>
        <p:nvSpPr>
          <p:cNvPr id="11" name="Shape 6"/>
          <p:cNvSpPr/>
          <p:nvPr/>
        </p:nvSpPr>
        <p:spPr>
          <a:xfrm>
            <a:off x="530352" y="2907792"/>
            <a:ext cx="640080" cy="237744"/>
          </a:xfrm>
          <a:prstGeom prst="roundRect">
            <a:avLst>
              <a:gd name="adj" fmla="val 50000"/>
            </a:avLst>
          </a:prstGeom>
          <a:solidFill>
            <a:srgbClr val="12291D"/>
          </a:solidFill>
          <a:ln/>
        </p:spPr>
      </p:sp>
      <p:sp>
        <p:nvSpPr>
          <p:cNvPr id="12" name="Text 7"/>
          <p:cNvSpPr txBox="1"/>
          <p:nvPr/>
        </p:nvSpPr>
        <p:spPr>
          <a:xfrm>
            <a:off x="530352" y="2907792"/>
            <a:ext cx="64008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Side 3</a:t>
            </a:r>
            <a:endParaRPr lang="en-US" sz="900" dirty="0"/>
          </a:p>
        </p:txBody>
      </p:sp>
      <p:pic>
        <p:nvPicPr>
          <p:cNvPr id="13" name="Image 3" descr="/home/claude/real/crown_s4.jpg">    </p:cNvPr>
          <p:cNvPicPr>
            <a:picLocks noChangeAspect="1"/>
          </p:cNvPicPr>
          <p:nvPr/>
        </p:nvPicPr>
        <p:blipFill>
          <a:blip r:embed="rId4"/>
          <a:srcRect l="0" r="0" t="0" b="0"/>
          <a:stretch/>
        </p:blipFill>
        <p:spPr>
          <a:xfrm>
            <a:off x="2148840" y="2834640"/>
            <a:ext cx="1572768" cy="1536192"/>
          </a:xfrm>
          <a:prstGeom prst="rect">
            <a:avLst/>
          </a:prstGeom>
        </p:spPr>
      </p:pic>
      <p:sp>
        <p:nvSpPr>
          <p:cNvPr id="14" name="Shape 8"/>
          <p:cNvSpPr/>
          <p:nvPr/>
        </p:nvSpPr>
        <p:spPr>
          <a:xfrm>
            <a:off x="2221992" y="2907792"/>
            <a:ext cx="640080" cy="237744"/>
          </a:xfrm>
          <a:prstGeom prst="roundRect">
            <a:avLst>
              <a:gd name="adj" fmla="val 50000"/>
            </a:avLst>
          </a:prstGeom>
          <a:solidFill>
            <a:srgbClr val="12291D"/>
          </a:solidFill>
          <a:ln/>
        </p:spPr>
      </p:sp>
      <p:sp>
        <p:nvSpPr>
          <p:cNvPr id="15" name="Text 9"/>
          <p:cNvSpPr txBox="1"/>
          <p:nvPr/>
        </p:nvSpPr>
        <p:spPr>
          <a:xfrm>
            <a:off x="2221992" y="2907792"/>
            <a:ext cx="64008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Side 4</a:t>
            </a:r>
            <a:endParaRPr lang="en-US" sz="900" dirty="0"/>
          </a:p>
        </p:txBody>
      </p:sp>
      <p:sp>
        <p:nvSpPr>
          <p:cNvPr id="16" name="Text 10"/>
          <p:cNvSpPr txBox="1"/>
          <p:nvPr/>
        </p:nvSpPr>
        <p:spPr>
          <a:xfrm>
            <a:off x="457200" y="4480560"/>
            <a:ext cx="3291840" cy="274320"/>
          </a:xfrm>
          <a:prstGeom prst="rect">
            <a:avLst/>
          </a:prstGeom>
          <a:noFill/>
          <a:ln/>
        </p:spPr>
        <p:txBody>
          <a:bodyPr wrap="square" lIns="0" tIns="0" rIns="0" bIns="0" rtlCol="0" anchor="ctr"/>
          <a:lstStyle/>
          <a:p>
            <a:pPr indent="0" marL="0">
              <a:buNone/>
            </a:pPr>
            <a:r>
              <a:rPr lang="en-US" sz="1100" dirty="0">
                <a:solidFill>
                  <a:srgbClr val="5B6B62"/>
                </a:solidFill>
                <a:latin typeface="Calibri" pitchFamily="34" charset="0"/>
                <a:ea typeface="Calibri" pitchFamily="34" charset="-122"/>
                <a:cs typeface="Calibri" pitchFamily="34" charset="-120"/>
              </a:rPr>
              <a:t>Tree DAMIMAS_A21B_0140, four sides</a:t>
            </a:r>
            <a:endParaRPr lang="en-US" sz="1100" dirty="0"/>
          </a:p>
        </p:txBody>
      </p:sp>
      <p:sp>
        <p:nvSpPr>
          <p:cNvPr id="17" name="Shape 11"/>
          <p:cNvSpPr/>
          <p:nvPr/>
        </p:nvSpPr>
        <p:spPr>
          <a:xfrm>
            <a:off x="3977640" y="1234440"/>
            <a:ext cx="548640" cy="548640"/>
          </a:xfrm>
          <a:prstGeom prst="ellipse">
            <a:avLst/>
          </a:prstGeom>
          <a:solidFill>
            <a:srgbClr val="1F4D36"/>
          </a:solidFill>
          <a:ln w="12700">
            <a:solidFill>
              <a:srgbClr val="1F4D36"/>
            </a:solidFill>
            <a:prstDash val="solid"/>
          </a:ln>
        </p:spPr>
      </p:sp>
      <p:pic>
        <p:nvPicPr>
          <p:cNvPr id="18" name="Image 4" descr="preencoded.png">    </p:cNvPr>
          <p:cNvPicPr>
            <a:picLocks noChangeAspect="1"/>
          </p:cNvPicPr>
          <p:nvPr/>
        </p:nvPicPr>
        <p:blipFill>
          <a:blip r:embed="rId5"/>
          <a:stretch>
            <a:fillRect/>
          </a:stretch>
        </p:blipFill>
        <p:spPr>
          <a:xfrm>
            <a:off x="4120286" y="1377086"/>
            <a:ext cx="263347" cy="263347"/>
          </a:xfrm>
          <a:prstGeom prst="rect">
            <a:avLst/>
          </a:prstGeom>
        </p:spPr>
      </p:pic>
      <p:sp>
        <p:nvSpPr>
          <p:cNvPr id="19" name="Text 12"/>
          <p:cNvSpPr txBox="1"/>
          <p:nvPr/>
        </p:nvSpPr>
        <p:spPr>
          <a:xfrm>
            <a:off x="4663440" y="1234440"/>
            <a:ext cx="4023360" cy="292608"/>
          </a:xfrm>
          <a:prstGeom prst="rect">
            <a:avLst/>
          </a:prstGeom>
          <a:noFill/>
          <a:ln/>
        </p:spPr>
        <p:txBody>
          <a:bodyPr wrap="square" lIns="0" tIns="0" rIns="0" bIns="0" rtlCol="0" anchor="ctr"/>
          <a:lstStyle/>
          <a:p>
            <a:pPr indent="0" marL="0">
              <a:buNone/>
            </a:pPr>
            <a:r>
              <a:rPr lang="en-US" sz="1600" b="1" dirty="0">
                <a:solidFill>
                  <a:srgbClr val="1E2B24"/>
                </a:solidFill>
                <a:latin typeface="Calibri" pitchFamily="34" charset="0"/>
                <a:ea typeface="Calibri" pitchFamily="34" charset="-122"/>
                <a:cs typeface="Calibri" pitchFamily="34" charset="-120"/>
              </a:rPr>
              <a:t>Photograph</a:t>
            </a:r>
            <a:endParaRPr lang="en-US" sz="1600" dirty="0"/>
          </a:p>
        </p:txBody>
      </p:sp>
      <p:sp>
        <p:nvSpPr>
          <p:cNvPr id="20" name="Text 13"/>
          <p:cNvSpPr txBox="1"/>
          <p:nvPr/>
        </p:nvSpPr>
        <p:spPr>
          <a:xfrm>
            <a:off x="4663440" y="1527048"/>
            <a:ext cx="4023360" cy="274320"/>
          </a:xfrm>
          <a:prstGeom prst="rect">
            <a:avLst/>
          </a:prstGeom>
          <a:noFill/>
          <a:ln/>
        </p:spPr>
        <p:txBody>
          <a:bodyPr wrap="square" lIns="0" tIns="0" rIns="0" bIns="0" rtlCol="0" anchor="ctr"/>
          <a:lstStyle/>
          <a:p>
            <a:pPr indent="0" marL="0">
              <a:buNone/>
            </a:pPr>
            <a:r>
              <a:rPr lang="en-US" sz="1300" dirty="0">
                <a:solidFill>
                  <a:srgbClr val="5B6B62"/>
                </a:solidFill>
                <a:latin typeface="Calibri" pitchFamily="34" charset="0"/>
                <a:ea typeface="Calibri" pitchFamily="34" charset="-122"/>
                <a:cs typeface="Calibri" pitchFamily="34" charset="-120"/>
              </a:rPr>
              <a:t>Smartphone, 4 sides per tree (8 sides for 45 trees)</a:t>
            </a:r>
            <a:endParaRPr lang="en-US" sz="1300" dirty="0"/>
          </a:p>
        </p:txBody>
      </p:sp>
      <p:sp>
        <p:nvSpPr>
          <p:cNvPr id="21" name="Shape 14"/>
          <p:cNvSpPr/>
          <p:nvPr/>
        </p:nvSpPr>
        <p:spPr>
          <a:xfrm>
            <a:off x="3977640" y="2103120"/>
            <a:ext cx="548640" cy="548640"/>
          </a:xfrm>
          <a:prstGeom prst="ellipse">
            <a:avLst/>
          </a:prstGeom>
          <a:solidFill>
            <a:srgbClr val="1F4D36"/>
          </a:solidFill>
          <a:ln w="12700">
            <a:solidFill>
              <a:srgbClr val="1F4D36"/>
            </a:solidFill>
            <a:prstDash val="solid"/>
          </a:ln>
        </p:spPr>
      </p:sp>
      <p:pic>
        <p:nvPicPr>
          <p:cNvPr id="22" name="Image 5" descr="preencoded.png">    </p:cNvPr>
          <p:cNvPicPr>
            <a:picLocks noChangeAspect="1"/>
          </p:cNvPicPr>
          <p:nvPr/>
        </p:nvPicPr>
        <p:blipFill>
          <a:blip r:embed="rId6"/>
          <a:stretch>
            <a:fillRect/>
          </a:stretch>
        </p:blipFill>
        <p:spPr>
          <a:xfrm>
            <a:off x="4120286" y="2245766"/>
            <a:ext cx="263347" cy="263347"/>
          </a:xfrm>
          <a:prstGeom prst="rect">
            <a:avLst/>
          </a:prstGeom>
        </p:spPr>
      </p:pic>
      <p:sp>
        <p:nvSpPr>
          <p:cNvPr id="23" name="Text 15"/>
          <p:cNvSpPr txBox="1"/>
          <p:nvPr/>
        </p:nvSpPr>
        <p:spPr>
          <a:xfrm>
            <a:off x="4663440" y="2103120"/>
            <a:ext cx="4023360" cy="292608"/>
          </a:xfrm>
          <a:prstGeom prst="rect">
            <a:avLst/>
          </a:prstGeom>
          <a:noFill/>
          <a:ln/>
        </p:spPr>
        <p:txBody>
          <a:bodyPr wrap="square" lIns="0" tIns="0" rIns="0" bIns="0" rtlCol="0" anchor="ctr"/>
          <a:lstStyle/>
          <a:p>
            <a:pPr indent="0" marL="0">
              <a:buNone/>
            </a:pPr>
            <a:r>
              <a:rPr lang="en-US" sz="1600" b="1" dirty="0">
                <a:solidFill>
                  <a:srgbClr val="1E2B24"/>
                </a:solidFill>
                <a:latin typeface="Calibri" pitchFamily="34" charset="0"/>
                <a:ea typeface="Calibri" pitchFamily="34" charset="-122"/>
                <a:cs typeface="Calibri" pitchFamily="34" charset="-120"/>
              </a:rPr>
              <a:t>Annotate</a:t>
            </a:r>
            <a:endParaRPr lang="en-US" sz="1600" dirty="0"/>
          </a:p>
        </p:txBody>
      </p:sp>
      <p:sp>
        <p:nvSpPr>
          <p:cNvPr id="24" name="Text 16"/>
          <p:cNvSpPr txBox="1"/>
          <p:nvPr/>
        </p:nvSpPr>
        <p:spPr>
          <a:xfrm>
            <a:off x="4663440" y="2395728"/>
            <a:ext cx="4023360" cy="274320"/>
          </a:xfrm>
          <a:prstGeom prst="rect">
            <a:avLst/>
          </a:prstGeom>
          <a:noFill/>
          <a:ln/>
        </p:spPr>
        <p:txBody>
          <a:bodyPr wrap="square" lIns="0" tIns="0" rIns="0" bIns="0" rtlCol="0" anchor="ctr"/>
          <a:lstStyle/>
          <a:p>
            <a:pPr indent="0" marL="0">
              <a:buNone/>
            </a:pPr>
            <a:r>
              <a:rPr lang="en-US" sz="1300" dirty="0">
                <a:solidFill>
                  <a:srgbClr val="5B6B62"/>
                </a:solidFill>
                <a:latin typeface="Calibri" pitchFamily="34" charset="0"/>
                <a:ea typeface="Calibri" pitchFamily="34" charset="-122"/>
                <a:cs typeface="Calibri" pitchFamily="34" charset="-120"/>
              </a:rPr>
              <a:t>Expert agronomists: box + class for every bunch</a:t>
            </a:r>
            <a:endParaRPr lang="en-US" sz="1300" dirty="0"/>
          </a:p>
        </p:txBody>
      </p:sp>
      <p:sp>
        <p:nvSpPr>
          <p:cNvPr id="25" name="Shape 17"/>
          <p:cNvSpPr/>
          <p:nvPr/>
        </p:nvSpPr>
        <p:spPr>
          <a:xfrm>
            <a:off x="3977640" y="2971800"/>
            <a:ext cx="548640" cy="548640"/>
          </a:xfrm>
          <a:prstGeom prst="ellipse">
            <a:avLst/>
          </a:prstGeom>
          <a:solidFill>
            <a:srgbClr val="C8511B"/>
          </a:solidFill>
          <a:ln w="12700">
            <a:solidFill>
              <a:srgbClr val="C8511B"/>
            </a:solidFill>
            <a:prstDash val="solid"/>
          </a:ln>
        </p:spPr>
      </p:sp>
      <p:pic>
        <p:nvPicPr>
          <p:cNvPr id="26" name="Image 6" descr="preencoded.png">    </p:cNvPr>
          <p:cNvPicPr>
            <a:picLocks noChangeAspect="1"/>
          </p:cNvPicPr>
          <p:nvPr/>
        </p:nvPicPr>
        <p:blipFill>
          <a:blip r:embed="rId7"/>
          <a:stretch>
            <a:fillRect/>
          </a:stretch>
        </p:blipFill>
        <p:spPr>
          <a:xfrm>
            <a:off x="4120286" y="3114446"/>
            <a:ext cx="263347" cy="263347"/>
          </a:xfrm>
          <a:prstGeom prst="rect">
            <a:avLst/>
          </a:prstGeom>
        </p:spPr>
      </p:pic>
      <p:sp>
        <p:nvSpPr>
          <p:cNvPr id="27" name="Text 18"/>
          <p:cNvSpPr txBox="1"/>
          <p:nvPr/>
        </p:nvSpPr>
        <p:spPr>
          <a:xfrm>
            <a:off x="4663440" y="2971800"/>
            <a:ext cx="4023360" cy="292608"/>
          </a:xfrm>
          <a:prstGeom prst="rect">
            <a:avLst/>
          </a:prstGeom>
          <a:noFill/>
          <a:ln/>
        </p:spPr>
        <p:txBody>
          <a:bodyPr wrap="square" lIns="0" tIns="0" rIns="0" bIns="0" rtlCol="0" anchor="ctr"/>
          <a:lstStyle/>
          <a:p>
            <a:pPr indent="0" marL="0">
              <a:buNone/>
            </a:pPr>
            <a:r>
              <a:rPr lang="en-US" sz="1600" b="1" dirty="0">
                <a:solidFill>
                  <a:srgbClr val="1E2B24"/>
                </a:solidFill>
                <a:latin typeface="Calibri" pitchFamily="34" charset="0"/>
                <a:ea typeface="Calibri" pitchFamily="34" charset="-122"/>
                <a:cs typeface="Calibri" pitchFamily="34" charset="-120"/>
              </a:rPr>
              <a:t>Link duplicates</a:t>
            </a:r>
            <a:endParaRPr lang="en-US" sz="1600" dirty="0"/>
          </a:p>
        </p:txBody>
      </p:sp>
      <p:sp>
        <p:nvSpPr>
          <p:cNvPr id="28" name="Text 19"/>
          <p:cNvSpPr txBox="1"/>
          <p:nvPr/>
        </p:nvSpPr>
        <p:spPr>
          <a:xfrm>
            <a:off x="4663440" y="3264408"/>
            <a:ext cx="4023360" cy="274320"/>
          </a:xfrm>
          <a:prstGeom prst="rect">
            <a:avLst/>
          </a:prstGeom>
          <a:noFill/>
          <a:ln/>
        </p:spPr>
        <p:txBody>
          <a:bodyPr wrap="square" lIns="0" tIns="0" rIns="0" bIns="0" rtlCol="0" anchor="ctr"/>
          <a:lstStyle/>
          <a:p>
            <a:pPr indent="0" marL="0">
              <a:buNone/>
            </a:pPr>
            <a:r>
              <a:rPr lang="en-US" sz="1300" dirty="0">
                <a:solidFill>
                  <a:srgbClr val="5B6B62"/>
                </a:solidFill>
                <a:latin typeface="Calibri" pitchFamily="34" charset="0"/>
                <a:ea typeface="Calibri" pitchFamily="34" charset="-122"/>
                <a:cs typeface="Calibri" pitchFamily="34" charset="-120"/>
              </a:rPr>
              <a:t>Cross-reference views → one ID per physical bunch</a:t>
            </a:r>
            <a:endParaRPr lang="en-US" sz="1300" dirty="0"/>
          </a:p>
        </p:txBody>
      </p:sp>
      <p:sp>
        <p:nvSpPr>
          <p:cNvPr id="29" name="Shape 20"/>
          <p:cNvSpPr/>
          <p:nvPr/>
        </p:nvSpPr>
        <p:spPr>
          <a:xfrm>
            <a:off x="3977640" y="3840480"/>
            <a:ext cx="1188720" cy="868680"/>
          </a:xfrm>
          <a:prstGeom prst="roundRect">
            <a:avLst>
              <a:gd name="adj" fmla="val 10526"/>
            </a:avLst>
          </a:prstGeom>
          <a:solidFill>
            <a:srgbClr val="FFFFFF"/>
          </a:solidFill>
          <a:ln/>
          <a:effectLst>
            <a:outerShdw sx="100000" sy="100000" kx="0" ky="0" algn="bl" rotWithShape="0" blurRad="76200" dist="25400" dir="5400000">
              <a:srgbClr val="000000">
                <a:alpha val="12000"/>
              </a:srgbClr>
            </a:outerShdw>
          </a:effectLst>
        </p:spPr>
      </p:sp>
      <p:sp>
        <p:nvSpPr>
          <p:cNvPr id="30" name="Text 21"/>
          <p:cNvSpPr txBox="1"/>
          <p:nvPr/>
        </p:nvSpPr>
        <p:spPr>
          <a:xfrm>
            <a:off x="3977640" y="3886200"/>
            <a:ext cx="1188720" cy="457200"/>
          </a:xfrm>
          <a:prstGeom prst="rect">
            <a:avLst/>
          </a:prstGeom>
          <a:noFill/>
          <a:ln/>
        </p:spPr>
        <p:txBody>
          <a:bodyPr wrap="square" lIns="0" tIns="0" rIns="0" bIns="0" rtlCol="0" anchor="ctr"/>
          <a:lstStyle/>
          <a:p>
            <a:pPr algn="ctr" indent="0" marL="0">
              <a:buNone/>
            </a:pPr>
            <a:r>
              <a:rPr lang="en-US" sz="2400" b="1" dirty="0">
                <a:solidFill>
                  <a:srgbClr val="1F4D36"/>
                </a:solidFill>
                <a:latin typeface="Cambria" pitchFamily="34" charset="0"/>
                <a:ea typeface="Cambria" pitchFamily="34" charset="-122"/>
                <a:cs typeface="Cambria" pitchFamily="34" charset="-120"/>
              </a:rPr>
              <a:t>953</a:t>
            </a:r>
            <a:endParaRPr lang="en-US" sz="2400" dirty="0"/>
          </a:p>
        </p:txBody>
      </p:sp>
      <p:sp>
        <p:nvSpPr>
          <p:cNvPr id="31" name="Text 22"/>
          <p:cNvSpPr txBox="1"/>
          <p:nvPr/>
        </p:nvSpPr>
        <p:spPr>
          <a:xfrm>
            <a:off x="3977640" y="4343400"/>
            <a:ext cx="1188720" cy="274320"/>
          </a:xfrm>
          <a:prstGeom prst="rect">
            <a:avLst/>
          </a:prstGeom>
          <a:noFill/>
          <a:ln/>
        </p:spPr>
        <p:txBody>
          <a:bodyPr wrap="square" lIns="0" tIns="0" rIns="0" bIns="0" rtlCol="0" anchor="ctr"/>
          <a:lstStyle/>
          <a:p>
            <a:pPr algn="ctr" indent="0" marL="0">
              <a:buNone/>
            </a:pPr>
            <a:r>
              <a:rPr lang="en-US" sz="1050" dirty="0">
                <a:solidFill>
                  <a:srgbClr val="5B6B62"/>
                </a:solidFill>
                <a:latin typeface="Calibri" pitchFamily="34" charset="0"/>
                <a:ea typeface="Calibri" pitchFamily="34" charset="-122"/>
                <a:cs typeface="Calibri" pitchFamily="34" charset="-120"/>
              </a:rPr>
              <a:t>trees</a:t>
            </a:r>
            <a:endParaRPr lang="en-US" sz="1050" dirty="0"/>
          </a:p>
        </p:txBody>
      </p:sp>
      <p:sp>
        <p:nvSpPr>
          <p:cNvPr id="32" name="Shape 23"/>
          <p:cNvSpPr/>
          <p:nvPr/>
        </p:nvSpPr>
        <p:spPr>
          <a:xfrm>
            <a:off x="5303520" y="3840480"/>
            <a:ext cx="1188720" cy="868680"/>
          </a:xfrm>
          <a:prstGeom prst="roundRect">
            <a:avLst>
              <a:gd name="adj" fmla="val 10526"/>
            </a:avLst>
          </a:prstGeom>
          <a:solidFill>
            <a:srgbClr val="FFFFFF"/>
          </a:solidFill>
          <a:ln/>
          <a:effectLst>
            <a:outerShdw sx="100000" sy="100000" kx="0" ky="0" algn="bl" rotWithShape="0" blurRad="76200" dist="25400" dir="5400000">
              <a:srgbClr val="000000">
                <a:alpha val="12000"/>
              </a:srgbClr>
            </a:outerShdw>
          </a:effectLst>
        </p:spPr>
      </p:sp>
      <p:sp>
        <p:nvSpPr>
          <p:cNvPr id="33" name="Text 24"/>
          <p:cNvSpPr txBox="1"/>
          <p:nvPr/>
        </p:nvSpPr>
        <p:spPr>
          <a:xfrm>
            <a:off x="5303520" y="3886200"/>
            <a:ext cx="1188720" cy="457200"/>
          </a:xfrm>
          <a:prstGeom prst="rect">
            <a:avLst/>
          </a:prstGeom>
          <a:noFill/>
          <a:ln/>
        </p:spPr>
        <p:txBody>
          <a:bodyPr wrap="square" lIns="0" tIns="0" rIns="0" bIns="0" rtlCol="0" anchor="ctr"/>
          <a:lstStyle/>
          <a:p>
            <a:pPr algn="ctr" indent="0" marL="0">
              <a:buNone/>
            </a:pPr>
            <a:r>
              <a:rPr lang="en-US" sz="2400" b="1" dirty="0">
                <a:solidFill>
                  <a:srgbClr val="1F4D36"/>
                </a:solidFill>
                <a:latin typeface="Cambria" pitchFamily="34" charset="0"/>
                <a:ea typeface="Cambria" pitchFamily="34" charset="-122"/>
                <a:cs typeface="Cambria" pitchFamily="34" charset="-120"/>
              </a:rPr>
              <a:t>3,992</a:t>
            </a:r>
            <a:endParaRPr lang="en-US" sz="2400" dirty="0"/>
          </a:p>
        </p:txBody>
      </p:sp>
      <p:sp>
        <p:nvSpPr>
          <p:cNvPr id="34" name="Text 25"/>
          <p:cNvSpPr txBox="1"/>
          <p:nvPr/>
        </p:nvSpPr>
        <p:spPr>
          <a:xfrm>
            <a:off x="5303520" y="4343400"/>
            <a:ext cx="1188720" cy="274320"/>
          </a:xfrm>
          <a:prstGeom prst="rect">
            <a:avLst/>
          </a:prstGeom>
          <a:noFill/>
          <a:ln/>
        </p:spPr>
        <p:txBody>
          <a:bodyPr wrap="square" lIns="0" tIns="0" rIns="0" bIns="0" rtlCol="0" anchor="ctr"/>
          <a:lstStyle/>
          <a:p>
            <a:pPr algn="ctr" indent="0" marL="0">
              <a:buNone/>
            </a:pPr>
            <a:r>
              <a:rPr lang="en-US" sz="1050" dirty="0">
                <a:solidFill>
                  <a:srgbClr val="5B6B62"/>
                </a:solidFill>
                <a:latin typeface="Calibri" pitchFamily="34" charset="0"/>
                <a:ea typeface="Calibri" pitchFamily="34" charset="-122"/>
                <a:cs typeface="Calibri" pitchFamily="34" charset="-120"/>
              </a:rPr>
              <a:t>images</a:t>
            </a:r>
            <a:endParaRPr lang="en-US" sz="1050" dirty="0"/>
          </a:p>
        </p:txBody>
      </p:sp>
      <p:sp>
        <p:nvSpPr>
          <p:cNvPr id="35" name="Shape 26"/>
          <p:cNvSpPr/>
          <p:nvPr/>
        </p:nvSpPr>
        <p:spPr>
          <a:xfrm>
            <a:off x="6629400" y="3840480"/>
            <a:ext cx="2148840" cy="868680"/>
          </a:xfrm>
          <a:prstGeom prst="roundRect">
            <a:avLst>
              <a:gd name="adj" fmla="val 10526"/>
            </a:avLst>
          </a:prstGeom>
          <a:solidFill>
            <a:srgbClr val="FFFFFF"/>
          </a:solidFill>
          <a:ln/>
          <a:effectLst>
            <a:outerShdw sx="100000" sy="100000" kx="0" ky="0" algn="bl" rotWithShape="0" blurRad="76200" dist="25400" dir="5400000">
              <a:srgbClr val="000000">
                <a:alpha val="12000"/>
              </a:srgbClr>
            </a:outerShdw>
          </a:effectLst>
        </p:spPr>
      </p:sp>
      <p:sp>
        <p:nvSpPr>
          <p:cNvPr id="36" name="Text 27"/>
          <p:cNvSpPr txBox="1"/>
          <p:nvPr/>
        </p:nvSpPr>
        <p:spPr>
          <a:xfrm>
            <a:off x="6629400" y="3886200"/>
            <a:ext cx="2148840" cy="457200"/>
          </a:xfrm>
          <a:prstGeom prst="rect">
            <a:avLst/>
          </a:prstGeom>
          <a:noFill/>
          <a:ln/>
        </p:spPr>
        <p:txBody>
          <a:bodyPr wrap="square" lIns="0" tIns="0" rIns="0" bIns="0" rtlCol="0" anchor="ctr"/>
          <a:lstStyle/>
          <a:p>
            <a:pPr algn="ctr" indent="0" marL="0">
              <a:buNone/>
            </a:pPr>
            <a:r>
              <a:rPr lang="en-US" sz="1800" b="1" dirty="0">
                <a:solidFill>
                  <a:srgbClr val="C8511B"/>
                </a:solidFill>
                <a:latin typeface="Cambria" pitchFamily="34" charset="0"/>
                <a:ea typeface="Cambria" pitchFamily="34" charset="-122"/>
                <a:cs typeface="Cambria" pitchFamily="34" charset="-120"/>
              </a:rPr>
              <a:t>716 / 96 / 141</a:t>
            </a:r>
            <a:endParaRPr lang="en-US" sz="1800" dirty="0"/>
          </a:p>
        </p:txBody>
      </p:sp>
      <p:sp>
        <p:nvSpPr>
          <p:cNvPr id="37" name="Text 28"/>
          <p:cNvSpPr txBox="1"/>
          <p:nvPr/>
        </p:nvSpPr>
        <p:spPr>
          <a:xfrm>
            <a:off x="6629400" y="4343400"/>
            <a:ext cx="2148840" cy="274320"/>
          </a:xfrm>
          <a:prstGeom prst="rect">
            <a:avLst/>
          </a:prstGeom>
          <a:noFill/>
          <a:ln/>
        </p:spPr>
        <p:txBody>
          <a:bodyPr wrap="square" lIns="0" tIns="0" rIns="0" bIns="0" rtlCol="0" anchor="ctr"/>
          <a:lstStyle/>
          <a:p>
            <a:pPr algn="ctr" indent="0" marL="0">
              <a:buNone/>
            </a:pPr>
            <a:r>
              <a:rPr lang="en-US" sz="1050" dirty="0">
                <a:solidFill>
                  <a:srgbClr val="5B6B62"/>
                </a:solidFill>
                <a:latin typeface="Calibri" pitchFamily="34" charset="0"/>
                <a:ea typeface="Calibri" pitchFamily="34" charset="-122"/>
                <a:cs typeface="Calibri" pitchFamily="34" charset="-120"/>
              </a:rPr>
              <a:t>train / val / test trees</a:t>
            </a:r>
            <a:endParaRPr lang="en-US" sz="1050" dirty="0"/>
          </a:p>
        </p:txBody>
      </p:sp>
      <p:sp>
        <p:nvSpPr>
          <p:cNvPr id="38" name="Text 29"/>
          <p:cNvSpPr txBox="1"/>
          <p:nvPr/>
        </p:nvSpPr>
        <p:spPr>
          <a:xfrm>
            <a:off x="8412480" y="4773168"/>
            <a:ext cx="365760" cy="228600"/>
          </a:xfrm>
          <a:prstGeom prst="rect">
            <a:avLst/>
          </a:prstGeom>
          <a:noFill/>
          <a:ln/>
        </p:spPr>
        <p:txBody>
          <a:bodyPr wrap="square" lIns="0" tIns="0" rIns="0" bIns="0" rtlCol="0" anchor="ctr"/>
          <a:lstStyle/>
          <a:p>
            <a:pPr algn="r" indent="0" marL="0">
              <a:buNone/>
            </a:pPr>
            <a:r>
              <a:rPr lang="en-US" sz="1000" dirty="0">
                <a:solidFill>
                  <a:srgbClr val="5B6B6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B24"/>
                </a:solidFill>
                <a:latin typeface="Cambria" pitchFamily="34" charset="0"/>
                <a:ea typeface="Cambria" pitchFamily="34" charset="-122"/>
                <a:cs typeface="Cambria" pitchFamily="34" charset="-120"/>
              </a:rPr>
              <a:t>One bunch appears in several views</a:t>
            </a:r>
            <a:endParaRPr lang="en-US" sz="2800" dirty="0"/>
          </a:p>
        </p:txBody>
      </p:sp>
      <p:pic>
        <p:nvPicPr>
          <p:cNvPr id="3" name="Image 0" descr="/home/claude/real/fig-000.png">    </p:cNvPr>
          <p:cNvPicPr>
            <a:picLocks noChangeAspect="1"/>
          </p:cNvPicPr>
          <p:nvPr/>
        </p:nvPicPr>
        <p:blipFill>
          <a:blip r:embed="rId1"/>
          <a:stretch>
            <a:fillRect/>
          </a:stretch>
        </p:blipFill>
        <p:spPr>
          <a:xfrm>
            <a:off x="457200" y="960120"/>
            <a:ext cx="2651760" cy="2651760"/>
          </a:xfrm>
          <a:prstGeom prst="rect">
            <a:avLst/>
          </a:prstGeom>
        </p:spPr>
      </p:pic>
      <p:sp>
        <p:nvSpPr>
          <p:cNvPr id="4" name="Shape 1"/>
          <p:cNvSpPr/>
          <p:nvPr/>
        </p:nvSpPr>
        <p:spPr>
          <a:xfrm>
            <a:off x="548640" y="1051560"/>
            <a:ext cx="731520" cy="274320"/>
          </a:xfrm>
          <a:prstGeom prst="roundRect">
            <a:avLst>
              <a:gd name="adj" fmla="val 50000"/>
            </a:avLst>
          </a:prstGeom>
          <a:solidFill>
            <a:srgbClr val="12291D"/>
          </a:solidFill>
          <a:ln/>
        </p:spPr>
      </p:sp>
      <p:sp>
        <p:nvSpPr>
          <p:cNvPr id="5" name="Text 2"/>
          <p:cNvSpPr txBox="1"/>
          <p:nvPr/>
        </p:nvSpPr>
        <p:spPr>
          <a:xfrm>
            <a:off x="548640" y="1051560"/>
            <a:ext cx="7315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View 1</a:t>
            </a:r>
            <a:endParaRPr lang="en-US" sz="1100" dirty="0"/>
          </a:p>
        </p:txBody>
      </p:sp>
      <p:pic>
        <p:nvPicPr>
          <p:cNvPr id="6" name="Image 1" descr="/home/claude/real/fig-001.png">    </p:cNvPr>
          <p:cNvPicPr>
            <a:picLocks noChangeAspect="1"/>
          </p:cNvPicPr>
          <p:nvPr/>
        </p:nvPicPr>
        <p:blipFill>
          <a:blip r:embed="rId2"/>
          <a:stretch>
            <a:fillRect/>
          </a:stretch>
        </p:blipFill>
        <p:spPr>
          <a:xfrm>
            <a:off x="3246120" y="960120"/>
            <a:ext cx="2651760" cy="2651760"/>
          </a:xfrm>
          <a:prstGeom prst="rect">
            <a:avLst/>
          </a:prstGeom>
        </p:spPr>
      </p:pic>
      <p:sp>
        <p:nvSpPr>
          <p:cNvPr id="7" name="Shape 3"/>
          <p:cNvSpPr/>
          <p:nvPr/>
        </p:nvSpPr>
        <p:spPr>
          <a:xfrm>
            <a:off x="3337560" y="1051560"/>
            <a:ext cx="731520" cy="274320"/>
          </a:xfrm>
          <a:prstGeom prst="roundRect">
            <a:avLst>
              <a:gd name="adj" fmla="val 50000"/>
            </a:avLst>
          </a:prstGeom>
          <a:solidFill>
            <a:srgbClr val="12291D"/>
          </a:solidFill>
          <a:ln/>
        </p:spPr>
      </p:sp>
      <p:sp>
        <p:nvSpPr>
          <p:cNvPr id="8" name="Text 4"/>
          <p:cNvSpPr txBox="1"/>
          <p:nvPr/>
        </p:nvSpPr>
        <p:spPr>
          <a:xfrm>
            <a:off x="3337560" y="1051560"/>
            <a:ext cx="7315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View 2</a:t>
            </a:r>
            <a:endParaRPr lang="en-US" sz="1100" dirty="0"/>
          </a:p>
        </p:txBody>
      </p:sp>
      <p:pic>
        <p:nvPicPr>
          <p:cNvPr id="9" name="Image 2" descr="/home/claude/real/fig-002.png">    </p:cNvPr>
          <p:cNvPicPr>
            <a:picLocks noChangeAspect="1"/>
          </p:cNvPicPr>
          <p:nvPr/>
        </p:nvPicPr>
        <p:blipFill>
          <a:blip r:embed="rId3"/>
          <a:stretch>
            <a:fillRect/>
          </a:stretch>
        </p:blipFill>
        <p:spPr>
          <a:xfrm>
            <a:off x="6035040" y="960120"/>
            <a:ext cx="2651760" cy="2651760"/>
          </a:xfrm>
          <a:prstGeom prst="rect">
            <a:avLst/>
          </a:prstGeom>
        </p:spPr>
      </p:pic>
      <p:sp>
        <p:nvSpPr>
          <p:cNvPr id="10" name="Shape 5"/>
          <p:cNvSpPr/>
          <p:nvPr/>
        </p:nvSpPr>
        <p:spPr>
          <a:xfrm>
            <a:off x="6126480" y="1051560"/>
            <a:ext cx="731520" cy="274320"/>
          </a:xfrm>
          <a:prstGeom prst="roundRect">
            <a:avLst>
              <a:gd name="adj" fmla="val 50000"/>
            </a:avLst>
          </a:prstGeom>
          <a:solidFill>
            <a:srgbClr val="12291D"/>
          </a:solidFill>
          <a:ln/>
        </p:spPr>
      </p:sp>
      <p:sp>
        <p:nvSpPr>
          <p:cNvPr id="11" name="Text 6"/>
          <p:cNvSpPr txBox="1"/>
          <p:nvPr/>
        </p:nvSpPr>
        <p:spPr>
          <a:xfrm>
            <a:off x="6126480" y="1051560"/>
            <a:ext cx="7315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View 3</a:t>
            </a:r>
            <a:endParaRPr lang="en-US" sz="1100" dirty="0"/>
          </a:p>
        </p:txBody>
      </p:sp>
      <p:sp>
        <p:nvSpPr>
          <p:cNvPr id="12" name="Shape 7"/>
          <p:cNvSpPr/>
          <p:nvPr/>
        </p:nvSpPr>
        <p:spPr>
          <a:xfrm>
            <a:off x="457200" y="3840480"/>
            <a:ext cx="5120640" cy="777240"/>
          </a:xfrm>
          <a:prstGeom prst="roundRect">
            <a:avLst>
              <a:gd name="adj" fmla="val 11765"/>
            </a:avLst>
          </a:prstGeom>
          <a:solidFill>
            <a:srgbClr val="FBEDE5"/>
          </a:solidFill>
          <a:ln/>
        </p:spPr>
      </p:sp>
      <p:sp>
        <p:nvSpPr>
          <p:cNvPr id="13" name="Text 8"/>
          <p:cNvSpPr txBox="1"/>
          <p:nvPr/>
        </p:nvSpPr>
        <p:spPr>
          <a:xfrm>
            <a:off x="457200" y="3840480"/>
            <a:ext cx="5120640" cy="777240"/>
          </a:xfrm>
          <a:prstGeom prst="rect">
            <a:avLst/>
          </a:prstGeom>
          <a:noFill/>
          <a:ln/>
        </p:spPr>
        <p:txBody>
          <a:bodyPr wrap="square" lIns="0" tIns="0" rIns="0" bIns="0" rtlCol="0" anchor="ctr"/>
          <a:lstStyle/>
          <a:p>
            <a:pPr algn="ctr" indent="0" marL="0">
              <a:buNone/>
            </a:pPr>
            <a:r>
              <a:rPr lang="en-US" sz="2200" b="1" dirty="0">
                <a:solidFill>
                  <a:srgbClr val="C8511B"/>
                </a:solidFill>
                <a:latin typeface="Calibri" pitchFamily="34" charset="0"/>
                <a:ea typeface="Calibri" pitchFamily="34" charset="-122"/>
                <a:cs typeface="Calibri" pitchFamily="34" charset="-120"/>
              </a:rPr>
              <a:t>3 boxes</a:t>
            </a:r>
            <a:pPr algn="ctr" indent="0" marL="0">
              <a:buNone/>
            </a:pPr>
            <a:r>
              <a:rPr lang="en-US" sz="2200" dirty="0">
                <a:solidFill>
                  <a:srgbClr val="1E2B24"/>
                </a:solidFill>
                <a:latin typeface="Calibri" pitchFamily="34" charset="0"/>
                <a:ea typeface="Calibri" pitchFamily="34" charset="-122"/>
                <a:cs typeface="Calibri" pitchFamily="34" charset="-120"/>
              </a:rPr>
              <a:t>  →  </a:t>
            </a:r>
            <a:pPr algn="ctr" indent="0" marL="0">
              <a:buNone/>
            </a:pPr>
            <a:r>
              <a:rPr lang="en-US" sz="2200" b="1" dirty="0">
                <a:solidFill>
                  <a:srgbClr val="1F4D36"/>
                </a:solidFill>
                <a:latin typeface="Calibri" pitchFamily="34" charset="0"/>
                <a:ea typeface="Calibri" pitchFamily="34" charset="-122"/>
                <a:cs typeface="Calibri" pitchFamily="34" charset="-120"/>
              </a:rPr>
              <a:t>1 bunch</a:t>
            </a:r>
            <a:endParaRPr lang="en-US" sz="2200" dirty="0"/>
          </a:p>
        </p:txBody>
      </p:sp>
      <p:sp>
        <p:nvSpPr>
          <p:cNvPr id="14" name="Shape 9"/>
          <p:cNvSpPr/>
          <p:nvPr/>
        </p:nvSpPr>
        <p:spPr>
          <a:xfrm>
            <a:off x="5760720" y="3840480"/>
            <a:ext cx="2926080" cy="777240"/>
          </a:xfrm>
          <a:prstGeom prst="roundRect">
            <a:avLst>
              <a:gd name="adj" fmla="val 11765"/>
            </a:avLst>
          </a:prstGeom>
          <a:solidFill>
            <a:srgbClr val="EEF4EF"/>
          </a:solidFill>
          <a:ln/>
        </p:spPr>
      </p:sp>
      <p:sp>
        <p:nvSpPr>
          <p:cNvPr id="15" name="Text 10"/>
          <p:cNvSpPr txBox="1"/>
          <p:nvPr/>
        </p:nvSpPr>
        <p:spPr>
          <a:xfrm>
            <a:off x="5760720" y="3840480"/>
            <a:ext cx="2926080" cy="777240"/>
          </a:xfrm>
          <a:prstGeom prst="rect">
            <a:avLst/>
          </a:prstGeom>
          <a:noFill/>
          <a:ln/>
        </p:spPr>
        <p:txBody>
          <a:bodyPr wrap="square" lIns="0" tIns="0" rIns="0" bIns="0" rtlCol="0" anchor="ctr"/>
          <a:lstStyle/>
          <a:p>
            <a:pPr algn="ctr" indent="0" marL="0">
              <a:buNone/>
            </a:pPr>
            <a:r>
              <a:rPr lang="en-US" sz="2400" b="1" dirty="0">
                <a:solidFill>
                  <a:srgbClr val="9E2A2B"/>
                </a:solidFill>
                <a:latin typeface="Cambria" pitchFamily="34" charset="0"/>
                <a:ea typeface="Cambria" pitchFamily="34" charset="-122"/>
                <a:cs typeface="Cambria" pitchFamily="34" charset="-120"/>
              </a:rPr>
              <a:t>1.89×</a:t>
            </a:r>
            <a:endParaRPr lang="en-US" sz="1400" dirty="0"/>
          </a:p>
          <a:p>
            <a:pPr algn="ctr" indent="0" marL="0">
              <a:buNone/>
            </a:pPr>
            <a:r>
              <a:rPr lang="en-US" sz="1100" dirty="0">
                <a:solidFill>
                  <a:srgbClr val="5B6B62"/>
                </a:solidFill>
                <a:latin typeface="Calibri" pitchFamily="34" charset="0"/>
                <a:ea typeface="Calibri" pitchFamily="34" charset="-122"/>
                <a:cs typeface="Calibri" pitchFamily="34" charset="-120"/>
              </a:rPr>
              <a:t>average appearances per bunch</a:t>
            </a:r>
            <a:endParaRPr lang="en-US" sz="1400" dirty="0"/>
          </a:p>
        </p:txBody>
      </p:sp>
      <p:sp>
        <p:nvSpPr>
          <p:cNvPr id="16" name="Text 11"/>
          <p:cNvSpPr txBox="1"/>
          <p:nvPr/>
        </p:nvSpPr>
        <p:spPr>
          <a:xfrm>
            <a:off x="8412480" y="4773168"/>
            <a:ext cx="365760" cy="228600"/>
          </a:xfrm>
          <a:prstGeom prst="rect">
            <a:avLst/>
          </a:prstGeom>
          <a:noFill/>
          <a:ln/>
        </p:spPr>
        <p:txBody>
          <a:bodyPr wrap="square" lIns="0" tIns="0" rIns="0" bIns="0" rtlCol="0" anchor="ctr"/>
          <a:lstStyle/>
          <a:p>
            <a:pPr algn="r" indent="0" marL="0">
              <a:buNone/>
            </a:pPr>
            <a:r>
              <a:rPr lang="en-US" sz="1000" dirty="0">
                <a:solidFill>
                  <a:srgbClr val="5B6B6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B24"/>
                </a:solidFill>
                <a:latin typeface="Cambria" pitchFamily="34" charset="0"/>
                <a:ea typeface="Cambria" pitchFamily="34" charset="-122"/>
                <a:cs typeface="Cambria" pitchFamily="34" charset="-120"/>
              </a:rPr>
              <a:t>Ground truth vs fixed detector</a:t>
            </a:r>
            <a:endParaRPr lang="en-US" sz="2800" dirty="0"/>
          </a:p>
        </p:txBody>
      </p:sp>
      <p:pic>
        <p:nvPicPr>
          <p:cNvPr id="3" name="Image 0" descr="/home/claude/real/gt_0139.jpg">    </p:cNvPr>
          <p:cNvPicPr>
            <a:picLocks noChangeAspect="1"/>
          </p:cNvPicPr>
          <p:nvPr/>
        </p:nvPicPr>
        <p:blipFill>
          <a:blip r:embed="rId1"/>
          <a:stretch>
            <a:fillRect/>
          </a:stretch>
        </p:blipFill>
        <p:spPr>
          <a:xfrm>
            <a:off x="640080" y="896112"/>
            <a:ext cx="3657600" cy="2212848"/>
          </a:xfrm>
          <a:prstGeom prst="rect">
            <a:avLst/>
          </a:prstGeom>
        </p:spPr>
      </p:pic>
      <p:sp>
        <p:nvSpPr>
          <p:cNvPr id="4" name="Text 1"/>
          <p:cNvSpPr txBox="1"/>
          <p:nvPr/>
        </p:nvSpPr>
        <p:spPr>
          <a:xfrm>
            <a:off x="640080" y="3154680"/>
            <a:ext cx="3657600" cy="292608"/>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Ground truth</a:t>
            </a:r>
            <a:endParaRPr lang="en-US" sz="1500" dirty="0"/>
          </a:p>
        </p:txBody>
      </p:sp>
      <p:sp>
        <p:nvSpPr>
          <p:cNvPr id="5" name="Text 2"/>
          <p:cNvSpPr txBox="1"/>
          <p:nvPr/>
        </p:nvSpPr>
        <p:spPr>
          <a:xfrm>
            <a:off x="640080" y="3438144"/>
            <a:ext cx="3657600" cy="256032"/>
          </a:xfrm>
          <a:prstGeom prst="rect">
            <a:avLst/>
          </a:prstGeom>
          <a:noFill/>
          <a:ln/>
        </p:spPr>
        <p:txBody>
          <a:bodyPr wrap="square" lIns="0" tIns="0" rIns="0" bIns="0" rtlCol="0" anchor="ctr"/>
          <a:lstStyle/>
          <a:p>
            <a:pPr indent="0" marL="0">
              <a:buNone/>
            </a:pPr>
            <a:r>
              <a:rPr lang="en-US" sz="1150" dirty="0">
                <a:solidFill>
                  <a:srgbClr val="1E2B24"/>
                </a:solidFill>
                <a:latin typeface="Calibri" pitchFamily="34" charset="0"/>
                <a:ea typeface="Calibri" pitchFamily="34" charset="-122"/>
                <a:cs typeface="Calibri" pitchFamily="34" charset="-120"/>
              </a:rPr>
              <a:t>Expert annotation: every bunch, correct class</a:t>
            </a:r>
            <a:endParaRPr lang="en-US" sz="1150" dirty="0"/>
          </a:p>
        </p:txBody>
      </p:sp>
      <p:pic>
        <p:nvPicPr>
          <p:cNvPr id="6" name="Image 1" descr="/home/claude/real/det_0139.jpg">    </p:cNvPr>
          <p:cNvPicPr>
            <a:picLocks noChangeAspect="1"/>
          </p:cNvPicPr>
          <p:nvPr/>
        </p:nvPicPr>
        <p:blipFill>
          <a:blip r:embed="rId2"/>
          <a:stretch>
            <a:fillRect/>
          </a:stretch>
        </p:blipFill>
        <p:spPr>
          <a:xfrm>
            <a:off x="4846320" y="896112"/>
            <a:ext cx="3657600" cy="2212848"/>
          </a:xfrm>
          <a:prstGeom prst="rect">
            <a:avLst/>
          </a:prstGeom>
        </p:spPr>
      </p:pic>
      <p:sp>
        <p:nvSpPr>
          <p:cNvPr id="7" name="Text 3"/>
          <p:cNvSpPr txBox="1"/>
          <p:nvPr/>
        </p:nvSpPr>
        <p:spPr>
          <a:xfrm>
            <a:off x="4846320" y="3154680"/>
            <a:ext cx="3657600" cy="292608"/>
          </a:xfrm>
          <a:prstGeom prst="rect">
            <a:avLst/>
          </a:prstGeom>
          <a:noFill/>
          <a:ln/>
        </p:spPr>
        <p:txBody>
          <a:bodyPr wrap="square" lIns="0" tIns="0" rIns="0" bIns="0" rtlCol="0" anchor="ctr"/>
          <a:lstStyle/>
          <a:p>
            <a:pPr indent="0" marL="0">
              <a:buNone/>
            </a:pPr>
            <a:r>
              <a:rPr lang="en-US" sz="1500" b="1" dirty="0">
                <a:solidFill>
                  <a:srgbClr val="C8511B"/>
                </a:solidFill>
                <a:latin typeface="Cambria" pitchFamily="34" charset="0"/>
                <a:ea typeface="Cambria" pitchFamily="34" charset="-122"/>
                <a:cs typeface="Cambria" pitchFamily="34" charset="-120"/>
              </a:rPr>
              <a:t>Fixed detector (YOLO26m)</a:t>
            </a:r>
            <a:endParaRPr lang="en-US" sz="1500" dirty="0"/>
          </a:p>
        </p:txBody>
      </p:sp>
      <p:sp>
        <p:nvSpPr>
          <p:cNvPr id="8" name="Text 4"/>
          <p:cNvSpPr txBox="1"/>
          <p:nvPr/>
        </p:nvSpPr>
        <p:spPr>
          <a:xfrm>
            <a:off x="4846320" y="3438144"/>
            <a:ext cx="3657600" cy="256032"/>
          </a:xfrm>
          <a:prstGeom prst="rect">
            <a:avLst/>
          </a:prstGeom>
          <a:noFill/>
          <a:ln/>
        </p:spPr>
        <p:txBody>
          <a:bodyPr wrap="square" lIns="0" tIns="0" rIns="0" bIns="0" rtlCol="0" anchor="ctr"/>
          <a:lstStyle/>
          <a:p>
            <a:pPr indent="0" marL="0">
              <a:buNone/>
            </a:pPr>
            <a:r>
              <a:rPr lang="en-US" sz="1150" dirty="0">
                <a:solidFill>
                  <a:srgbClr val="1E2B24"/>
                </a:solidFill>
                <a:latin typeface="Calibri" pitchFamily="34" charset="0"/>
                <a:ea typeface="Calibri" pitchFamily="34" charset="-122"/>
                <a:cs typeface="Calibri" pitchFamily="34" charset="-120"/>
              </a:rPr>
              <a:t>Trained once on 716 trees, then frozen; confidence ≥ 0.25</a:t>
            </a:r>
            <a:endParaRPr lang="en-US" sz="1150" dirty="0"/>
          </a:p>
        </p:txBody>
      </p:sp>
      <p:sp>
        <p:nvSpPr>
          <p:cNvPr id="9" name="Shape 5"/>
          <p:cNvSpPr/>
          <p:nvPr/>
        </p:nvSpPr>
        <p:spPr>
          <a:xfrm>
            <a:off x="457200" y="3767328"/>
            <a:ext cx="8229600" cy="960120"/>
          </a:xfrm>
          <a:prstGeom prst="roundRect">
            <a:avLst>
              <a:gd name="adj" fmla="val 9524"/>
            </a:avLst>
          </a:prstGeom>
          <a:solidFill>
            <a:srgbClr val="EEF4EF"/>
          </a:solidFill>
          <a:ln/>
        </p:spPr>
      </p:sp>
      <p:sp>
        <p:nvSpPr>
          <p:cNvPr id="10" name="Shape 6"/>
          <p:cNvSpPr/>
          <p:nvPr/>
        </p:nvSpPr>
        <p:spPr>
          <a:xfrm>
            <a:off x="685800" y="3950208"/>
            <a:ext cx="1371600" cy="310896"/>
          </a:xfrm>
          <a:prstGeom prst="roundRect">
            <a:avLst>
              <a:gd name="adj" fmla="val 50000"/>
            </a:avLst>
          </a:prstGeom>
          <a:solidFill>
            <a:srgbClr val="2E9E5B"/>
          </a:solidFill>
          <a:ln/>
        </p:spPr>
      </p:sp>
      <p:sp>
        <p:nvSpPr>
          <p:cNvPr id="11" name="Text 7"/>
          <p:cNvSpPr txBox="1"/>
          <p:nvPr/>
        </p:nvSpPr>
        <p:spPr>
          <a:xfrm>
            <a:off x="685800" y="3950208"/>
            <a:ext cx="137160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GT boxes</a:t>
            </a:r>
            <a:endParaRPr lang="en-US" sz="1200" dirty="0"/>
          </a:p>
        </p:txBody>
      </p:sp>
      <p:sp>
        <p:nvSpPr>
          <p:cNvPr id="12" name="Shape 8"/>
          <p:cNvSpPr/>
          <p:nvPr/>
        </p:nvSpPr>
        <p:spPr>
          <a:xfrm>
            <a:off x="685800" y="4334256"/>
            <a:ext cx="1371600" cy="310896"/>
          </a:xfrm>
          <a:prstGeom prst="roundRect">
            <a:avLst>
              <a:gd name="adj" fmla="val 50000"/>
            </a:avLst>
          </a:prstGeom>
          <a:solidFill>
            <a:srgbClr val="C8511B"/>
          </a:solidFill>
          <a:ln/>
        </p:spPr>
      </p:sp>
      <p:sp>
        <p:nvSpPr>
          <p:cNvPr id="13" name="Text 9"/>
          <p:cNvSpPr txBox="1"/>
          <p:nvPr/>
        </p:nvSpPr>
        <p:spPr>
          <a:xfrm>
            <a:off x="685800" y="4334256"/>
            <a:ext cx="137160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Detector boxes</a:t>
            </a:r>
            <a:endParaRPr lang="en-US" sz="1200" dirty="0"/>
          </a:p>
        </p:txBody>
      </p:sp>
      <p:sp>
        <p:nvSpPr>
          <p:cNvPr id="14" name="Shape 10"/>
          <p:cNvSpPr/>
          <p:nvPr/>
        </p:nvSpPr>
        <p:spPr>
          <a:xfrm>
            <a:off x="2194560" y="4178808"/>
            <a:ext cx="411480" cy="237744"/>
          </a:xfrm>
          <a:prstGeom prst="rightArrow">
            <a:avLst/>
          </a:prstGeom>
          <a:solidFill>
            <a:srgbClr val="A9C9A4"/>
          </a:solidFill>
          <a:ln/>
        </p:spPr>
      </p:sp>
      <p:sp>
        <p:nvSpPr>
          <p:cNvPr id="15" name="Shape 11"/>
          <p:cNvSpPr/>
          <p:nvPr/>
        </p:nvSpPr>
        <p:spPr>
          <a:xfrm>
            <a:off x="2743200" y="4114800"/>
            <a:ext cx="1737360" cy="365760"/>
          </a:xfrm>
          <a:prstGeom prst="roundRect">
            <a:avLst>
              <a:gd name="adj" fmla="val 50000"/>
            </a:avLst>
          </a:prstGeom>
          <a:solidFill>
            <a:srgbClr val="12291D"/>
          </a:solidFill>
          <a:ln/>
        </p:spPr>
      </p:sp>
      <p:sp>
        <p:nvSpPr>
          <p:cNvPr id="16" name="Text 12"/>
          <p:cNvSpPr txBox="1"/>
          <p:nvPr/>
        </p:nvSpPr>
        <p:spPr>
          <a:xfrm>
            <a:off x="2743200" y="4114800"/>
            <a:ext cx="17373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Same counter</a:t>
            </a:r>
            <a:endParaRPr lang="en-US" sz="1300" dirty="0"/>
          </a:p>
        </p:txBody>
      </p:sp>
      <p:sp>
        <p:nvSpPr>
          <p:cNvPr id="17" name="Shape 13"/>
          <p:cNvSpPr/>
          <p:nvPr/>
        </p:nvSpPr>
        <p:spPr>
          <a:xfrm>
            <a:off x="4617720" y="4178808"/>
            <a:ext cx="411480" cy="237744"/>
          </a:xfrm>
          <a:prstGeom prst="rightArrow">
            <a:avLst/>
          </a:prstGeom>
          <a:solidFill>
            <a:srgbClr val="A9C9A4"/>
          </a:solidFill>
          <a:ln/>
        </p:spPr>
      </p:sp>
      <p:sp>
        <p:nvSpPr>
          <p:cNvPr id="18" name="Text 14"/>
          <p:cNvSpPr txBox="1"/>
          <p:nvPr/>
        </p:nvSpPr>
        <p:spPr>
          <a:xfrm>
            <a:off x="5166360" y="3858768"/>
            <a:ext cx="3383280" cy="868680"/>
          </a:xfrm>
          <a:prstGeom prst="rect">
            <a:avLst/>
          </a:prstGeom>
          <a:noFill/>
          <a:ln/>
        </p:spPr>
        <p:txBody>
          <a:bodyPr wrap="square" lIns="0" tIns="0" rIns="0" bIns="0" rtlCol="0" anchor="ctr"/>
          <a:lstStyle/>
          <a:p>
            <a:pPr indent="0" marL="0">
              <a:buNone/>
            </a:pPr>
            <a:r>
              <a:rPr lang="en-US" sz="1400" b="1" dirty="0">
                <a:solidFill>
                  <a:srgbClr val="C8511B"/>
                </a:solidFill>
                <a:latin typeface="Calibri" pitchFamily="34" charset="0"/>
                <a:ea typeface="Calibri" pitchFamily="34" charset="-122"/>
                <a:cs typeface="Calibri" pitchFamily="34" charset="-120"/>
              </a:rPr>
              <a:t>Accuracy gap</a:t>
            </a:r>
            <a:endParaRPr lang="en-US" sz="1400" dirty="0"/>
          </a:p>
          <a:p>
            <a:pPr indent="0" marL="0">
              <a:buNone/>
            </a:pPr>
            <a:r>
              <a:rPr lang="en-US" sz="1400" dirty="0">
                <a:solidFill>
                  <a:srgbClr val="1E2B24"/>
                </a:solidFill>
                <a:latin typeface="Calibri" pitchFamily="34" charset="0"/>
                <a:ea typeface="Calibri" pitchFamily="34" charset="-122"/>
                <a:cs typeface="Calibri" pitchFamily="34" charset="-120"/>
              </a:rPr>
              <a:t>= effect of detection errors on the count</a:t>
            </a:r>
            <a:endParaRPr lang="en-US" sz="1400" dirty="0"/>
          </a:p>
        </p:txBody>
      </p:sp>
      <p:sp>
        <p:nvSpPr>
          <p:cNvPr id="19" name="Text 15"/>
          <p:cNvSpPr txBox="1"/>
          <p:nvPr/>
        </p:nvSpPr>
        <p:spPr>
          <a:xfrm>
            <a:off x="4114800" y="411480"/>
            <a:ext cx="4572000" cy="274320"/>
          </a:xfrm>
          <a:prstGeom prst="rect">
            <a:avLst/>
          </a:prstGeom>
          <a:noFill/>
          <a:ln/>
        </p:spPr>
        <p:txBody>
          <a:bodyPr wrap="square" lIns="0" tIns="0" rIns="0" bIns="0" rtlCol="0" anchor="ctr"/>
          <a:lstStyle/>
          <a:p>
            <a:pPr algn="r" indent="0" marL="0">
              <a:buNone/>
            </a:pPr>
            <a:r>
              <a:rPr lang="en-US" sz="1000" i="1" dirty="0">
                <a:solidFill>
                  <a:srgbClr val="5B6B62"/>
                </a:solidFill>
                <a:latin typeface="Calibri" pitchFamily="34" charset="0"/>
                <a:ea typeface="Calibri" pitchFamily="34" charset="-122"/>
                <a:cs typeface="Calibri" pitchFamily="34" charset="-120"/>
              </a:rPr>
              <a:t>Test tree DAMIMAS_A21B_0139, side 2; real YOLO26m output</a:t>
            </a:r>
            <a:endParaRPr lang="en-US" sz="1000" dirty="0"/>
          </a:p>
        </p:txBody>
      </p:sp>
      <p:sp>
        <p:nvSpPr>
          <p:cNvPr id="20" name="Text 16"/>
          <p:cNvSpPr txBox="1"/>
          <p:nvPr/>
        </p:nvSpPr>
        <p:spPr>
          <a:xfrm>
            <a:off x="8412480" y="4773168"/>
            <a:ext cx="365760" cy="228600"/>
          </a:xfrm>
          <a:prstGeom prst="rect">
            <a:avLst/>
          </a:prstGeom>
          <a:noFill/>
          <a:ln/>
        </p:spPr>
        <p:txBody>
          <a:bodyPr wrap="square" lIns="0" tIns="0" rIns="0" bIns="0" rtlCol="0" anchor="ctr"/>
          <a:lstStyle/>
          <a:p>
            <a:pPr algn="r" indent="0" marL="0">
              <a:buNone/>
            </a:pPr>
            <a:r>
              <a:rPr lang="en-US" sz="1000" dirty="0">
                <a:solidFill>
                  <a:srgbClr val="5B6B6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4E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B24"/>
                </a:solidFill>
                <a:latin typeface="Cambria" pitchFamily="34" charset="0"/>
                <a:ea typeface="Cambria" pitchFamily="34" charset="-122"/>
                <a:cs typeface="Cambria" pitchFamily="34" charset="-120"/>
              </a:rPr>
              <a:t>Step 1: boxes to tree features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500" dirty="0">
                <a:solidFill>
                  <a:srgbClr val="5B6B62"/>
                </a:solidFill>
                <a:latin typeface="Calibri" pitchFamily="34" charset="0"/>
                <a:ea typeface="Calibri" pitchFamily="34" charset="-122"/>
                <a:cs typeface="Calibri" pitchFamily="34" charset="-120"/>
              </a:rPr>
              <a:t>Class B3 on one tree, four views (ground-truth boxes)</a:t>
            </a:r>
            <a:endParaRPr lang="en-US" sz="1500" dirty="0"/>
          </a:p>
        </p:txBody>
      </p:sp>
      <p:pic>
        <p:nvPicPr>
          <p:cNvPr id="4" name="Image 0" descr="/home/claude/real/b3_s1.jpg">    </p:cNvPr>
          <p:cNvPicPr>
            <a:picLocks noChangeAspect="1"/>
          </p:cNvPicPr>
          <p:nvPr/>
        </p:nvPicPr>
        <p:blipFill>
          <a:blip r:embed="rId1"/>
          <a:stretch>
            <a:fillRect/>
          </a:stretch>
        </p:blipFill>
        <p:spPr>
          <a:xfrm>
            <a:off x="457200" y="1188720"/>
            <a:ext cx="1965960" cy="1426464"/>
          </a:xfrm>
          <a:prstGeom prst="rect">
            <a:avLst/>
          </a:prstGeom>
        </p:spPr>
      </p:pic>
      <p:sp>
        <p:nvSpPr>
          <p:cNvPr id="5" name="Shape 2"/>
          <p:cNvSpPr/>
          <p:nvPr/>
        </p:nvSpPr>
        <p:spPr>
          <a:xfrm>
            <a:off x="804672" y="2697480"/>
            <a:ext cx="1280160" cy="292608"/>
          </a:xfrm>
          <a:prstGeom prst="roundRect">
            <a:avLst>
              <a:gd name="adj" fmla="val 50000"/>
            </a:avLst>
          </a:prstGeom>
          <a:solidFill>
            <a:srgbClr val="12291D"/>
          </a:solidFill>
          <a:ln/>
        </p:spPr>
      </p:sp>
      <p:sp>
        <p:nvSpPr>
          <p:cNvPr id="6" name="Text 3"/>
          <p:cNvSpPr txBox="1"/>
          <p:nvPr/>
        </p:nvSpPr>
        <p:spPr>
          <a:xfrm>
            <a:off x="804672" y="2697480"/>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View 1: 2 × B3</a:t>
            </a:r>
            <a:endParaRPr lang="en-US" sz="1100" dirty="0"/>
          </a:p>
        </p:txBody>
      </p:sp>
      <p:pic>
        <p:nvPicPr>
          <p:cNvPr id="7" name="Image 1" descr="/home/claude/real/b3_s2.jpg">    </p:cNvPr>
          <p:cNvPicPr>
            <a:picLocks noChangeAspect="1"/>
          </p:cNvPicPr>
          <p:nvPr/>
        </p:nvPicPr>
        <p:blipFill>
          <a:blip r:embed="rId2"/>
          <a:stretch>
            <a:fillRect/>
          </a:stretch>
        </p:blipFill>
        <p:spPr>
          <a:xfrm>
            <a:off x="2560320" y="1188720"/>
            <a:ext cx="1965960" cy="1426464"/>
          </a:xfrm>
          <a:prstGeom prst="rect">
            <a:avLst/>
          </a:prstGeom>
        </p:spPr>
      </p:pic>
      <p:sp>
        <p:nvSpPr>
          <p:cNvPr id="8" name="Shape 4"/>
          <p:cNvSpPr/>
          <p:nvPr/>
        </p:nvSpPr>
        <p:spPr>
          <a:xfrm>
            <a:off x="2907792" y="2697480"/>
            <a:ext cx="1280160" cy="292608"/>
          </a:xfrm>
          <a:prstGeom prst="roundRect">
            <a:avLst>
              <a:gd name="adj" fmla="val 50000"/>
            </a:avLst>
          </a:prstGeom>
          <a:solidFill>
            <a:srgbClr val="12291D"/>
          </a:solidFill>
          <a:ln/>
        </p:spPr>
      </p:sp>
      <p:sp>
        <p:nvSpPr>
          <p:cNvPr id="9" name="Text 5"/>
          <p:cNvSpPr txBox="1"/>
          <p:nvPr/>
        </p:nvSpPr>
        <p:spPr>
          <a:xfrm>
            <a:off x="2907792" y="2697480"/>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View 2: 2 × B3</a:t>
            </a:r>
            <a:endParaRPr lang="en-US" sz="1100" dirty="0"/>
          </a:p>
        </p:txBody>
      </p:sp>
      <p:pic>
        <p:nvPicPr>
          <p:cNvPr id="10" name="Image 2" descr="/home/claude/real/b3_s3.jpg">    </p:cNvPr>
          <p:cNvPicPr>
            <a:picLocks noChangeAspect="1"/>
          </p:cNvPicPr>
          <p:nvPr/>
        </p:nvPicPr>
        <p:blipFill>
          <a:blip r:embed="rId3"/>
          <a:stretch>
            <a:fillRect/>
          </a:stretch>
        </p:blipFill>
        <p:spPr>
          <a:xfrm>
            <a:off x="4663440" y="1188720"/>
            <a:ext cx="1965960" cy="1426464"/>
          </a:xfrm>
          <a:prstGeom prst="rect">
            <a:avLst/>
          </a:prstGeom>
        </p:spPr>
      </p:pic>
      <p:sp>
        <p:nvSpPr>
          <p:cNvPr id="11" name="Shape 6"/>
          <p:cNvSpPr/>
          <p:nvPr/>
        </p:nvSpPr>
        <p:spPr>
          <a:xfrm>
            <a:off x="5010912" y="2697480"/>
            <a:ext cx="1280160" cy="292608"/>
          </a:xfrm>
          <a:prstGeom prst="roundRect">
            <a:avLst>
              <a:gd name="adj" fmla="val 50000"/>
            </a:avLst>
          </a:prstGeom>
          <a:solidFill>
            <a:srgbClr val="12291D"/>
          </a:solidFill>
          <a:ln/>
        </p:spPr>
      </p:sp>
      <p:sp>
        <p:nvSpPr>
          <p:cNvPr id="12" name="Text 7"/>
          <p:cNvSpPr txBox="1"/>
          <p:nvPr/>
        </p:nvSpPr>
        <p:spPr>
          <a:xfrm>
            <a:off x="5010912" y="2697480"/>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View 3: 2 × B3</a:t>
            </a:r>
            <a:endParaRPr lang="en-US" sz="1100" dirty="0"/>
          </a:p>
        </p:txBody>
      </p:sp>
      <p:pic>
        <p:nvPicPr>
          <p:cNvPr id="13" name="Image 3" descr="/home/claude/real/b3_s4.jpg">    </p:cNvPr>
          <p:cNvPicPr>
            <a:picLocks noChangeAspect="1"/>
          </p:cNvPicPr>
          <p:nvPr/>
        </p:nvPicPr>
        <p:blipFill>
          <a:blip r:embed="rId4"/>
          <a:stretch>
            <a:fillRect/>
          </a:stretch>
        </p:blipFill>
        <p:spPr>
          <a:xfrm>
            <a:off x="6766560" y="1188720"/>
            <a:ext cx="1965960" cy="1426464"/>
          </a:xfrm>
          <a:prstGeom prst="rect">
            <a:avLst/>
          </a:prstGeom>
        </p:spPr>
      </p:pic>
      <p:sp>
        <p:nvSpPr>
          <p:cNvPr id="14" name="Shape 8"/>
          <p:cNvSpPr/>
          <p:nvPr/>
        </p:nvSpPr>
        <p:spPr>
          <a:xfrm>
            <a:off x="7114032" y="2697480"/>
            <a:ext cx="1280160" cy="292608"/>
          </a:xfrm>
          <a:prstGeom prst="roundRect">
            <a:avLst>
              <a:gd name="adj" fmla="val 50000"/>
            </a:avLst>
          </a:prstGeom>
          <a:solidFill>
            <a:srgbClr val="12291D"/>
          </a:solidFill>
          <a:ln/>
        </p:spPr>
      </p:sp>
      <p:sp>
        <p:nvSpPr>
          <p:cNvPr id="15" name="Text 9"/>
          <p:cNvSpPr txBox="1"/>
          <p:nvPr/>
        </p:nvSpPr>
        <p:spPr>
          <a:xfrm>
            <a:off x="7114032" y="2697480"/>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View 4: 2 × B3</a:t>
            </a:r>
            <a:endParaRPr lang="en-US" sz="1100" dirty="0"/>
          </a:p>
        </p:txBody>
      </p:sp>
      <p:sp>
        <p:nvSpPr>
          <p:cNvPr id="16" name="Shape 10"/>
          <p:cNvSpPr/>
          <p:nvPr/>
        </p:nvSpPr>
        <p:spPr>
          <a:xfrm>
            <a:off x="457200" y="3154680"/>
            <a:ext cx="1965960" cy="548640"/>
          </a:xfrm>
          <a:prstGeom prst="roundRect">
            <a:avLst>
              <a:gd name="adj" fmla="val 16667"/>
            </a:avLst>
          </a:prstGeom>
          <a:solidFill>
            <a:srgbClr val="FFFFFF"/>
          </a:solidFill>
          <a:ln/>
          <a:effectLst>
            <a:outerShdw sx="100000" sy="100000" kx="0" ky="0" algn="bl" rotWithShape="0" blurRad="76200" dist="25400" dir="5400000">
              <a:srgbClr val="000000">
                <a:alpha val="12000"/>
              </a:srgbClr>
            </a:outerShdw>
          </a:effectLst>
        </p:spPr>
      </p:sp>
      <p:sp>
        <p:nvSpPr>
          <p:cNvPr id="17" name="Text 11"/>
          <p:cNvSpPr txBox="1"/>
          <p:nvPr/>
        </p:nvSpPr>
        <p:spPr>
          <a:xfrm>
            <a:off x="566928" y="3154680"/>
            <a:ext cx="914400" cy="548640"/>
          </a:xfrm>
          <a:prstGeom prst="rect">
            <a:avLst/>
          </a:prstGeom>
          <a:noFill/>
          <a:ln/>
        </p:spPr>
        <p:txBody>
          <a:bodyPr wrap="square" lIns="0" tIns="0" rIns="0" bIns="0" rtlCol="0" anchor="ctr"/>
          <a:lstStyle/>
          <a:p>
            <a:pPr indent="0" marL="0">
              <a:buNone/>
            </a:pPr>
            <a:r>
              <a:rPr lang="en-US" sz="1300" b="1" dirty="0">
                <a:solidFill>
                  <a:srgbClr val="1E2B24"/>
                </a:solidFill>
                <a:latin typeface="Calibri" pitchFamily="34" charset="0"/>
                <a:ea typeface="Calibri" pitchFamily="34" charset="-122"/>
                <a:cs typeface="Calibri" pitchFamily="34" charset="-120"/>
              </a:rPr>
              <a:t>Sum</a:t>
            </a:r>
            <a:endParaRPr lang="en-US" sz="1300" dirty="0"/>
          </a:p>
        </p:txBody>
      </p:sp>
      <p:sp>
        <p:nvSpPr>
          <p:cNvPr id="18" name="Text 12"/>
          <p:cNvSpPr txBox="1"/>
          <p:nvPr/>
        </p:nvSpPr>
        <p:spPr>
          <a:xfrm>
            <a:off x="566928" y="3154680"/>
            <a:ext cx="1325880" cy="548640"/>
          </a:xfrm>
          <a:prstGeom prst="rect">
            <a:avLst/>
          </a:prstGeom>
          <a:noFill/>
          <a:ln/>
        </p:spPr>
        <p:txBody>
          <a:bodyPr wrap="square" lIns="0" tIns="0" rIns="0" bIns="50800" rtlCol="0" anchor="b"/>
          <a:lstStyle/>
          <a:p>
            <a:pPr indent="0" marL="0">
              <a:buNone/>
            </a:pPr>
            <a:r>
              <a:rPr lang="en-US" sz="950" dirty="0">
                <a:solidFill>
                  <a:srgbClr val="5B6B62"/>
                </a:solidFill>
                <a:latin typeface="Calibri" pitchFamily="34" charset="0"/>
                <a:ea typeface="Calibri" pitchFamily="34" charset="-122"/>
                <a:cs typeface="Calibri" pitchFamily="34" charset="-120"/>
              </a:rPr>
              <a:t>2+2+2+2</a:t>
            </a:r>
            <a:endParaRPr lang="en-US" sz="950" dirty="0"/>
          </a:p>
        </p:txBody>
      </p:sp>
      <p:sp>
        <p:nvSpPr>
          <p:cNvPr id="19" name="Text 13"/>
          <p:cNvSpPr txBox="1"/>
          <p:nvPr/>
        </p:nvSpPr>
        <p:spPr>
          <a:xfrm>
            <a:off x="1691640" y="3154680"/>
            <a:ext cx="621792" cy="548640"/>
          </a:xfrm>
          <a:prstGeom prst="rect">
            <a:avLst/>
          </a:prstGeom>
          <a:noFill/>
          <a:ln/>
        </p:spPr>
        <p:txBody>
          <a:bodyPr wrap="square" lIns="0" tIns="0" rIns="0" bIns="0" rtlCol="0" anchor="ctr"/>
          <a:lstStyle/>
          <a:p>
            <a:pPr algn="r" indent="0" marL="0">
              <a:buNone/>
            </a:pPr>
            <a:r>
              <a:rPr lang="en-US" sz="2200" b="1" dirty="0">
                <a:solidFill>
                  <a:srgbClr val="C8511B"/>
                </a:solidFill>
                <a:latin typeface="Cambria" pitchFamily="34" charset="0"/>
                <a:ea typeface="Cambria" pitchFamily="34" charset="-122"/>
                <a:cs typeface="Cambria" pitchFamily="34" charset="-120"/>
              </a:rPr>
              <a:t>8</a:t>
            </a:r>
            <a:endParaRPr lang="en-US" sz="2200" dirty="0"/>
          </a:p>
        </p:txBody>
      </p:sp>
      <p:sp>
        <p:nvSpPr>
          <p:cNvPr id="20" name="Shape 14"/>
          <p:cNvSpPr/>
          <p:nvPr/>
        </p:nvSpPr>
        <p:spPr>
          <a:xfrm>
            <a:off x="2560320" y="3154680"/>
            <a:ext cx="1965960" cy="548640"/>
          </a:xfrm>
          <a:prstGeom prst="roundRect">
            <a:avLst>
              <a:gd name="adj" fmla="val 16667"/>
            </a:avLst>
          </a:prstGeom>
          <a:solidFill>
            <a:srgbClr val="FFFFFF"/>
          </a:solidFill>
          <a:ln/>
          <a:effectLst>
            <a:outerShdw sx="100000" sy="100000" kx="0" ky="0" algn="bl" rotWithShape="0" blurRad="76200" dist="25400" dir="5400000">
              <a:srgbClr val="000000">
                <a:alpha val="12000"/>
              </a:srgbClr>
            </a:outerShdw>
          </a:effectLst>
        </p:spPr>
      </p:sp>
      <p:sp>
        <p:nvSpPr>
          <p:cNvPr id="21" name="Text 15"/>
          <p:cNvSpPr txBox="1"/>
          <p:nvPr/>
        </p:nvSpPr>
        <p:spPr>
          <a:xfrm>
            <a:off x="2670048" y="3154680"/>
            <a:ext cx="914400" cy="548640"/>
          </a:xfrm>
          <a:prstGeom prst="rect">
            <a:avLst/>
          </a:prstGeom>
          <a:noFill/>
          <a:ln/>
        </p:spPr>
        <p:txBody>
          <a:bodyPr wrap="square" lIns="0" tIns="0" rIns="0" bIns="0" rtlCol="0" anchor="ctr"/>
          <a:lstStyle/>
          <a:p>
            <a:pPr indent="0" marL="0">
              <a:buNone/>
            </a:pPr>
            <a:r>
              <a:rPr lang="en-US" sz="1300" b="1" dirty="0">
                <a:solidFill>
                  <a:srgbClr val="1E2B24"/>
                </a:solidFill>
                <a:latin typeface="Calibri" pitchFamily="34" charset="0"/>
                <a:ea typeface="Calibri" pitchFamily="34" charset="-122"/>
                <a:cs typeface="Calibri" pitchFamily="34" charset="-120"/>
              </a:rPr>
              <a:t>Max</a:t>
            </a:r>
            <a:endParaRPr lang="en-US" sz="1300" dirty="0"/>
          </a:p>
        </p:txBody>
      </p:sp>
      <p:sp>
        <p:nvSpPr>
          <p:cNvPr id="22" name="Text 16"/>
          <p:cNvSpPr txBox="1"/>
          <p:nvPr/>
        </p:nvSpPr>
        <p:spPr>
          <a:xfrm>
            <a:off x="2670048" y="3154680"/>
            <a:ext cx="1325880" cy="548640"/>
          </a:xfrm>
          <a:prstGeom prst="rect">
            <a:avLst/>
          </a:prstGeom>
          <a:noFill/>
          <a:ln/>
        </p:spPr>
        <p:txBody>
          <a:bodyPr wrap="square" lIns="0" tIns="0" rIns="0" bIns="50800" rtlCol="0" anchor="b"/>
          <a:lstStyle/>
          <a:p>
            <a:pPr indent="0" marL="0">
              <a:buNone/>
            </a:pPr>
            <a:r>
              <a:rPr lang="en-US" sz="950" dirty="0">
                <a:solidFill>
                  <a:srgbClr val="5B6B62"/>
                </a:solidFill>
                <a:latin typeface="Calibri" pitchFamily="34" charset="0"/>
                <a:ea typeface="Calibri" pitchFamily="34" charset="-122"/>
                <a:cs typeface="Calibri" pitchFamily="34" charset="-120"/>
              </a:rPr>
              <a:t>largest view</a:t>
            </a:r>
            <a:endParaRPr lang="en-US" sz="950" dirty="0"/>
          </a:p>
        </p:txBody>
      </p:sp>
      <p:sp>
        <p:nvSpPr>
          <p:cNvPr id="23" name="Text 17"/>
          <p:cNvSpPr txBox="1"/>
          <p:nvPr/>
        </p:nvSpPr>
        <p:spPr>
          <a:xfrm>
            <a:off x="3794760" y="3154680"/>
            <a:ext cx="621792" cy="548640"/>
          </a:xfrm>
          <a:prstGeom prst="rect">
            <a:avLst/>
          </a:prstGeom>
          <a:noFill/>
          <a:ln/>
        </p:spPr>
        <p:txBody>
          <a:bodyPr wrap="square" lIns="0" tIns="0" rIns="0" bIns="0" rtlCol="0" anchor="ctr"/>
          <a:lstStyle/>
          <a:p>
            <a:pPr algn="r" indent="0" marL="0">
              <a:buNone/>
            </a:pPr>
            <a:r>
              <a:rPr lang="en-US" sz="2200" b="1" dirty="0">
                <a:solidFill>
                  <a:srgbClr val="C8511B"/>
                </a:solidFill>
                <a:latin typeface="Cambria" pitchFamily="34" charset="0"/>
                <a:ea typeface="Cambria" pitchFamily="34" charset="-122"/>
                <a:cs typeface="Cambria" pitchFamily="34" charset="-120"/>
              </a:rPr>
              <a:t>2</a:t>
            </a:r>
            <a:endParaRPr lang="en-US" sz="2200" dirty="0"/>
          </a:p>
        </p:txBody>
      </p:sp>
      <p:sp>
        <p:nvSpPr>
          <p:cNvPr id="24" name="Shape 18"/>
          <p:cNvSpPr/>
          <p:nvPr/>
        </p:nvSpPr>
        <p:spPr>
          <a:xfrm>
            <a:off x="4663440" y="3154680"/>
            <a:ext cx="1965960" cy="548640"/>
          </a:xfrm>
          <a:prstGeom prst="roundRect">
            <a:avLst>
              <a:gd name="adj" fmla="val 16667"/>
            </a:avLst>
          </a:prstGeom>
          <a:solidFill>
            <a:srgbClr val="FFFFFF"/>
          </a:solidFill>
          <a:ln/>
          <a:effectLst>
            <a:outerShdw sx="100000" sy="100000" kx="0" ky="0" algn="bl" rotWithShape="0" blurRad="76200" dist="25400" dir="5400000">
              <a:srgbClr val="000000">
                <a:alpha val="12000"/>
              </a:srgbClr>
            </a:outerShdw>
          </a:effectLst>
        </p:spPr>
      </p:sp>
      <p:sp>
        <p:nvSpPr>
          <p:cNvPr id="25" name="Text 19"/>
          <p:cNvSpPr txBox="1"/>
          <p:nvPr/>
        </p:nvSpPr>
        <p:spPr>
          <a:xfrm>
            <a:off x="4773168" y="3154680"/>
            <a:ext cx="914400" cy="548640"/>
          </a:xfrm>
          <a:prstGeom prst="rect">
            <a:avLst/>
          </a:prstGeom>
          <a:noFill/>
          <a:ln/>
        </p:spPr>
        <p:txBody>
          <a:bodyPr wrap="square" lIns="0" tIns="0" rIns="0" bIns="0" rtlCol="0" anchor="ctr"/>
          <a:lstStyle/>
          <a:p>
            <a:pPr indent="0" marL="0">
              <a:buNone/>
            </a:pPr>
            <a:r>
              <a:rPr lang="en-US" sz="1300" b="1" dirty="0">
                <a:solidFill>
                  <a:srgbClr val="1E2B24"/>
                </a:solidFill>
                <a:latin typeface="Calibri" pitchFamily="34" charset="0"/>
                <a:ea typeface="Calibri" pitchFamily="34" charset="-122"/>
                <a:cs typeface="Calibri" pitchFamily="34" charset="-120"/>
              </a:rPr>
              <a:t>Mean</a:t>
            </a:r>
            <a:endParaRPr lang="en-US" sz="1300" dirty="0"/>
          </a:p>
        </p:txBody>
      </p:sp>
      <p:sp>
        <p:nvSpPr>
          <p:cNvPr id="26" name="Text 20"/>
          <p:cNvSpPr txBox="1"/>
          <p:nvPr/>
        </p:nvSpPr>
        <p:spPr>
          <a:xfrm>
            <a:off x="4773168" y="3154680"/>
            <a:ext cx="1325880" cy="548640"/>
          </a:xfrm>
          <a:prstGeom prst="rect">
            <a:avLst/>
          </a:prstGeom>
          <a:noFill/>
          <a:ln/>
        </p:spPr>
        <p:txBody>
          <a:bodyPr wrap="square" lIns="0" tIns="0" rIns="0" bIns="50800" rtlCol="0" anchor="b"/>
          <a:lstStyle/>
          <a:p>
            <a:pPr indent="0" marL="0">
              <a:buNone/>
            </a:pPr>
            <a:r>
              <a:rPr lang="en-US" sz="950" dirty="0">
                <a:solidFill>
                  <a:srgbClr val="5B6B62"/>
                </a:solidFill>
                <a:latin typeface="Calibri" pitchFamily="34" charset="0"/>
                <a:ea typeface="Calibri" pitchFamily="34" charset="-122"/>
                <a:cs typeface="Calibri" pitchFamily="34" charset="-120"/>
              </a:rPr>
              <a:t>8 ÷ 4 views</a:t>
            </a:r>
            <a:endParaRPr lang="en-US" sz="950" dirty="0"/>
          </a:p>
        </p:txBody>
      </p:sp>
      <p:sp>
        <p:nvSpPr>
          <p:cNvPr id="27" name="Text 21"/>
          <p:cNvSpPr txBox="1"/>
          <p:nvPr/>
        </p:nvSpPr>
        <p:spPr>
          <a:xfrm>
            <a:off x="5897880" y="3154680"/>
            <a:ext cx="621792" cy="548640"/>
          </a:xfrm>
          <a:prstGeom prst="rect">
            <a:avLst/>
          </a:prstGeom>
          <a:noFill/>
          <a:ln/>
        </p:spPr>
        <p:txBody>
          <a:bodyPr wrap="square" lIns="0" tIns="0" rIns="0" bIns="0" rtlCol="0" anchor="ctr"/>
          <a:lstStyle/>
          <a:p>
            <a:pPr algn="r" indent="0" marL="0">
              <a:buNone/>
            </a:pPr>
            <a:r>
              <a:rPr lang="en-US" sz="2200" b="1" dirty="0">
                <a:solidFill>
                  <a:srgbClr val="C8511B"/>
                </a:solidFill>
                <a:latin typeface="Cambria" pitchFamily="34" charset="0"/>
                <a:ea typeface="Cambria" pitchFamily="34" charset="-122"/>
                <a:cs typeface="Cambria" pitchFamily="34" charset="-120"/>
              </a:rPr>
              <a:t>2.0</a:t>
            </a:r>
            <a:endParaRPr lang="en-US" sz="2200" dirty="0"/>
          </a:p>
        </p:txBody>
      </p:sp>
      <p:sp>
        <p:nvSpPr>
          <p:cNvPr id="28" name="Shape 22"/>
          <p:cNvSpPr/>
          <p:nvPr/>
        </p:nvSpPr>
        <p:spPr>
          <a:xfrm>
            <a:off x="6766560" y="3154680"/>
            <a:ext cx="1965960" cy="548640"/>
          </a:xfrm>
          <a:prstGeom prst="roundRect">
            <a:avLst>
              <a:gd name="adj" fmla="val 16667"/>
            </a:avLst>
          </a:prstGeom>
          <a:solidFill>
            <a:srgbClr val="FFFFFF"/>
          </a:solidFill>
          <a:ln/>
          <a:effectLst>
            <a:outerShdw sx="100000" sy="100000" kx="0" ky="0" algn="bl" rotWithShape="0" blurRad="76200" dist="25400" dir="5400000">
              <a:srgbClr val="000000">
                <a:alpha val="12000"/>
              </a:srgbClr>
            </a:outerShdw>
          </a:effectLst>
        </p:spPr>
      </p:sp>
      <p:sp>
        <p:nvSpPr>
          <p:cNvPr id="29" name="Text 23"/>
          <p:cNvSpPr txBox="1"/>
          <p:nvPr/>
        </p:nvSpPr>
        <p:spPr>
          <a:xfrm>
            <a:off x="6876288" y="3154680"/>
            <a:ext cx="914400" cy="548640"/>
          </a:xfrm>
          <a:prstGeom prst="rect">
            <a:avLst/>
          </a:prstGeom>
          <a:noFill/>
          <a:ln/>
        </p:spPr>
        <p:txBody>
          <a:bodyPr wrap="square" lIns="0" tIns="0" rIns="0" bIns="0" rtlCol="0" anchor="ctr"/>
          <a:lstStyle/>
          <a:p>
            <a:pPr indent="0" marL="0">
              <a:buNone/>
            </a:pPr>
            <a:r>
              <a:rPr lang="en-US" sz="1300" b="1" dirty="0">
                <a:solidFill>
                  <a:srgbClr val="1E2B24"/>
                </a:solidFill>
                <a:latin typeface="Calibri" pitchFamily="34" charset="0"/>
                <a:ea typeface="Calibri" pitchFamily="34" charset="-122"/>
                <a:cs typeface="Calibri" pitchFamily="34" charset="-120"/>
              </a:rPr>
              <a:t>Unique B3</a:t>
            </a:r>
            <a:endParaRPr lang="en-US" sz="1300" dirty="0"/>
          </a:p>
        </p:txBody>
      </p:sp>
      <p:sp>
        <p:nvSpPr>
          <p:cNvPr id="30" name="Text 24"/>
          <p:cNvSpPr txBox="1"/>
          <p:nvPr/>
        </p:nvSpPr>
        <p:spPr>
          <a:xfrm>
            <a:off x="6876288" y="3154680"/>
            <a:ext cx="1325880" cy="548640"/>
          </a:xfrm>
          <a:prstGeom prst="rect">
            <a:avLst/>
          </a:prstGeom>
          <a:noFill/>
          <a:ln/>
        </p:spPr>
        <p:txBody>
          <a:bodyPr wrap="square" lIns="0" tIns="0" rIns="0" bIns="50800" rtlCol="0" anchor="b"/>
          <a:lstStyle/>
          <a:p>
            <a:pPr indent="0" marL="0">
              <a:buNone/>
            </a:pPr>
            <a:r>
              <a:rPr lang="en-US" sz="950" dirty="0">
                <a:solidFill>
                  <a:srgbClr val="5B6B62"/>
                </a:solidFill>
                <a:latin typeface="Calibri" pitchFamily="34" charset="0"/>
                <a:ea typeface="Calibri" pitchFamily="34" charset="-122"/>
                <a:cs typeface="Calibri" pitchFamily="34" charset="-120"/>
              </a:rPr>
              <a:t>ground truth</a:t>
            </a:r>
            <a:endParaRPr lang="en-US" sz="950" dirty="0"/>
          </a:p>
        </p:txBody>
      </p:sp>
      <p:sp>
        <p:nvSpPr>
          <p:cNvPr id="31" name="Text 25"/>
          <p:cNvSpPr txBox="1"/>
          <p:nvPr/>
        </p:nvSpPr>
        <p:spPr>
          <a:xfrm>
            <a:off x="8001000" y="3154680"/>
            <a:ext cx="621792" cy="548640"/>
          </a:xfrm>
          <a:prstGeom prst="rect">
            <a:avLst/>
          </a:prstGeom>
          <a:noFill/>
          <a:ln/>
        </p:spPr>
        <p:txBody>
          <a:bodyPr wrap="square" lIns="0" tIns="0" rIns="0" bIns="0" rtlCol="0" anchor="ctr"/>
          <a:lstStyle/>
          <a:p>
            <a:pPr algn="r" indent="0" marL="0">
              <a:buNone/>
            </a:pPr>
            <a:r>
              <a:rPr lang="en-US" sz="2200" b="1" dirty="0">
                <a:solidFill>
                  <a:srgbClr val="1F4D36"/>
                </a:solidFill>
                <a:latin typeface="Cambria" pitchFamily="34" charset="0"/>
                <a:ea typeface="Cambria" pitchFamily="34" charset="-122"/>
                <a:cs typeface="Cambria" pitchFamily="34" charset="-120"/>
              </a:rPr>
              <a:t>4</a:t>
            </a:r>
            <a:endParaRPr lang="en-US" sz="2200" dirty="0"/>
          </a:p>
        </p:txBody>
      </p:sp>
      <p:sp>
        <p:nvSpPr>
          <p:cNvPr id="32" name="Shape 26"/>
          <p:cNvSpPr/>
          <p:nvPr/>
        </p:nvSpPr>
        <p:spPr>
          <a:xfrm>
            <a:off x="457200" y="3886200"/>
            <a:ext cx="8229600" cy="777240"/>
          </a:xfrm>
          <a:prstGeom prst="roundRect">
            <a:avLst>
              <a:gd name="adj" fmla="val 11765"/>
            </a:avLst>
          </a:prstGeom>
          <a:solidFill>
            <a:srgbClr val="FFFFFF"/>
          </a:solidFill>
          <a:ln/>
          <a:effectLst>
            <a:outerShdw sx="100000" sy="100000" kx="0" ky="0" algn="bl" rotWithShape="0" blurRad="76200" dist="25400" dir="5400000">
              <a:srgbClr val="000000">
                <a:alpha val="12000"/>
              </a:srgbClr>
            </a:outerShdw>
          </a:effectLst>
        </p:spPr>
      </p:sp>
      <p:sp>
        <p:nvSpPr>
          <p:cNvPr id="33" name="Text 27"/>
          <p:cNvSpPr txBox="1"/>
          <p:nvPr/>
        </p:nvSpPr>
        <p:spPr>
          <a:xfrm>
            <a:off x="640080" y="3931920"/>
            <a:ext cx="7863840" cy="320040"/>
          </a:xfrm>
          <a:prstGeom prst="rect">
            <a:avLst/>
          </a:prstGeom>
          <a:noFill/>
          <a:ln/>
        </p:spPr>
        <p:txBody>
          <a:bodyPr wrap="square" lIns="0" tIns="0" rIns="0" bIns="0" rtlCol="0" anchor="ctr"/>
          <a:lstStyle/>
          <a:p>
            <a:pPr indent="0" marL="0">
              <a:buNone/>
            </a:pPr>
            <a:r>
              <a:rPr lang="en-US" sz="1400" b="1" dirty="0">
                <a:solidFill>
                  <a:srgbClr val="1E2B24"/>
                </a:solidFill>
                <a:latin typeface="Calibri" pitchFamily="34" charset="0"/>
                <a:ea typeface="Calibri" pitchFamily="34" charset="-122"/>
                <a:cs typeface="Calibri" pitchFamily="34" charset="-120"/>
              </a:rPr>
              <a:t>Baseline F0 = </a:t>
            </a:r>
            <a:pPr indent="0" marL="0">
              <a:buNone/>
            </a:pPr>
            <a:r>
              <a:rPr lang="en-US" sz="1400" dirty="0">
                <a:solidFill>
                  <a:srgbClr val="1E2B24"/>
                </a:solidFill>
                <a:latin typeface="Calibri" pitchFamily="34" charset="0"/>
                <a:ea typeface="Calibri" pitchFamily="34" charset="-122"/>
                <a:cs typeface="Calibri" pitchFamily="34" charset="-120"/>
              </a:rPr>
              <a:t>sum, max, mean × 4 classes + number of views = </a:t>
            </a:r>
            <a:pPr indent="0" marL="0">
              <a:buNone/>
            </a:pPr>
            <a:r>
              <a:rPr lang="en-US" sz="1400" b="1" dirty="0">
                <a:solidFill>
                  <a:srgbClr val="C8511B"/>
                </a:solidFill>
                <a:latin typeface="Calibri" pitchFamily="34" charset="0"/>
                <a:ea typeface="Calibri" pitchFamily="34" charset="-122"/>
                <a:cs typeface="Calibri" pitchFamily="34" charset="-120"/>
              </a:rPr>
              <a:t>13 features</a:t>
            </a:r>
            <a:endParaRPr lang="en-US" sz="1400" dirty="0"/>
          </a:p>
        </p:txBody>
      </p:sp>
      <p:sp>
        <p:nvSpPr>
          <p:cNvPr id="34" name="Text 28"/>
          <p:cNvSpPr txBox="1"/>
          <p:nvPr/>
        </p:nvSpPr>
        <p:spPr>
          <a:xfrm>
            <a:off x="640080" y="4270248"/>
            <a:ext cx="1828800" cy="320040"/>
          </a:xfrm>
          <a:prstGeom prst="rect">
            <a:avLst/>
          </a:prstGeom>
          <a:noFill/>
          <a:ln/>
        </p:spPr>
        <p:txBody>
          <a:bodyPr wrap="square" lIns="0" tIns="0" rIns="0" bIns="0" rtlCol="0" anchor="ctr"/>
          <a:lstStyle/>
          <a:p>
            <a:pPr indent="0" marL="0">
              <a:buNone/>
            </a:pPr>
            <a:r>
              <a:rPr lang="en-US" sz="1150" dirty="0">
                <a:solidFill>
                  <a:srgbClr val="5B6B62"/>
                </a:solidFill>
                <a:latin typeface="Calibri" pitchFamily="34" charset="0"/>
                <a:ea typeface="Calibri" pitchFamily="34" charset="-122"/>
                <a:cs typeface="Calibri" pitchFamily="34" charset="-120"/>
              </a:rPr>
              <a:t>Extended set (up to 67):</a:t>
            </a:r>
            <a:endParaRPr lang="en-US" sz="1150" dirty="0"/>
          </a:p>
        </p:txBody>
      </p:sp>
      <p:sp>
        <p:nvSpPr>
          <p:cNvPr id="35" name="Shape 29"/>
          <p:cNvSpPr/>
          <p:nvPr/>
        </p:nvSpPr>
        <p:spPr>
          <a:xfrm>
            <a:off x="2514600" y="4279392"/>
            <a:ext cx="1005840" cy="292608"/>
          </a:xfrm>
          <a:prstGeom prst="roundRect">
            <a:avLst>
              <a:gd name="adj" fmla="val 50000"/>
            </a:avLst>
          </a:prstGeom>
          <a:solidFill>
            <a:srgbClr val="EEF4EF"/>
          </a:solidFill>
          <a:ln/>
        </p:spPr>
      </p:sp>
      <p:sp>
        <p:nvSpPr>
          <p:cNvPr id="36" name="Text 30"/>
          <p:cNvSpPr txBox="1"/>
          <p:nvPr/>
        </p:nvSpPr>
        <p:spPr>
          <a:xfrm>
            <a:off x="2514600" y="4279392"/>
            <a:ext cx="1005840" cy="292608"/>
          </a:xfrm>
          <a:prstGeom prst="rect">
            <a:avLst/>
          </a:prstGeom>
          <a:noFill/>
          <a:ln/>
        </p:spPr>
        <p:txBody>
          <a:bodyPr wrap="square" lIns="0" tIns="0" rIns="0" bIns="0" rtlCol="0" anchor="ctr"/>
          <a:lstStyle/>
          <a:p>
            <a:pPr algn="ctr" indent="0" marL="0">
              <a:buNone/>
            </a:pPr>
            <a:r>
              <a:rPr lang="en-US" sz="1050" b="1" dirty="0">
                <a:solidFill>
                  <a:srgbClr val="1F4D36"/>
                </a:solidFill>
                <a:latin typeface="Calibri" pitchFamily="34" charset="0"/>
                <a:ea typeface="Calibri" pitchFamily="34" charset="-122"/>
                <a:cs typeface="Calibri" pitchFamily="34" charset="-120"/>
              </a:rPr>
              <a:t>confidence</a:t>
            </a:r>
            <a:endParaRPr lang="en-US" sz="1050" dirty="0"/>
          </a:p>
        </p:txBody>
      </p:sp>
      <p:sp>
        <p:nvSpPr>
          <p:cNvPr id="37" name="Shape 31"/>
          <p:cNvSpPr/>
          <p:nvPr/>
        </p:nvSpPr>
        <p:spPr>
          <a:xfrm>
            <a:off x="3611880" y="4279392"/>
            <a:ext cx="1234440" cy="292608"/>
          </a:xfrm>
          <a:prstGeom prst="roundRect">
            <a:avLst>
              <a:gd name="adj" fmla="val 50000"/>
            </a:avLst>
          </a:prstGeom>
          <a:solidFill>
            <a:srgbClr val="EEF4EF"/>
          </a:solidFill>
          <a:ln/>
        </p:spPr>
      </p:sp>
      <p:sp>
        <p:nvSpPr>
          <p:cNvPr id="38" name="Text 32"/>
          <p:cNvSpPr txBox="1"/>
          <p:nvPr/>
        </p:nvSpPr>
        <p:spPr>
          <a:xfrm>
            <a:off x="3611880" y="4279392"/>
            <a:ext cx="1234440" cy="292608"/>
          </a:xfrm>
          <a:prstGeom prst="rect">
            <a:avLst/>
          </a:prstGeom>
          <a:noFill/>
          <a:ln/>
        </p:spPr>
        <p:txBody>
          <a:bodyPr wrap="square" lIns="0" tIns="0" rIns="0" bIns="0" rtlCol="0" anchor="ctr"/>
          <a:lstStyle/>
          <a:p>
            <a:pPr algn="ctr" indent="0" marL="0">
              <a:buNone/>
            </a:pPr>
            <a:r>
              <a:rPr lang="en-US" sz="1050" b="1" dirty="0">
                <a:solidFill>
                  <a:srgbClr val="1F4D36"/>
                </a:solidFill>
                <a:latin typeface="Calibri" pitchFamily="34" charset="0"/>
                <a:ea typeface="Calibri" pitchFamily="34" charset="-122"/>
                <a:cs typeface="Calibri" pitchFamily="34" charset="-120"/>
              </a:rPr>
              <a:t>position &amp; size</a:t>
            </a:r>
            <a:endParaRPr lang="en-US" sz="1050" dirty="0"/>
          </a:p>
        </p:txBody>
      </p:sp>
      <p:sp>
        <p:nvSpPr>
          <p:cNvPr id="39" name="Shape 33"/>
          <p:cNvSpPr/>
          <p:nvPr/>
        </p:nvSpPr>
        <p:spPr>
          <a:xfrm>
            <a:off x="4937760" y="4279392"/>
            <a:ext cx="1280160" cy="292608"/>
          </a:xfrm>
          <a:prstGeom prst="roundRect">
            <a:avLst>
              <a:gd name="adj" fmla="val 50000"/>
            </a:avLst>
          </a:prstGeom>
          <a:solidFill>
            <a:srgbClr val="EEF4EF"/>
          </a:solidFill>
          <a:ln/>
        </p:spPr>
      </p:sp>
      <p:sp>
        <p:nvSpPr>
          <p:cNvPr id="40" name="Text 34"/>
          <p:cNvSpPr txBox="1"/>
          <p:nvPr/>
        </p:nvSpPr>
        <p:spPr>
          <a:xfrm>
            <a:off x="4937760" y="4279392"/>
            <a:ext cx="1280160" cy="292608"/>
          </a:xfrm>
          <a:prstGeom prst="rect">
            <a:avLst/>
          </a:prstGeom>
          <a:noFill/>
          <a:ln/>
        </p:spPr>
        <p:txBody>
          <a:bodyPr wrap="square" lIns="0" tIns="0" rIns="0" bIns="0" rtlCol="0" anchor="ctr"/>
          <a:lstStyle/>
          <a:p>
            <a:pPr algn="ctr" indent="0" marL="0">
              <a:buNone/>
            </a:pPr>
            <a:r>
              <a:rPr lang="en-US" sz="1050" b="1" dirty="0">
                <a:solidFill>
                  <a:srgbClr val="1F4D36"/>
                </a:solidFill>
                <a:latin typeface="Calibri" pitchFamily="34" charset="0"/>
                <a:ea typeface="Calibri" pitchFamily="34" charset="-122"/>
                <a:cs typeface="Calibri" pitchFamily="34" charset="-120"/>
              </a:rPr>
              <a:t>spread across views</a:t>
            </a:r>
            <a:endParaRPr lang="en-US" sz="1050" dirty="0"/>
          </a:p>
        </p:txBody>
      </p:sp>
      <p:sp>
        <p:nvSpPr>
          <p:cNvPr id="41" name="Shape 35"/>
          <p:cNvSpPr/>
          <p:nvPr/>
        </p:nvSpPr>
        <p:spPr>
          <a:xfrm>
            <a:off x="6309360" y="4279392"/>
            <a:ext cx="960120" cy="292608"/>
          </a:xfrm>
          <a:prstGeom prst="roundRect">
            <a:avLst>
              <a:gd name="adj" fmla="val 50000"/>
            </a:avLst>
          </a:prstGeom>
          <a:solidFill>
            <a:srgbClr val="EEF4EF"/>
          </a:solidFill>
          <a:ln/>
        </p:spPr>
      </p:sp>
      <p:sp>
        <p:nvSpPr>
          <p:cNvPr id="42" name="Text 36"/>
          <p:cNvSpPr txBox="1"/>
          <p:nvPr/>
        </p:nvSpPr>
        <p:spPr>
          <a:xfrm>
            <a:off x="6309360" y="4279392"/>
            <a:ext cx="960120" cy="292608"/>
          </a:xfrm>
          <a:prstGeom prst="rect">
            <a:avLst/>
          </a:prstGeom>
          <a:noFill/>
          <a:ln/>
        </p:spPr>
        <p:txBody>
          <a:bodyPr wrap="square" lIns="0" tIns="0" rIns="0" bIns="0" rtlCol="0" anchor="ctr"/>
          <a:lstStyle/>
          <a:p>
            <a:pPr algn="ctr" indent="0" marL="0">
              <a:buNone/>
            </a:pPr>
            <a:r>
              <a:rPr lang="en-US" sz="1050" b="1" dirty="0">
                <a:solidFill>
                  <a:srgbClr val="1F4D36"/>
                </a:solidFill>
                <a:latin typeface="Calibri" pitchFamily="34" charset="0"/>
                <a:ea typeface="Calibri" pitchFamily="34" charset="-122"/>
                <a:cs typeface="Calibri" pitchFamily="34" charset="-120"/>
              </a:rPr>
              <a:t>class shares</a:t>
            </a:r>
            <a:endParaRPr lang="en-US" sz="1050" dirty="0"/>
          </a:p>
        </p:txBody>
      </p:sp>
      <p:sp>
        <p:nvSpPr>
          <p:cNvPr id="43" name="Text 37"/>
          <p:cNvSpPr txBox="1"/>
          <p:nvPr/>
        </p:nvSpPr>
        <p:spPr>
          <a:xfrm>
            <a:off x="8412480" y="4773168"/>
            <a:ext cx="365760" cy="228600"/>
          </a:xfrm>
          <a:prstGeom prst="rect">
            <a:avLst/>
          </a:prstGeom>
          <a:noFill/>
          <a:ln/>
        </p:spPr>
        <p:txBody>
          <a:bodyPr wrap="square" lIns="0" tIns="0" rIns="0" bIns="0" rtlCol="0" anchor="ctr"/>
          <a:lstStyle/>
          <a:p>
            <a:pPr algn="r" indent="0" marL="0">
              <a:buNone/>
            </a:pPr>
            <a:r>
              <a:rPr lang="en-US" sz="1000" dirty="0">
                <a:solidFill>
                  <a:srgbClr val="5B6B6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B24"/>
                </a:solidFill>
                <a:latin typeface="Cambria" pitchFamily="34" charset="0"/>
                <a:ea typeface="Cambria" pitchFamily="34" charset="-122"/>
                <a:cs typeface="Cambria" pitchFamily="34" charset="-120"/>
              </a:rPr>
              <a:t>Step 2a: counting without machine learning</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500" dirty="0">
                <a:solidFill>
                  <a:srgbClr val="5B6B62"/>
                </a:solidFill>
                <a:latin typeface="Calibri" pitchFamily="34" charset="0"/>
                <a:ea typeface="Calibri" pitchFamily="34" charset="-122"/>
                <a:cs typeface="Calibri" pitchFamily="34" charset="-120"/>
              </a:rPr>
              <a:t>Fixed rules, no training</a:t>
            </a:r>
            <a:endParaRPr lang="en-US" sz="1500" dirty="0"/>
          </a:p>
        </p:txBody>
      </p:sp>
      <p:sp>
        <p:nvSpPr>
          <p:cNvPr id="4" name="Shape 2"/>
          <p:cNvSpPr/>
          <p:nvPr/>
        </p:nvSpPr>
        <p:spPr>
          <a:xfrm>
            <a:off x="457200" y="1325880"/>
            <a:ext cx="4023360" cy="3291840"/>
          </a:xfrm>
          <a:prstGeom prst="roundRect">
            <a:avLst>
              <a:gd name="adj" fmla="val 2778"/>
            </a:avLst>
          </a:prstGeom>
          <a:solidFill>
            <a:srgbClr val="EEF4EF"/>
          </a:solidFill>
          <a:ln/>
        </p:spPr>
      </p:sp>
      <p:sp>
        <p:nvSpPr>
          <p:cNvPr id="5" name="Shape 3"/>
          <p:cNvSpPr/>
          <p:nvPr/>
        </p:nvSpPr>
        <p:spPr>
          <a:xfrm>
            <a:off x="731520" y="1554480"/>
            <a:ext cx="566928" cy="566928"/>
          </a:xfrm>
          <a:prstGeom prst="ellipse">
            <a:avLst/>
          </a:prstGeom>
          <a:solidFill>
            <a:srgbClr val="9E2A2B"/>
          </a:solidFill>
          <a:ln w="12700">
            <a:solidFill>
              <a:srgbClr val="9E2A2B"/>
            </a:solidFill>
            <a:prstDash val="solid"/>
          </a:ln>
        </p:spPr>
      </p:sp>
      <p:pic>
        <p:nvPicPr>
          <p:cNvPr id="6" name="Image 0" descr="preencoded.png">    </p:cNvPr>
          <p:cNvPicPr>
            <a:picLocks noChangeAspect="1"/>
          </p:cNvPicPr>
          <p:nvPr/>
        </p:nvPicPr>
        <p:blipFill>
          <a:blip r:embed="rId1"/>
          <a:stretch>
            <a:fillRect/>
          </a:stretch>
        </p:blipFill>
        <p:spPr>
          <a:xfrm>
            <a:off x="878921" y="1701881"/>
            <a:ext cx="272125" cy="272125"/>
          </a:xfrm>
          <a:prstGeom prst="rect">
            <a:avLst/>
          </a:prstGeom>
        </p:spPr>
      </p:pic>
      <p:sp>
        <p:nvSpPr>
          <p:cNvPr id="7" name="Text 4"/>
          <p:cNvSpPr txBox="1"/>
          <p:nvPr/>
        </p:nvSpPr>
        <p:spPr>
          <a:xfrm>
            <a:off x="1463040" y="1554480"/>
            <a:ext cx="2834640" cy="320040"/>
          </a:xfrm>
          <a:prstGeom prst="rect">
            <a:avLst/>
          </a:prstGeom>
          <a:noFill/>
          <a:ln/>
        </p:spPr>
        <p:txBody>
          <a:bodyPr wrap="square" lIns="0" tIns="0" rIns="0" bIns="0" rtlCol="0" anchor="ctr"/>
          <a:lstStyle/>
          <a:p>
            <a:pPr indent="0" marL="0">
              <a:buNone/>
            </a:pPr>
            <a:r>
              <a:rPr lang="en-US" sz="2000" b="1" dirty="0">
                <a:solidFill>
                  <a:srgbClr val="9E2A2B"/>
                </a:solidFill>
                <a:latin typeface="Cambria" pitchFamily="34" charset="0"/>
                <a:ea typeface="Cambria" pitchFamily="34" charset="-122"/>
                <a:cs typeface="Cambria" pitchFamily="34" charset="-120"/>
              </a:rPr>
              <a:t>Naive sum</a:t>
            </a:r>
            <a:endParaRPr lang="en-US" sz="2000" dirty="0"/>
          </a:p>
        </p:txBody>
      </p:sp>
      <p:sp>
        <p:nvSpPr>
          <p:cNvPr id="8" name="Text 5"/>
          <p:cNvSpPr txBox="1"/>
          <p:nvPr/>
        </p:nvSpPr>
        <p:spPr>
          <a:xfrm>
            <a:off x="1463040" y="1874520"/>
            <a:ext cx="2834640" cy="274320"/>
          </a:xfrm>
          <a:prstGeom prst="rect">
            <a:avLst/>
          </a:prstGeom>
          <a:noFill/>
          <a:ln/>
        </p:spPr>
        <p:txBody>
          <a:bodyPr wrap="square" lIns="0" tIns="0" rIns="0" bIns="0" rtlCol="0" anchor="ctr"/>
          <a:lstStyle/>
          <a:p>
            <a:pPr indent="0" marL="0">
              <a:buNone/>
            </a:pPr>
            <a:r>
              <a:rPr lang="en-US" sz="1200" dirty="0">
                <a:solidFill>
                  <a:srgbClr val="5B6B62"/>
                </a:solidFill>
                <a:latin typeface="Calibri" pitchFamily="34" charset="0"/>
                <a:ea typeface="Calibri" pitchFamily="34" charset="-122"/>
                <a:cs typeface="Calibri" pitchFamily="34" charset="-120"/>
              </a:rPr>
              <a:t>Sum of all appearances</a:t>
            </a:r>
            <a:endParaRPr lang="en-US" sz="1200" dirty="0"/>
          </a:p>
        </p:txBody>
      </p:sp>
      <p:sp>
        <p:nvSpPr>
          <p:cNvPr id="9" name="Shape 6"/>
          <p:cNvSpPr/>
          <p:nvPr/>
        </p:nvSpPr>
        <p:spPr>
          <a:xfrm>
            <a:off x="731520" y="2377440"/>
            <a:ext cx="3474720" cy="548640"/>
          </a:xfrm>
          <a:prstGeom prst="roundRect">
            <a:avLst>
              <a:gd name="adj" fmla="val 16667"/>
            </a:avLst>
          </a:prstGeom>
          <a:solidFill>
            <a:srgbClr val="FFFFFF"/>
          </a:solidFill>
          <a:ln/>
          <a:effectLst>
            <a:outerShdw sx="100000" sy="100000" kx="0" ky="0" algn="bl" rotWithShape="0" blurRad="76200" dist="25400" dir="5400000">
              <a:srgbClr val="000000">
                <a:alpha val="12000"/>
              </a:srgbClr>
            </a:outerShdw>
          </a:effectLst>
        </p:spPr>
      </p:sp>
      <p:sp>
        <p:nvSpPr>
          <p:cNvPr id="10" name="Text 7"/>
          <p:cNvSpPr txBox="1"/>
          <p:nvPr/>
        </p:nvSpPr>
        <p:spPr>
          <a:xfrm>
            <a:off x="731520" y="2377440"/>
            <a:ext cx="3474720" cy="548640"/>
          </a:xfrm>
          <a:prstGeom prst="rect">
            <a:avLst/>
          </a:prstGeom>
          <a:noFill/>
          <a:ln/>
        </p:spPr>
        <p:txBody>
          <a:bodyPr wrap="square" lIns="0" tIns="0" rIns="0" bIns="0" rtlCol="0" anchor="ctr"/>
          <a:lstStyle/>
          <a:p>
            <a:pPr algn="ctr" indent="0" marL="0">
              <a:buNone/>
            </a:pPr>
            <a:r>
              <a:rPr lang="en-US" sz="1700" b="1" dirty="0">
                <a:solidFill>
                  <a:srgbClr val="1E2B24"/>
                </a:solidFill>
                <a:latin typeface="Cambria" pitchFamily="34" charset="0"/>
                <a:ea typeface="Cambria" pitchFamily="34" charset="-122"/>
                <a:cs typeface="Cambria" pitchFamily="34" charset="-120"/>
              </a:rPr>
              <a:t>ŷ = sum of detections</a:t>
            </a:r>
            <a:endParaRPr lang="en-US" sz="1700" dirty="0"/>
          </a:p>
        </p:txBody>
      </p:sp>
      <p:sp>
        <p:nvSpPr>
          <p:cNvPr id="11" name="Text 8"/>
          <p:cNvSpPr txBox="1"/>
          <p:nvPr/>
        </p:nvSpPr>
        <p:spPr>
          <a:xfrm>
            <a:off x="731520" y="3108960"/>
            <a:ext cx="1645920" cy="365760"/>
          </a:xfrm>
          <a:prstGeom prst="rect">
            <a:avLst/>
          </a:prstGeom>
          <a:noFill/>
          <a:ln/>
        </p:spPr>
        <p:txBody>
          <a:bodyPr wrap="square" lIns="0" tIns="0" rIns="0" bIns="0" rtlCol="0" anchor="ctr"/>
          <a:lstStyle/>
          <a:p>
            <a:pPr indent="0" marL="0">
              <a:buNone/>
            </a:pPr>
            <a:r>
              <a:rPr lang="en-US" sz="1200" dirty="0">
                <a:solidFill>
                  <a:srgbClr val="5B6B62"/>
                </a:solidFill>
                <a:latin typeface="Calibri" pitchFamily="34" charset="0"/>
                <a:ea typeface="Calibri" pitchFamily="34" charset="-122"/>
                <a:cs typeface="Calibri" pitchFamily="34" charset="-120"/>
              </a:rPr>
              <a:t>Example (B3):</a:t>
            </a:r>
            <a:endParaRPr lang="en-US" sz="1200" dirty="0"/>
          </a:p>
        </p:txBody>
      </p:sp>
      <p:sp>
        <p:nvSpPr>
          <p:cNvPr id="12" name="Text 9"/>
          <p:cNvSpPr txBox="1"/>
          <p:nvPr/>
        </p:nvSpPr>
        <p:spPr>
          <a:xfrm>
            <a:off x="2286000" y="3063240"/>
            <a:ext cx="1920240" cy="457200"/>
          </a:xfrm>
          <a:prstGeom prst="rect">
            <a:avLst/>
          </a:prstGeom>
          <a:noFill/>
          <a:ln/>
        </p:spPr>
        <p:txBody>
          <a:bodyPr wrap="square" lIns="0" tIns="0" rIns="0" bIns="0" rtlCol="0" anchor="ctr"/>
          <a:lstStyle/>
          <a:p>
            <a:pPr algn="r" indent="0" marL="0">
              <a:buNone/>
            </a:pPr>
            <a:r>
              <a:rPr lang="en-US" sz="2400" b="1" dirty="0">
                <a:solidFill>
                  <a:srgbClr val="9E2A2B"/>
                </a:solidFill>
                <a:latin typeface="Cambria" pitchFamily="34" charset="0"/>
                <a:ea typeface="Cambria" pitchFamily="34" charset="-122"/>
                <a:cs typeface="Cambria" pitchFamily="34" charset="-120"/>
              </a:rPr>
              <a:t>8</a:t>
            </a:r>
            <a:endParaRPr lang="en-US" sz="2400" dirty="0"/>
          </a:p>
        </p:txBody>
      </p:sp>
      <p:sp>
        <p:nvSpPr>
          <p:cNvPr id="13" name="Text 10"/>
          <p:cNvSpPr txBox="1"/>
          <p:nvPr/>
        </p:nvSpPr>
        <p:spPr>
          <a:xfrm>
            <a:off x="731520" y="3703320"/>
            <a:ext cx="3474720" cy="731520"/>
          </a:xfrm>
          <a:prstGeom prst="rect">
            <a:avLst/>
          </a:prstGeom>
          <a:noFill/>
          <a:ln/>
        </p:spPr>
        <p:txBody>
          <a:bodyPr wrap="square" lIns="0" tIns="0" rIns="0" bIns="0" rtlCol="0" anchor="t"/>
          <a:lstStyle/>
          <a:p>
            <a:pPr indent="0" marL="0">
              <a:buNone/>
            </a:pPr>
            <a:r>
              <a:rPr lang="en-US" sz="1150" dirty="0">
                <a:solidFill>
                  <a:srgbClr val="1E2B24"/>
                </a:solidFill>
                <a:latin typeface="Calibri" pitchFamily="34" charset="0"/>
                <a:ea typeface="Calibri" pitchFamily="34" charset="-122"/>
                <a:cs typeface="Calibri" pitchFamily="34" charset="-120"/>
              </a:rPr>
              <a:t>Counts the same bunch several times (ground truth: 4)</a:t>
            </a:r>
            <a:endParaRPr lang="en-US" sz="1150" dirty="0"/>
          </a:p>
        </p:txBody>
      </p:sp>
      <p:sp>
        <p:nvSpPr>
          <p:cNvPr id="14" name="Shape 11"/>
          <p:cNvSpPr/>
          <p:nvPr/>
        </p:nvSpPr>
        <p:spPr>
          <a:xfrm>
            <a:off x="4663440" y="1325880"/>
            <a:ext cx="4023360" cy="3291840"/>
          </a:xfrm>
          <a:prstGeom prst="roundRect">
            <a:avLst>
              <a:gd name="adj" fmla="val 2778"/>
            </a:avLst>
          </a:prstGeom>
          <a:solidFill>
            <a:srgbClr val="EEF4EF"/>
          </a:solidFill>
          <a:ln/>
        </p:spPr>
      </p:sp>
      <p:sp>
        <p:nvSpPr>
          <p:cNvPr id="15" name="Shape 12"/>
          <p:cNvSpPr/>
          <p:nvPr/>
        </p:nvSpPr>
        <p:spPr>
          <a:xfrm>
            <a:off x="4937760" y="1554480"/>
            <a:ext cx="566928" cy="566928"/>
          </a:xfrm>
          <a:prstGeom prst="ellipse">
            <a:avLst/>
          </a:prstGeom>
          <a:solidFill>
            <a:srgbClr val="1F4D36"/>
          </a:solidFill>
          <a:ln w="12700">
            <a:solidFill>
              <a:srgbClr val="1F4D36"/>
            </a:solidFill>
            <a:prstDash val="solid"/>
          </a:ln>
        </p:spPr>
      </p:sp>
      <p:pic>
        <p:nvPicPr>
          <p:cNvPr id="16" name="Image 1" descr="preencoded.png">    </p:cNvPr>
          <p:cNvPicPr>
            <a:picLocks noChangeAspect="1"/>
          </p:cNvPicPr>
          <p:nvPr/>
        </p:nvPicPr>
        <p:blipFill>
          <a:blip r:embed="rId2"/>
          <a:stretch>
            <a:fillRect/>
          </a:stretch>
        </p:blipFill>
        <p:spPr>
          <a:xfrm>
            <a:off x="5085161" y="1701881"/>
            <a:ext cx="272125" cy="272125"/>
          </a:xfrm>
          <a:prstGeom prst="rect">
            <a:avLst/>
          </a:prstGeom>
        </p:spPr>
      </p:pic>
      <p:sp>
        <p:nvSpPr>
          <p:cNvPr id="17" name="Text 13"/>
          <p:cNvSpPr txBox="1"/>
          <p:nvPr/>
        </p:nvSpPr>
        <p:spPr>
          <a:xfrm>
            <a:off x="5669280" y="1554480"/>
            <a:ext cx="2834640" cy="320040"/>
          </a:xfrm>
          <a:prstGeom prst="rect">
            <a:avLst/>
          </a:prstGeom>
          <a:noFill/>
          <a:ln/>
        </p:spPr>
        <p:txBody>
          <a:bodyPr wrap="square" lIns="0" tIns="0" rIns="0" bIns="0" rtlCol="0" anchor="ctr"/>
          <a:lstStyle/>
          <a:p>
            <a:pPr indent="0" marL="0">
              <a:buNone/>
            </a:pPr>
            <a:r>
              <a:rPr lang="en-US" sz="2000" b="1" dirty="0">
                <a:solidFill>
                  <a:srgbClr val="1F4D36"/>
                </a:solidFill>
                <a:latin typeface="Cambria" pitchFamily="34" charset="0"/>
                <a:ea typeface="Cambria" pitchFamily="34" charset="-122"/>
                <a:cs typeface="Cambria" pitchFamily="34" charset="-120"/>
              </a:rPr>
              <a:t>Global divisor</a:t>
            </a:r>
            <a:endParaRPr lang="en-US" sz="2000" dirty="0"/>
          </a:p>
        </p:txBody>
      </p:sp>
      <p:sp>
        <p:nvSpPr>
          <p:cNvPr id="18" name="Text 14"/>
          <p:cNvSpPr txBox="1"/>
          <p:nvPr/>
        </p:nvSpPr>
        <p:spPr>
          <a:xfrm>
            <a:off x="5669280" y="1874520"/>
            <a:ext cx="2834640" cy="274320"/>
          </a:xfrm>
          <a:prstGeom prst="rect">
            <a:avLst/>
          </a:prstGeom>
          <a:noFill/>
          <a:ln/>
        </p:spPr>
        <p:txBody>
          <a:bodyPr wrap="square" lIns="0" tIns="0" rIns="0" bIns="0" rtlCol="0" anchor="ctr"/>
          <a:lstStyle/>
          <a:p>
            <a:pPr indent="0" marL="0">
              <a:buNone/>
            </a:pPr>
            <a:r>
              <a:rPr lang="en-US" sz="1200" dirty="0">
                <a:solidFill>
                  <a:srgbClr val="5B6B62"/>
                </a:solidFill>
                <a:latin typeface="Calibri" pitchFamily="34" charset="0"/>
                <a:ea typeface="Calibri" pitchFamily="34" charset="-122"/>
                <a:cs typeface="Calibri" pitchFamily="34" charset="-120"/>
              </a:rPr>
              <a:t>Corrects for average repeated visibility</a:t>
            </a:r>
            <a:endParaRPr lang="en-US" sz="1200" dirty="0"/>
          </a:p>
        </p:txBody>
      </p:sp>
      <p:sp>
        <p:nvSpPr>
          <p:cNvPr id="19" name="Shape 15"/>
          <p:cNvSpPr/>
          <p:nvPr/>
        </p:nvSpPr>
        <p:spPr>
          <a:xfrm>
            <a:off x="4937760" y="2377440"/>
            <a:ext cx="3474720" cy="548640"/>
          </a:xfrm>
          <a:prstGeom prst="roundRect">
            <a:avLst>
              <a:gd name="adj" fmla="val 16667"/>
            </a:avLst>
          </a:prstGeom>
          <a:solidFill>
            <a:srgbClr val="FFFFFF"/>
          </a:solidFill>
          <a:ln/>
          <a:effectLst>
            <a:outerShdw sx="100000" sy="100000" kx="0" ky="0" algn="bl" rotWithShape="0" blurRad="76200" dist="25400" dir="5400000">
              <a:srgbClr val="000000">
                <a:alpha val="12000"/>
              </a:srgbClr>
            </a:outerShdw>
          </a:effectLst>
        </p:spPr>
      </p:sp>
      <p:sp>
        <p:nvSpPr>
          <p:cNvPr id="20" name="Text 16"/>
          <p:cNvSpPr txBox="1"/>
          <p:nvPr/>
        </p:nvSpPr>
        <p:spPr>
          <a:xfrm>
            <a:off x="4937760" y="2377440"/>
            <a:ext cx="3474720" cy="548640"/>
          </a:xfrm>
          <a:prstGeom prst="rect">
            <a:avLst/>
          </a:prstGeom>
          <a:noFill/>
          <a:ln/>
        </p:spPr>
        <p:txBody>
          <a:bodyPr wrap="square" lIns="0" tIns="0" rIns="0" bIns="0" rtlCol="0" anchor="ctr"/>
          <a:lstStyle/>
          <a:p>
            <a:pPr algn="ctr" indent="0" marL="0">
              <a:buNone/>
            </a:pPr>
            <a:r>
              <a:rPr lang="en-US" sz="1700" b="1" dirty="0">
                <a:solidFill>
                  <a:srgbClr val="1E2B24"/>
                </a:solidFill>
                <a:latin typeface="Cambria" pitchFamily="34" charset="0"/>
                <a:ea typeface="Cambria" pitchFamily="34" charset="-122"/>
                <a:cs typeface="Cambria" pitchFamily="34" charset="-120"/>
              </a:rPr>
              <a:t>ŷ = round( sum ÷ k )</a:t>
            </a:r>
            <a:endParaRPr lang="en-US" sz="1700" dirty="0"/>
          </a:p>
        </p:txBody>
      </p:sp>
      <p:sp>
        <p:nvSpPr>
          <p:cNvPr id="21" name="Text 17"/>
          <p:cNvSpPr txBox="1"/>
          <p:nvPr/>
        </p:nvSpPr>
        <p:spPr>
          <a:xfrm>
            <a:off x="4937760" y="3108960"/>
            <a:ext cx="1645920" cy="365760"/>
          </a:xfrm>
          <a:prstGeom prst="rect">
            <a:avLst/>
          </a:prstGeom>
          <a:noFill/>
          <a:ln/>
        </p:spPr>
        <p:txBody>
          <a:bodyPr wrap="square" lIns="0" tIns="0" rIns="0" bIns="0" rtlCol="0" anchor="ctr"/>
          <a:lstStyle/>
          <a:p>
            <a:pPr indent="0" marL="0">
              <a:buNone/>
            </a:pPr>
            <a:r>
              <a:rPr lang="en-US" sz="1200" dirty="0">
                <a:solidFill>
                  <a:srgbClr val="5B6B62"/>
                </a:solidFill>
                <a:latin typeface="Calibri" pitchFamily="34" charset="0"/>
                <a:ea typeface="Calibri" pitchFamily="34" charset="-122"/>
                <a:cs typeface="Calibri" pitchFamily="34" charset="-120"/>
              </a:rPr>
              <a:t>Example (B3):</a:t>
            </a:r>
            <a:endParaRPr lang="en-US" sz="1200" dirty="0"/>
          </a:p>
        </p:txBody>
      </p:sp>
      <p:sp>
        <p:nvSpPr>
          <p:cNvPr id="22" name="Text 18"/>
          <p:cNvSpPr txBox="1"/>
          <p:nvPr/>
        </p:nvSpPr>
        <p:spPr>
          <a:xfrm>
            <a:off x="6492240" y="3063240"/>
            <a:ext cx="1920240" cy="457200"/>
          </a:xfrm>
          <a:prstGeom prst="rect">
            <a:avLst/>
          </a:prstGeom>
          <a:noFill/>
          <a:ln/>
        </p:spPr>
        <p:txBody>
          <a:bodyPr wrap="square" lIns="0" tIns="0" rIns="0" bIns="0" rtlCol="0" anchor="ctr"/>
          <a:lstStyle/>
          <a:p>
            <a:pPr algn="r" indent="0" marL="0">
              <a:buNone/>
            </a:pPr>
            <a:r>
              <a:rPr lang="en-US" sz="2400" b="1" dirty="0">
                <a:solidFill>
                  <a:srgbClr val="1F4D36"/>
                </a:solidFill>
                <a:latin typeface="Cambria" pitchFamily="34" charset="0"/>
                <a:ea typeface="Cambria" pitchFamily="34" charset="-122"/>
                <a:cs typeface="Cambria" pitchFamily="34" charset="-120"/>
              </a:rPr>
              <a:t>8 ÷ 1.89 ≈ 4</a:t>
            </a:r>
            <a:endParaRPr lang="en-US" sz="2400" dirty="0"/>
          </a:p>
        </p:txBody>
      </p:sp>
      <p:sp>
        <p:nvSpPr>
          <p:cNvPr id="23" name="Text 19"/>
          <p:cNvSpPr txBox="1"/>
          <p:nvPr/>
        </p:nvSpPr>
        <p:spPr>
          <a:xfrm>
            <a:off x="4937760" y="3703320"/>
            <a:ext cx="3474720" cy="731520"/>
          </a:xfrm>
          <a:prstGeom prst="rect">
            <a:avLst/>
          </a:prstGeom>
          <a:noFill/>
          <a:ln/>
        </p:spPr>
        <p:txBody>
          <a:bodyPr wrap="square" lIns="0" tIns="0" rIns="0" bIns="0" rtlCol="0" anchor="t"/>
          <a:lstStyle/>
          <a:p>
            <a:pPr indent="0" marL="0">
              <a:buNone/>
            </a:pPr>
            <a:r>
              <a:rPr lang="en-US" sz="1150" dirty="0">
                <a:solidFill>
                  <a:srgbClr val="1E2B24"/>
                </a:solidFill>
                <a:latin typeface="Calibri" pitchFamily="34" charset="0"/>
                <a:ea typeface="Calibri" pitchFamily="34" charset="-122"/>
                <a:cs typeface="Calibri" pitchFamily="34" charset="-120"/>
              </a:rPr>
              <a:t>k = appearances ÷ unique bunches in training trees (GT 1.89, detector 1.79)</a:t>
            </a:r>
            <a:endParaRPr lang="en-US" sz="1150" dirty="0"/>
          </a:p>
        </p:txBody>
      </p:sp>
      <p:sp>
        <p:nvSpPr>
          <p:cNvPr id="24" name="Text 20"/>
          <p:cNvSpPr txBox="1"/>
          <p:nvPr/>
        </p:nvSpPr>
        <p:spPr>
          <a:xfrm>
            <a:off x="8412480" y="4773168"/>
            <a:ext cx="365760" cy="228600"/>
          </a:xfrm>
          <a:prstGeom prst="rect">
            <a:avLst/>
          </a:prstGeom>
          <a:noFill/>
          <a:ln/>
        </p:spPr>
        <p:txBody>
          <a:bodyPr wrap="square" lIns="0" tIns="0" rIns="0" bIns="0" rtlCol="0" anchor="ctr"/>
          <a:lstStyle/>
          <a:p>
            <a:pPr algn="r" indent="0" marL="0">
              <a:buNone/>
            </a:pPr>
            <a:r>
              <a:rPr lang="en-US" sz="1000" dirty="0">
                <a:solidFill>
                  <a:srgbClr val="5B6B6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4E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B24"/>
                </a:solidFill>
                <a:latin typeface="Cambria" pitchFamily="34" charset="0"/>
                <a:ea typeface="Cambria" pitchFamily="34" charset="-122"/>
                <a:cs typeface="Cambria" pitchFamily="34" charset="-120"/>
              </a:rPr>
              <a:t>Step 2b: counting with machine learning</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500" dirty="0">
                <a:solidFill>
                  <a:srgbClr val="5B6B62"/>
                </a:solidFill>
                <a:latin typeface="Calibri" pitchFamily="34" charset="0"/>
                <a:ea typeface="Calibri" pitchFamily="34" charset="-122"/>
                <a:cs typeface="Calibri" pitchFamily="34" charset="-120"/>
              </a:rPr>
              <a:t>Five regression models trained on the 716 training trees</a:t>
            </a:r>
            <a:endParaRPr lang="en-US" sz="1500" dirty="0"/>
          </a:p>
        </p:txBody>
      </p:sp>
      <p:sp>
        <p:nvSpPr>
          <p:cNvPr id="4" name="Shape 2"/>
          <p:cNvSpPr/>
          <p:nvPr/>
        </p:nvSpPr>
        <p:spPr>
          <a:xfrm>
            <a:off x="457200" y="1325880"/>
            <a:ext cx="2103120" cy="1737360"/>
          </a:xfrm>
          <a:prstGeom prst="roundRect">
            <a:avLst>
              <a:gd name="adj" fmla="val 5263"/>
            </a:avLst>
          </a:prstGeom>
          <a:solidFill>
            <a:srgbClr val="FFFFFF"/>
          </a:solidFill>
          <a:ln/>
          <a:effectLst>
            <a:outerShdw sx="100000" sy="100000" kx="0" ky="0" algn="bl" rotWithShape="0" blurRad="76200" dist="25400" dir="5400000">
              <a:srgbClr val="000000">
                <a:alpha val="12000"/>
              </a:srgbClr>
            </a:outerShdw>
          </a:effectLst>
        </p:spPr>
      </p:sp>
      <p:sp>
        <p:nvSpPr>
          <p:cNvPr id="5" name="Text 3"/>
          <p:cNvSpPr txBox="1"/>
          <p:nvPr/>
        </p:nvSpPr>
        <p:spPr>
          <a:xfrm>
            <a:off x="457200" y="1417320"/>
            <a:ext cx="2103120" cy="320040"/>
          </a:xfrm>
          <a:prstGeom prst="rect">
            <a:avLst/>
          </a:prstGeom>
          <a:noFill/>
          <a:ln/>
        </p:spPr>
        <p:txBody>
          <a:bodyPr wrap="square" lIns="0" tIns="0" rIns="0" bIns="0" rtlCol="0" anchor="ctr"/>
          <a:lstStyle/>
          <a:p>
            <a:pPr algn="ctr" indent="0" marL="0">
              <a:buNone/>
            </a:pPr>
            <a:r>
              <a:rPr lang="en-US" sz="1400" b="1" dirty="0">
                <a:solidFill>
                  <a:srgbClr val="1E2B24"/>
                </a:solidFill>
                <a:latin typeface="Calibri" pitchFamily="34" charset="0"/>
                <a:ea typeface="Calibri" pitchFamily="34" charset="-122"/>
                <a:cs typeface="Calibri" pitchFamily="34" charset="-120"/>
              </a:rPr>
              <a:t>Tree features</a:t>
            </a:r>
            <a:endParaRPr lang="en-US" sz="1400" dirty="0"/>
          </a:p>
        </p:txBody>
      </p:sp>
      <p:sp>
        <p:nvSpPr>
          <p:cNvPr id="6" name="Text 4"/>
          <p:cNvSpPr txBox="1"/>
          <p:nvPr/>
        </p:nvSpPr>
        <p:spPr>
          <a:xfrm>
            <a:off x="548640" y="1874520"/>
            <a:ext cx="1920240" cy="457200"/>
          </a:xfrm>
          <a:prstGeom prst="rect">
            <a:avLst/>
          </a:prstGeom>
          <a:noFill/>
          <a:ln/>
        </p:spPr>
        <p:txBody>
          <a:bodyPr wrap="square" lIns="0" tIns="0" rIns="0" bIns="0" rtlCol="0" anchor="ctr"/>
          <a:lstStyle/>
          <a:p>
            <a:pPr algn="ctr" indent="0" marL="0">
              <a:buNone/>
            </a:pPr>
            <a:r>
              <a:rPr lang="en-US" sz="1500" dirty="0">
                <a:solidFill>
                  <a:srgbClr val="C8511B"/>
                </a:solidFill>
                <a:latin typeface="Courier New" pitchFamily="34" charset="0"/>
                <a:ea typeface="Courier New" pitchFamily="34" charset="-122"/>
                <a:cs typeface="Courier New" pitchFamily="34" charset="-120"/>
              </a:rPr>
              <a:t>[8, 2, 2.0, …]</a:t>
            </a:r>
            <a:endParaRPr lang="en-US" sz="1500" dirty="0"/>
          </a:p>
        </p:txBody>
      </p:sp>
      <p:sp>
        <p:nvSpPr>
          <p:cNvPr id="7" name="Text 5"/>
          <p:cNvSpPr txBox="1"/>
          <p:nvPr/>
        </p:nvSpPr>
        <p:spPr>
          <a:xfrm>
            <a:off x="457200" y="2514600"/>
            <a:ext cx="2103120" cy="274320"/>
          </a:xfrm>
          <a:prstGeom prst="rect">
            <a:avLst/>
          </a:prstGeom>
          <a:noFill/>
          <a:ln/>
        </p:spPr>
        <p:txBody>
          <a:bodyPr wrap="square" lIns="0" tIns="0" rIns="0" bIns="0" rtlCol="0" anchor="ctr"/>
          <a:lstStyle/>
          <a:p>
            <a:pPr algn="ctr" indent="0" marL="0">
              <a:buNone/>
            </a:pPr>
            <a:r>
              <a:rPr lang="en-US" sz="1100" dirty="0">
                <a:solidFill>
                  <a:srgbClr val="5B6B62"/>
                </a:solidFill>
                <a:latin typeface="Calibri" pitchFamily="34" charset="0"/>
                <a:ea typeface="Calibri" pitchFamily="34" charset="-122"/>
                <a:cs typeface="Calibri" pitchFamily="34" charset="-120"/>
              </a:rPr>
              <a:t>13–67 numbers</a:t>
            </a:r>
            <a:endParaRPr lang="en-US" sz="1100" dirty="0"/>
          </a:p>
        </p:txBody>
      </p:sp>
      <p:sp>
        <p:nvSpPr>
          <p:cNvPr id="8" name="Shape 6"/>
          <p:cNvSpPr/>
          <p:nvPr/>
        </p:nvSpPr>
        <p:spPr>
          <a:xfrm>
            <a:off x="2697480" y="2057400"/>
            <a:ext cx="457200" cy="274320"/>
          </a:xfrm>
          <a:prstGeom prst="rightArrow">
            <a:avLst/>
          </a:prstGeom>
          <a:solidFill>
            <a:srgbClr val="A9C9A4"/>
          </a:solidFill>
          <a:ln/>
        </p:spPr>
      </p:sp>
      <p:sp>
        <p:nvSpPr>
          <p:cNvPr id="9" name="Shape 7"/>
          <p:cNvSpPr/>
          <p:nvPr/>
        </p:nvSpPr>
        <p:spPr>
          <a:xfrm>
            <a:off x="3291840" y="1325880"/>
            <a:ext cx="2560320" cy="1737360"/>
          </a:xfrm>
          <a:prstGeom prst="roundRect">
            <a:avLst>
              <a:gd name="adj" fmla="val 5263"/>
            </a:avLst>
          </a:prstGeom>
          <a:solidFill>
            <a:srgbClr val="12291D"/>
          </a:solidFill>
          <a:ln/>
        </p:spPr>
      </p:sp>
      <p:sp>
        <p:nvSpPr>
          <p:cNvPr id="10" name="Shape 8"/>
          <p:cNvSpPr/>
          <p:nvPr/>
        </p:nvSpPr>
        <p:spPr>
          <a:xfrm>
            <a:off x="4251960" y="1463040"/>
            <a:ext cx="640080" cy="640080"/>
          </a:xfrm>
          <a:prstGeom prst="ellipse">
            <a:avLst/>
          </a:prstGeom>
          <a:solidFill>
            <a:srgbClr val="1F4D36"/>
          </a:solidFill>
          <a:ln w="12700">
            <a:solidFill>
              <a:srgbClr val="1F4D36"/>
            </a:solidFill>
            <a:prstDash val="solid"/>
          </a:ln>
        </p:spPr>
      </p:sp>
      <p:pic>
        <p:nvPicPr>
          <p:cNvPr id="11" name="Image 0" descr="preencoded.png">    </p:cNvPr>
          <p:cNvPicPr>
            <a:picLocks noChangeAspect="1"/>
          </p:cNvPicPr>
          <p:nvPr/>
        </p:nvPicPr>
        <p:blipFill>
          <a:blip r:embed="rId1"/>
          <a:stretch>
            <a:fillRect/>
          </a:stretch>
        </p:blipFill>
        <p:spPr>
          <a:xfrm>
            <a:off x="4418381" y="1629461"/>
            <a:ext cx="307238" cy="307238"/>
          </a:xfrm>
          <a:prstGeom prst="rect">
            <a:avLst/>
          </a:prstGeom>
        </p:spPr>
      </p:pic>
      <p:sp>
        <p:nvSpPr>
          <p:cNvPr id="12" name="Text 9"/>
          <p:cNvSpPr txBox="1"/>
          <p:nvPr/>
        </p:nvSpPr>
        <p:spPr>
          <a:xfrm>
            <a:off x="3291840" y="2194560"/>
            <a:ext cx="256032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Regression model</a:t>
            </a:r>
            <a:endParaRPr lang="en-US" sz="1600" dirty="0"/>
          </a:p>
        </p:txBody>
      </p:sp>
      <p:sp>
        <p:nvSpPr>
          <p:cNvPr id="13" name="Text 10"/>
          <p:cNvSpPr txBox="1"/>
          <p:nvPr/>
        </p:nvSpPr>
        <p:spPr>
          <a:xfrm>
            <a:off x="3291840" y="2560320"/>
            <a:ext cx="2560320" cy="274320"/>
          </a:xfrm>
          <a:prstGeom prst="rect">
            <a:avLst/>
          </a:prstGeom>
          <a:noFill/>
          <a:ln/>
        </p:spPr>
        <p:txBody>
          <a:bodyPr wrap="square" lIns="0" tIns="0" rIns="0" bIns="0" rtlCol="0" anchor="ctr"/>
          <a:lstStyle/>
          <a:p>
            <a:pPr algn="ctr" indent="0" marL="0">
              <a:buNone/>
            </a:pPr>
            <a:r>
              <a:rPr lang="en-US" sz="1100" dirty="0">
                <a:solidFill>
                  <a:srgbClr val="A9C9A4"/>
                </a:solidFill>
                <a:latin typeface="Calibri" pitchFamily="34" charset="0"/>
                <a:ea typeface="Calibri" pitchFamily="34" charset="-122"/>
                <a:cs typeface="Calibri" pitchFamily="34" charset="-120"/>
              </a:rPr>
              <a:t>trained on 716 trees</a:t>
            </a:r>
            <a:endParaRPr lang="en-US" sz="1100" dirty="0"/>
          </a:p>
        </p:txBody>
      </p:sp>
      <p:sp>
        <p:nvSpPr>
          <p:cNvPr id="14" name="Shape 11"/>
          <p:cNvSpPr/>
          <p:nvPr/>
        </p:nvSpPr>
        <p:spPr>
          <a:xfrm>
            <a:off x="5989320" y="2057400"/>
            <a:ext cx="457200" cy="274320"/>
          </a:xfrm>
          <a:prstGeom prst="rightArrow">
            <a:avLst/>
          </a:prstGeom>
          <a:solidFill>
            <a:srgbClr val="A9C9A4"/>
          </a:solidFill>
          <a:ln/>
        </p:spPr>
      </p:sp>
      <p:sp>
        <p:nvSpPr>
          <p:cNvPr id="15" name="Shape 12"/>
          <p:cNvSpPr/>
          <p:nvPr/>
        </p:nvSpPr>
        <p:spPr>
          <a:xfrm>
            <a:off x="6583680" y="1325880"/>
            <a:ext cx="2103120" cy="1737360"/>
          </a:xfrm>
          <a:prstGeom prst="roundRect">
            <a:avLst>
              <a:gd name="adj" fmla="val 5263"/>
            </a:avLst>
          </a:prstGeom>
          <a:solidFill>
            <a:srgbClr val="FFFFFF"/>
          </a:solidFill>
          <a:ln/>
          <a:effectLst>
            <a:outerShdw sx="100000" sy="100000" kx="0" ky="0" algn="bl" rotWithShape="0" blurRad="76200" dist="25400" dir="5400000">
              <a:srgbClr val="000000">
                <a:alpha val="12000"/>
              </a:srgbClr>
            </a:outerShdw>
          </a:effectLst>
        </p:spPr>
      </p:sp>
      <p:sp>
        <p:nvSpPr>
          <p:cNvPr id="16" name="Text 13"/>
          <p:cNvSpPr txBox="1"/>
          <p:nvPr/>
        </p:nvSpPr>
        <p:spPr>
          <a:xfrm>
            <a:off x="6583680" y="1417320"/>
            <a:ext cx="2103120" cy="320040"/>
          </a:xfrm>
          <a:prstGeom prst="rect">
            <a:avLst/>
          </a:prstGeom>
          <a:noFill/>
          <a:ln/>
        </p:spPr>
        <p:txBody>
          <a:bodyPr wrap="square" lIns="0" tIns="0" rIns="0" bIns="0" rtlCol="0" anchor="ctr"/>
          <a:lstStyle/>
          <a:p>
            <a:pPr algn="ctr" indent="0" marL="0">
              <a:buNone/>
            </a:pPr>
            <a:r>
              <a:rPr lang="en-US" sz="1400" b="1" dirty="0">
                <a:solidFill>
                  <a:srgbClr val="1E2B24"/>
                </a:solidFill>
                <a:latin typeface="Calibri" pitchFamily="34" charset="0"/>
                <a:ea typeface="Calibri" pitchFamily="34" charset="-122"/>
                <a:cs typeface="Calibri" pitchFamily="34" charset="-120"/>
              </a:rPr>
              <a:t>4 counts</a:t>
            </a:r>
            <a:endParaRPr lang="en-US" sz="1400" dirty="0"/>
          </a:p>
        </p:txBody>
      </p:sp>
      <p:sp>
        <p:nvSpPr>
          <p:cNvPr id="17" name="Shape 14"/>
          <p:cNvSpPr/>
          <p:nvPr/>
        </p:nvSpPr>
        <p:spPr>
          <a:xfrm>
            <a:off x="6720840" y="1874520"/>
            <a:ext cx="411480" cy="274320"/>
          </a:xfrm>
          <a:prstGeom prst="roundRect">
            <a:avLst>
              <a:gd name="adj" fmla="val 50000"/>
            </a:avLst>
          </a:prstGeom>
          <a:solidFill>
            <a:srgbClr val="C8511B"/>
          </a:solidFill>
          <a:ln/>
        </p:spPr>
      </p:sp>
      <p:sp>
        <p:nvSpPr>
          <p:cNvPr id="18" name="Text 15"/>
          <p:cNvSpPr txBox="1"/>
          <p:nvPr/>
        </p:nvSpPr>
        <p:spPr>
          <a:xfrm>
            <a:off x="6720840" y="187452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B1</a:t>
            </a:r>
            <a:endParaRPr lang="en-US" sz="1000" dirty="0"/>
          </a:p>
        </p:txBody>
      </p:sp>
      <p:sp>
        <p:nvSpPr>
          <p:cNvPr id="19" name="Text 16"/>
          <p:cNvSpPr txBox="1"/>
          <p:nvPr/>
        </p:nvSpPr>
        <p:spPr>
          <a:xfrm>
            <a:off x="6720840" y="2194560"/>
            <a:ext cx="411480" cy="365760"/>
          </a:xfrm>
          <a:prstGeom prst="rect">
            <a:avLst/>
          </a:prstGeom>
          <a:noFill/>
          <a:ln/>
        </p:spPr>
        <p:txBody>
          <a:bodyPr wrap="square" lIns="0" tIns="0" rIns="0" bIns="0" rtlCol="0" anchor="ctr"/>
          <a:lstStyle/>
          <a:p>
            <a:pPr algn="ctr" indent="0" marL="0">
              <a:buNone/>
            </a:pPr>
            <a:r>
              <a:rPr lang="en-US" sz="1800" b="1" dirty="0">
                <a:solidFill>
                  <a:srgbClr val="1E2B24"/>
                </a:solidFill>
                <a:latin typeface="Cambria" pitchFamily="34" charset="0"/>
                <a:ea typeface="Cambria" pitchFamily="34" charset="-122"/>
                <a:cs typeface="Cambria" pitchFamily="34" charset="-120"/>
              </a:rPr>
              <a:t>1</a:t>
            </a:r>
            <a:endParaRPr lang="en-US" sz="1800" dirty="0"/>
          </a:p>
        </p:txBody>
      </p:sp>
      <p:sp>
        <p:nvSpPr>
          <p:cNvPr id="20" name="Shape 17"/>
          <p:cNvSpPr/>
          <p:nvPr/>
        </p:nvSpPr>
        <p:spPr>
          <a:xfrm>
            <a:off x="7196328" y="1874520"/>
            <a:ext cx="411480" cy="274320"/>
          </a:xfrm>
          <a:prstGeom prst="roundRect">
            <a:avLst>
              <a:gd name="adj" fmla="val 50000"/>
            </a:avLst>
          </a:prstGeom>
          <a:solidFill>
            <a:srgbClr val="9E2A2B"/>
          </a:solidFill>
          <a:ln/>
        </p:spPr>
      </p:sp>
      <p:sp>
        <p:nvSpPr>
          <p:cNvPr id="21" name="Text 18"/>
          <p:cNvSpPr txBox="1"/>
          <p:nvPr/>
        </p:nvSpPr>
        <p:spPr>
          <a:xfrm>
            <a:off x="7196328" y="187452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B2</a:t>
            </a:r>
            <a:endParaRPr lang="en-US" sz="1000" dirty="0"/>
          </a:p>
        </p:txBody>
      </p:sp>
      <p:sp>
        <p:nvSpPr>
          <p:cNvPr id="22" name="Text 19"/>
          <p:cNvSpPr txBox="1"/>
          <p:nvPr/>
        </p:nvSpPr>
        <p:spPr>
          <a:xfrm>
            <a:off x="7196328" y="2194560"/>
            <a:ext cx="411480" cy="365760"/>
          </a:xfrm>
          <a:prstGeom prst="rect">
            <a:avLst/>
          </a:prstGeom>
          <a:noFill/>
          <a:ln/>
        </p:spPr>
        <p:txBody>
          <a:bodyPr wrap="square" lIns="0" tIns="0" rIns="0" bIns="0" rtlCol="0" anchor="ctr"/>
          <a:lstStyle/>
          <a:p>
            <a:pPr algn="ctr" indent="0" marL="0">
              <a:buNone/>
            </a:pPr>
            <a:r>
              <a:rPr lang="en-US" sz="1800" b="1" dirty="0">
                <a:solidFill>
                  <a:srgbClr val="1E2B24"/>
                </a:solidFill>
                <a:latin typeface="Cambria" pitchFamily="34" charset="0"/>
                <a:ea typeface="Cambria" pitchFamily="34" charset="-122"/>
                <a:cs typeface="Cambria" pitchFamily="34" charset="-120"/>
              </a:rPr>
              <a:t>3</a:t>
            </a:r>
            <a:endParaRPr lang="en-US" sz="1800" dirty="0"/>
          </a:p>
        </p:txBody>
      </p:sp>
      <p:sp>
        <p:nvSpPr>
          <p:cNvPr id="23" name="Shape 20"/>
          <p:cNvSpPr/>
          <p:nvPr/>
        </p:nvSpPr>
        <p:spPr>
          <a:xfrm>
            <a:off x="7671816" y="1874520"/>
            <a:ext cx="411480" cy="274320"/>
          </a:xfrm>
          <a:prstGeom prst="roundRect">
            <a:avLst>
              <a:gd name="adj" fmla="val 50000"/>
            </a:avLst>
          </a:prstGeom>
          <a:solidFill>
            <a:srgbClr val="12291D"/>
          </a:solidFill>
          <a:ln/>
        </p:spPr>
      </p:sp>
      <p:sp>
        <p:nvSpPr>
          <p:cNvPr id="24" name="Text 21"/>
          <p:cNvSpPr txBox="1"/>
          <p:nvPr/>
        </p:nvSpPr>
        <p:spPr>
          <a:xfrm>
            <a:off x="7671816" y="187452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B3</a:t>
            </a:r>
            <a:endParaRPr lang="en-US" sz="1000" dirty="0"/>
          </a:p>
        </p:txBody>
      </p:sp>
      <p:sp>
        <p:nvSpPr>
          <p:cNvPr id="25" name="Text 22"/>
          <p:cNvSpPr txBox="1"/>
          <p:nvPr/>
        </p:nvSpPr>
        <p:spPr>
          <a:xfrm>
            <a:off x="7671816" y="2194560"/>
            <a:ext cx="411480" cy="365760"/>
          </a:xfrm>
          <a:prstGeom prst="rect">
            <a:avLst/>
          </a:prstGeom>
          <a:noFill/>
          <a:ln/>
        </p:spPr>
        <p:txBody>
          <a:bodyPr wrap="square" lIns="0" tIns="0" rIns="0" bIns="0" rtlCol="0" anchor="ctr"/>
          <a:lstStyle/>
          <a:p>
            <a:pPr algn="ctr" indent="0" marL="0">
              <a:buNone/>
            </a:pPr>
            <a:r>
              <a:rPr lang="en-US" sz="1800" b="1" dirty="0">
                <a:solidFill>
                  <a:srgbClr val="1E2B24"/>
                </a:solidFill>
                <a:latin typeface="Cambria" pitchFamily="34" charset="0"/>
                <a:ea typeface="Cambria" pitchFamily="34" charset="-122"/>
                <a:cs typeface="Cambria" pitchFamily="34" charset="-120"/>
              </a:rPr>
              <a:t>4</a:t>
            </a:r>
            <a:endParaRPr lang="en-US" sz="1800" dirty="0"/>
          </a:p>
        </p:txBody>
      </p:sp>
      <p:sp>
        <p:nvSpPr>
          <p:cNvPr id="26" name="Shape 23"/>
          <p:cNvSpPr/>
          <p:nvPr/>
        </p:nvSpPr>
        <p:spPr>
          <a:xfrm>
            <a:off x="8147304" y="1874520"/>
            <a:ext cx="411480" cy="274320"/>
          </a:xfrm>
          <a:prstGeom prst="roundRect">
            <a:avLst>
              <a:gd name="adj" fmla="val 50000"/>
            </a:avLst>
          </a:prstGeom>
          <a:solidFill>
            <a:srgbClr val="1F4D36"/>
          </a:solidFill>
          <a:ln/>
        </p:spPr>
      </p:sp>
      <p:sp>
        <p:nvSpPr>
          <p:cNvPr id="27" name="Text 24"/>
          <p:cNvSpPr txBox="1"/>
          <p:nvPr/>
        </p:nvSpPr>
        <p:spPr>
          <a:xfrm>
            <a:off x="8147304" y="187452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B4</a:t>
            </a:r>
            <a:endParaRPr lang="en-US" sz="1000" dirty="0"/>
          </a:p>
        </p:txBody>
      </p:sp>
      <p:sp>
        <p:nvSpPr>
          <p:cNvPr id="28" name="Text 25"/>
          <p:cNvSpPr txBox="1"/>
          <p:nvPr/>
        </p:nvSpPr>
        <p:spPr>
          <a:xfrm>
            <a:off x="8147304" y="2194560"/>
            <a:ext cx="411480" cy="365760"/>
          </a:xfrm>
          <a:prstGeom prst="rect">
            <a:avLst/>
          </a:prstGeom>
          <a:noFill/>
          <a:ln/>
        </p:spPr>
        <p:txBody>
          <a:bodyPr wrap="square" lIns="0" tIns="0" rIns="0" bIns="0" rtlCol="0" anchor="ctr"/>
          <a:lstStyle/>
          <a:p>
            <a:pPr algn="ctr" indent="0" marL="0">
              <a:buNone/>
            </a:pPr>
            <a:r>
              <a:rPr lang="en-US" sz="1800" b="1" dirty="0">
                <a:solidFill>
                  <a:srgbClr val="1E2B24"/>
                </a:solidFill>
                <a:latin typeface="Cambria" pitchFamily="34" charset="0"/>
                <a:ea typeface="Cambria" pitchFamily="34" charset="-122"/>
                <a:cs typeface="Cambria" pitchFamily="34" charset="-120"/>
              </a:rPr>
              <a:t>5</a:t>
            </a:r>
            <a:endParaRPr lang="en-US" sz="1800" dirty="0"/>
          </a:p>
        </p:txBody>
      </p:sp>
      <p:sp>
        <p:nvSpPr>
          <p:cNvPr id="29" name="Text 26"/>
          <p:cNvSpPr txBox="1"/>
          <p:nvPr/>
        </p:nvSpPr>
        <p:spPr>
          <a:xfrm>
            <a:off x="6583680" y="2651760"/>
            <a:ext cx="2103120" cy="274320"/>
          </a:xfrm>
          <a:prstGeom prst="rect">
            <a:avLst/>
          </a:prstGeom>
          <a:noFill/>
          <a:ln/>
        </p:spPr>
        <p:txBody>
          <a:bodyPr wrap="square" lIns="0" tIns="0" rIns="0" bIns="0" rtlCol="0" anchor="ctr"/>
          <a:lstStyle/>
          <a:p>
            <a:pPr algn="ctr" indent="0" marL="0">
              <a:buNone/>
            </a:pPr>
            <a:r>
              <a:rPr lang="en-US" sz="1050" dirty="0">
                <a:solidFill>
                  <a:srgbClr val="5B6B62"/>
                </a:solidFill>
                <a:latin typeface="Calibri" pitchFamily="34" charset="0"/>
                <a:ea typeface="Calibri" pitchFamily="34" charset="-122"/>
                <a:cs typeface="Calibri" pitchFamily="34" charset="-120"/>
              </a:rPr>
              <a:t>B1 to B4</a:t>
            </a:r>
            <a:endParaRPr lang="en-US" sz="1050" dirty="0"/>
          </a:p>
        </p:txBody>
      </p:sp>
      <p:sp>
        <p:nvSpPr>
          <p:cNvPr id="30" name="Text 27"/>
          <p:cNvSpPr txBox="1"/>
          <p:nvPr/>
        </p:nvSpPr>
        <p:spPr>
          <a:xfrm>
            <a:off x="457200" y="3291840"/>
            <a:ext cx="3657600" cy="320040"/>
          </a:xfrm>
          <a:prstGeom prst="rect">
            <a:avLst/>
          </a:prstGeom>
          <a:noFill/>
          <a:ln/>
        </p:spPr>
        <p:txBody>
          <a:bodyPr wrap="square" lIns="0" tIns="0" rIns="0" bIns="0" rtlCol="0" anchor="ctr"/>
          <a:lstStyle/>
          <a:p>
            <a:pPr indent="0" marL="0">
              <a:buNone/>
            </a:pPr>
            <a:r>
              <a:rPr lang="en-US" sz="1500" b="1" dirty="0">
                <a:solidFill>
                  <a:srgbClr val="1E2B24"/>
                </a:solidFill>
                <a:latin typeface="Calibri" pitchFamily="34" charset="0"/>
                <a:ea typeface="Calibri" pitchFamily="34" charset="-122"/>
                <a:cs typeface="Calibri" pitchFamily="34" charset="-120"/>
              </a:rPr>
              <a:t>Regressors</a:t>
            </a:r>
            <a:endParaRPr lang="en-US" sz="1500" dirty="0"/>
          </a:p>
        </p:txBody>
      </p:sp>
      <p:sp>
        <p:nvSpPr>
          <p:cNvPr id="31" name="Shape 28"/>
          <p:cNvSpPr/>
          <p:nvPr/>
        </p:nvSpPr>
        <p:spPr>
          <a:xfrm>
            <a:off x="457200" y="3703320"/>
            <a:ext cx="1554480" cy="914400"/>
          </a:xfrm>
          <a:prstGeom prst="roundRect">
            <a:avLst>
              <a:gd name="adj" fmla="val 10000"/>
            </a:avLst>
          </a:prstGeom>
          <a:solidFill>
            <a:srgbClr val="FFFFFF"/>
          </a:solidFill>
          <a:ln/>
          <a:effectLst>
            <a:outerShdw sx="100000" sy="100000" kx="0" ky="0" algn="bl" rotWithShape="0" blurRad="76200" dist="25400" dir="5400000">
              <a:srgbClr val="000000">
                <a:alpha val="12000"/>
              </a:srgbClr>
            </a:outerShdw>
          </a:effectLst>
        </p:spPr>
      </p:sp>
      <p:sp>
        <p:nvSpPr>
          <p:cNvPr id="32" name="Text 29"/>
          <p:cNvSpPr txBox="1"/>
          <p:nvPr/>
        </p:nvSpPr>
        <p:spPr>
          <a:xfrm>
            <a:off x="457200" y="3767328"/>
            <a:ext cx="1554480" cy="365760"/>
          </a:xfrm>
          <a:prstGeom prst="rect">
            <a:avLst/>
          </a:prstGeom>
          <a:noFill/>
          <a:ln/>
        </p:spPr>
        <p:txBody>
          <a:bodyPr wrap="square" lIns="0" tIns="0" rIns="0" bIns="0" rtlCol="0" anchor="ctr"/>
          <a:lstStyle/>
          <a:p>
            <a:pPr algn="ctr" indent="0" marL="0">
              <a:buNone/>
            </a:pPr>
            <a:r>
              <a:rPr lang="en-US" sz="1400" b="1" dirty="0">
                <a:solidFill>
                  <a:srgbClr val="1F4D36"/>
                </a:solidFill>
                <a:latin typeface="Calibri" pitchFamily="34" charset="0"/>
                <a:ea typeface="Calibri" pitchFamily="34" charset="-122"/>
                <a:cs typeface="Calibri" pitchFamily="34" charset="-120"/>
              </a:rPr>
              <a:t>Linear</a:t>
            </a:r>
            <a:endParaRPr lang="en-US" sz="1400" dirty="0"/>
          </a:p>
        </p:txBody>
      </p:sp>
      <p:sp>
        <p:nvSpPr>
          <p:cNvPr id="33" name="Text 30"/>
          <p:cNvSpPr txBox="1"/>
          <p:nvPr/>
        </p:nvSpPr>
        <p:spPr>
          <a:xfrm>
            <a:off x="530352" y="4133088"/>
            <a:ext cx="1408176" cy="411480"/>
          </a:xfrm>
          <a:prstGeom prst="rect">
            <a:avLst/>
          </a:prstGeom>
          <a:noFill/>
          <a:ln/>
        </p:spPr>
        <p:txBody>
          <a:bodyPr wrap="square" lIns="0" tIns="0" rIns="0" bIns="0" rtlCol="0" anchor="t"/>
          <a:lstStyle/>
          <a:p>
            <a:pPr algn="ctr" indent="0" marL="0">
              <a:buNone/>
            </a:pPr>
            <a:r>
              <a:rPr lang="en-US" sz="1050" dirty="0">
                <a:solidFill>
                  <a:srgbClr val="5B6B62"/>
                </a:solidFill>
                <a:latin typeface="Calibri" pitchFamily="34" charset="0"/>
                <a:ea typeface="Calibri" pitchFamily="34" charset="-122"/>
                <a:cs typeface="Calibri" pitchFamily="34" charset="-120"/>
              </a:rPr>
              <a:t>ordinary least squares</a:t>
            </a:r>
            <a:endParaRPr lang="en-US" sz="1050" dirty="0"/>
          </a:p>
        </p:txBody>
      </p:sp>
      <p:sp>
        <p:nvSpPr>
          <p:cNvPr id="34" name="Shape 31"/>
          <p:cNvSpPr/>
          <p:nvPr/>
        </p:nvSpPr>
        <p:spPr>
          <a:xfrm>
            <a:off x="2130552" y="3703320"/>
            <a:ext cx="1554480" cy="914400"/>
          </a:xfrm>
          <a:prstGeom prst="roundRect">
            <a:avLst>
              <a:gd name="adj" fmla="val 10000"/>
            </a:avLst>
          </a:prstGeom>
          <a:solidFill>
            <a:srgbClr val="FFFFFF"/>
          </a:solidFill>
          <a:ln/>
          <a:effectLst>
            <a:outerShdw sx="100000" sy="100000" kx="0" ky="0" algn="bl" rotWithShape="0" blurRad="76200" dist="25400" dir="5400000">
              <a:srgbClr val="000000">
                <a:alpha val="12000"/>
              </a:srgbClr>
            </a:outerShdw>
          </a:effectLst>
        </p:spPr>
      </p:sp>
      <p:sp>
        <p:nvSpPr>
          <p:cNvPr id="35" name="Text 32"/>
          <p:cNvSpPr txBox="1"/>
          <p:nvPr/>
        </p:nvSpPr>
        <p:spPr>
          <a:xfrm>
            <a:off x="2130552" y="3767328"/>
            <a:ext cx="1554480" cy="365760"/>
          </a:xfrm>
          <a:prstGeom prst="rect">
            <a:avLst/>
          </a:prstGeom>
          <a:noFill/>
          <a:ln/>
        </p:spPr>
        <p:txBody>
          <a:bodyPr wrap="square" lIns="0" tIns="0" rIns="0" bIns="0" rtlCol="0" anchor="ctr"/>
          <a:lstStyle/>
          <a:p>
            <a:pPr algn="ctr" indent="0" marL="0">
              <a:buNone/>
            </a:pPr>
            <a:r>
              <a:rPr lang="en-US" sz="1400" b="1" dirty="0">
                <a:solidFill>
                  <a:srgbClr val="1F4D36"/>
                </a:solidFill>
                <a:latin typeface="Calibri" pitchFamily="34" charset="0"/>
                <a:ea typeface="Calibri" pitchFamily="34" charset="-122"/>
                <a:cs typeface="Calibri" pitchFamily="34" charset="-120"/>
              </a:rPr>
              <a:t>Ridge</a:t>
            </a:r>
            <a:endParaRPr lang="en-US" sz="1400" dirty="0"/>
          </a:p>
        </p:txBody>
      </p:sp>
      <p:sp>
        <p:nvSpPr>
          <p:cNvPr id="36" name="Text 33"/>
          <p:cNvSpPr txBox="1"/>
          <p:nvPr/>
        </p:nvSpPr>
        <p:spPr>
          <a:xfrm>
            <a:off x="2203704" y="4133088"/>
            <a:ext cx="1408176" cy="411480"/>
          </a:xfrm>
          <a:prstGeom prst="rect">
            <a:avLst/>
          </a:prstGeom>
          <a:noFill/>
          <a:ln/>
        </p:spPr>
        <p:txBody>
          <a:bodyPr wrap="square" lIns="0" tIns="0" rIns="0" bIns="0" rtlCol="0" anchor="t"/>
          <a:lstStyle/>
          <a:p>
            <a:pPr algn="ctr" indent="0" marL="0">
              <a:buNone/>
            </a:pPr>
            <a:r>
              <a:rPr lang="en-US" sz="1050" dirty="0">
                <a:solidFill>
                  <a:srgbClr val="5B6B62"/>
                </a:solidFill>
                <a:latin typeface="Calibri" pitchFamily="34" charset="0"/>
                <a:ea typeface="Calibri" pitchFamily="34" charset="-122"/>
                <a:cs typeface="Calibri" pitchFamily="34" charset="-120"/>
              </a:rPr>
              <a:t>L2 regularisation</a:t>
            </a:r>
            <a:endParaRPr lang="en-US" sz="1050" dirty="0"/>
          </a:p>
        </p:txBody>
      </p:sp>
      <p:sp>
        <p:nvSpPr>
          <p:cNvPr id="37" name="Shape 34"/>
          <p:cNvSpPr/>
          <p:nvPr/>
        </p:nvSpPr>
        <p:spPr>
          <a:xfrm>
            <a:off x="3803904" y="3703320"/>
            <a:ext cx="1554480" cy="914400"/>
          </a:xfrm>
          <a:prstGeom prst="roundRect">
            <a:avLst>
              <a:gd name="adj" fmla="val 10000"/>
            </a:avLst>
          </a:prstGeom>
          <a:solidFill>
            <a:srgbClr val="FFFFFF"/>
          </a:solidFill>
          <a:ln/>
          <a:effectLst>
            <a:outerShdw sx="100000" sy="100000" kx="0" ky="0" algn="bl" rotWithShape="0" blurRad="76200" dist="25400" dir="5400000">
              <a:srgbClr val="000000">
                <a:alpha val="12000"/>
              </a:srgbClr>
            </a:outerShdw>
          </a:effectLst>
        </p:spPr>
      </p:sp>
      <p:sp>
        <p:nvSpPr>
          <p:cNvPr id="38" name="Text 35"/>
          <p:cNvSpPr txBox="1"/>
          <p:nvPr/>
        </p:nvSpPr>
        <p:spPr>
          <a:xfrm>
            <a:off x="3803904" y="3767328"/>
            <a:ext cx="1554480" cy="365760"/>
          </a:xfrm>
          <a:prstGeom prst="rect">
            <a:avLst/>
          </a:prstGeom>
          <a:noFill/>
          <a:ln/>
        </p:spPr>
        <p:txBody>
          <a:bodyPr wrap="square" lIns="0" tIns="0" rIns="0" bIns="0" rtlCol="0" anchor="ctr"/>
          <a:lstStyle/>
          <a:p>
            <a:pPr algn="ctr" indent="0" marL="0">
              <a:buNone/>
            </a:pPr>
            <a:r>
              <a:rPr lang="en-US" sz="1400" b="1" dirty="0">
                <a:solidFill>
                  <a:srgbClr val="1F4D36"/>
                </a:solidFill>
                <a:latin typeface="Calibri" pitchFamily="34" charset="0"/>
                <a:ea typeface="Calibri" pitchFamily="34" charset="-122"/>
                <a:cs typeface="Calibri" pitchFamily="34" charset="-120"/>
              </a:rPr>
              <a:t>ElasticNet</a:t>
            </a:r>
            <a:endParaRPr lang="en-US" sz="1400" dirty="0"/>
          </a:p>
        </p:txBody>
      </p:sp>
      <p:sp>
        <p:nvSpPr>
          <p:cNvPr id="39" name="Text 36"/>
          <p:cNvSpPr txBox="1"/>
          <p:nvPr/>
        </p:nvSpPr>
        <p:spPr>
          <a:xfrm>
            <a:off x="3877056" y="4133088"/>
            <a:ext cx="1408176" cy="411480"/>
          </a:xfrm>
          <a:prstGeom prst="rect">
            <a:avLst/>
          </a:prstGeom>
          <a:noFill/>
          <a:ln/>
        </p:spPr>
        <p:txBody>
          <a:bodyPr wrap="square" lIns="0" tIns="0" rIns="0" bIns="0" rtlCol="0" anchor="t"/>
          <a:lstStyle/>
          <a:p>
            <a:pPr algn="ctr" indent="0" marL="0">
              <a:buNone/>
            </a:pPr>
            <a:r>
              <a:rPr lang="en-US" sz="1050" dirty="0">
                <a:solidFill>
                  <a:srgbClr val="5B6B62"/>
                </a:solidFill>
                <a:latin typeface="Calibri" pitchFamily="34" charset="0"/>
                <a:ea typeface="Calibri" pitchFamily="34" charset="-122"/>
                <a:cs typeface="Calibri" pitchFamily="34" charset="-120"/>
              </a:rPr>
              <a:t>L1 + L2 regularisation</a:t>
            </a:r>
            <a:endParaRPr lang="en-US" sz="1050" dirty="0"/>
          </a:p>
        </p:txBody>
      </p:sp>
      <p:sp>
        <p:nvSpPr>
          <p:cNvPr id="40" name="Shape 37"/>
          <p:cNvSpPr/>
          <p:nvPr/>
        </p:nvSpPr>
        <p:spPr>
          <a:xfrm>
            <a:off x="5477256" y="3703320"/>
            <a:ext cx="1554480" cy="914400"/>
          </a:xfrm>
          <a:prstGeom prst="roundRect">
            <a:avLst>
              <a:gd name="adj" fmla="val 10000"/>
            </a:avLst>
          </a:prstGeom>
          <a:solidFill>
            <a:srgbClr val="FFFFFF"/>
          </a:solidFill>
          <a:ln/>
          <a:effectLst>
            <a:outerShdw sx="100000" sy="100000" kx="0" ky="0" algn="bl" rotWithShape="0" blurRad="76200" dist="25400" dir="5400000">
              <a:srgbClr val="000000">
                <a:alpha val="12000"/>
              </a:srgbClr>
            </a:outerShdw>
          </a:effectLst>
        </p:spPr>
      </p:sp>
      <p:sp>
        <p:nvSpPr>
          <p:cNvPr id="41" name="Text 38"/>
          <p:cNvSpPr txBox="1"/>
          <p:nvPr/>
        </p:nvSpPr>
        <p:spPr>
          <a:xfrm>
            <a:off x="5477256" y="3767328"/>
            <a:ext cx="1554480" cy="365760"/>
          </a:xfrm>
          <a:prstGeom prst="rect">
            <a:avLst/>
          </a:prstGeom>
          <a:noFill/>
          <a:ln/>
        </p:spPr>
        <p:txBody>
          <a:bodyPr wrap="square" lIns="0" tIns="0" rIns="0" bIns="0" rtlCol="0" anchor="ctr"/>
          <a:lstStyle/>
          <a:p>
            <a:pPr algn="ctr" indent="0" marL="0">
              <a:buNone/>
            </a:pPr>
            <a:r>
              <a:rPr lang="en-US" sz="1400" b="1" dirty="0">
                <a:solidFill>
                  <a:srgbClr val="1F4D36"/>
                </a:solidFill>
                <a:latin typeface="Calibri" pitchFamily="34" charset="0"/>
                <a:ea typeface="Calibri" pitchFamily="34" charset="-122"/>
                <a:cs typeface="Calibri" pitchFamily="34" charset="-120"/>
              </a:rPr>
              <a:t>SVM</a:t>
            </a:r>
            <a:endParaRPr lang="en-US" sz="1400" dirty="0"/>
          </a:p>
        </p:txBody>
      </p:sp>
      <p:sp>
        <p:nvSpPr>
          <p:cNvPr id="42" name="Text 39"/>
          <p:cNvSpPr txBox="1"/>
          <p:nvPr/>
        </p:nvSpPr>
        <p:spPr>
          <a:xfrm>
            <a:off x="5550408" y="4133088"/>
            <a:ext cx="1408176" cy="411480"/>
          </a:xfrm>
          <a:prstGeom prst="rect">
            <a:avLst/>
          </a:prstGeom>
          <a:noFill/>
          <a:ln/>
        </p:spPr>
        <p:txBody>
          <a:bodyPr wrap="square" lIns="0" tIns="0" rIns="0" bIns="0" rtlCol="0" anchor="t"/>
          <a:lstStyle/>
          <a:p>
            <a:pPr algn="ctr" indent="0" marL="0">
              <a:buNone/>
            </a:pPr>
            <a:r>
              <a:rPr lang="en-US" sz="1050" dirty="0">
                <a:solidFill>
                  <a:srgbClr val="5B6B62"/>
                </a:solidFill>
                <a:latin typeface="Calibri" pitchFamily="34" charset="0"/>
                <a:ea typeface="Calibri" pitchFamily="34" charset="-122"/>
                <a:cs typeface="Calibri" pitchFamily="34" charset="-120"/>
              </a:rPr>
              <a:t>SVR, RBF kernel</a:t>
            </a:r>
            <a:endParaRPr lang="en-US" sz="1050" dirty="0"/>
          </a:p>
        </p:txBody>
      </p:sp>
      <p:sp>
        <p:nvSpPr>
          <p:cNvPr id="43" name="Shape 40"/>
          <p:cNvSpPr/>
          <p:nvPr/>
        </p:nvSpPr>
        <p:spPr>
          <a:xfrm>
            <a:off x="7150608" y="3703320"/>
            <a:ext cx="1554480" cy="914400"/>
          </a:xfrm>
          <a:prstGeom prst="roundRect">
            <a:avLst>
              <a:gd name="adj" fmla="val 10000"/>
            </a:avLst>
          </a:prstGeom>
          <a:solidFill>
            <a:srgbClr val="FFFFFF"/>
          </a:solidFill>
          <a:ln/>
          <a:effectLst>
            <a:outerShdw sx="100000" sy="100000" kx="0" ky="0" algn="bl" rotWithShape="0" blurRad="76200" dist="25400" dir="5400000">
              <a:srgbClr val="000000">
                <a:alpha val="12000"/>
              </a:srgbClr>
            </a:outerShdw>
          </a:effectLst>
        </p:spPr>
      </p:sp>
      <p:sp>
        <p:nvSpPr>
          <p:cNvPr id="44" name="Text 41"/>
          <p:cNvSpPr txBox="1"/>
          <p:nvPr/>
        </p:nvSpPr>
        <p:spPr>
          <a:xfrm>
            <a:off x="7150608" y="3767328"/>
            <a:ext cx="1554480" cy="365760"/>
          </a:xfrm>
          <a:prstGeom prst="rect">
            <a:avLst/>
          </a:prstGeom>
          <a:noFill/>
          <a:ln/>
        </p:spPr>
        <p:txBody>
          <a:bodyPr wrap="square" lIns="0" tIns="0" rIns="0" bIns="0" rtlCol="0" anchor="ctr"/>
          <a:lstStyle/>
          <a:p>
            <a:pPr algn="ctr" indent="0" marL="0">
              <a:buNone/>
            </a:pPr>
            <a:r>
              <a:rPr lang="en-US" sz="1400" b="1" dirty="0">
                <a:solidFill>
                  <a:srgbClr val="1F4D36"/>
                </a:solidFill>
                <a:latin typeface="Calibri" pitchFamily="34" charset="0"/>
                <a:ea typeface="Calibri" pitchFamily="34" charset="-122"/>
                <a:cs typeface="Calibri" pitchFamily="34" charset="-120"/>
              </a:rPr>
              <a:t>Random Forest</a:t>
            </a:r>
            <a:endParaRPr lang="en-US" sz="1400" dirty="0"/>
          </a:p>
        </p:txBody>
      </p:sp>
      <p:sp>
        <p:nvSpPr>
          <p:cNvPr id="45" name="Text 42"/>
          <p:cNvSpPr txBox="1"/>
          <p:nvPr/>
        </p:nvSpPr>
        <p:spPr>
          <a:xfrm>
            <a:off x="7223760" y="4133088"/>
            <a:ext cx="1408176" cy="411480"/>
          </a:xfrm>
          <a:prstGeom prst="rect">
            <a:avLst/>
          </a:prstGeom>
          <a:noFill/>
          <a:ln/>
        </p:spPr>
        <p:txBody>
          <a:bodyPr wrap="square" lIns="0" tIns="0" rIns="0" bIns="0" rtlCol="0" anchor="t"/>
          <a:lstStyle/>
          <a:p>
            <a:pPr algn="ctr" indent="0" marL="0">
              <a:buNone/>
            </a:pPr>
            <a:r>
              <a:rPr lang="en-US" sz="1050" dirty="0">
                <a:solidFill>
                  <a:srgbClr val="5B6B62"/>
                </a:solidFill>
                <a:latin typeface="Calibri" pitchFamily="34" charset="0"/>
                <a:ea typeface="Calibri" pitchFamily="34" charset="-122"/>
                <a:cs typeface="Calibri" pitchFamily="34" charset="-120"/>
              </a:rPr>
              <a:t>200 trees, depth 10</a:t>
            </a:r>
            <a:endParaRPr lang="en-US" sz="1050" dirty="0"/>
          </a:p>
        </p:txBody>
      </p:sp>
      <p:sp>
        <p:nvSpPr>
          <p:cNvPr id="46" name="Text 43"/>
          <p:cNvSpPr txBox="1"/>
          <p:nvPr/>
        </p:nvSpPr>
        <p:spPr>
          <a:xfrm>
            <a:off x="8412480" y="4773168"/>
            <a:ext cx="365760" cy="228600"/>
          </a:xfrm>
          <a:prstGeom prst="rect">
            <a:avLst/>
          </a:prstGeom>
          <a:noFill/>
          <a:ln/>
        </p:spPr>
        <p:txBody>
          <a:bodyPr wrap="square" lIns="0" tIns="0" rIns="0" bIns="0" rtlCol="0" anchor="ctr"/>
          <a:lstStyle/>
          <a:p>
            <a:pPr algn="r" indent="0" marL="0">
              <a:buNone/>
            </a:pPr>
            <a:r>
              <a:rPr lang="en-US" sz="1000" dirty="0">
                <a:solidFill>
                  <a:srgbClr val="5B6B6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B24"/>
                </a:solidFill>
                <a:latin typeface="Cambria" pitchFamily="34" charset="0"/>
                <a:ea typeface="Cambria" pitchFamily="34" charset="-122"/>
                <a:cs typeface="Cambria" pitchFamily="34" charset="-120"/>
              </a:rPr>
              <a:t>Evaluation: accuracy within ±1 bunch</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500" dirty="0">
                <a:solidFill>
                  <a:srgbClr val="5B6B62"/>
                </a:solidFill>
                <a:latin typeface="Calibri" pitchFamily="34" charset="0"/>
                <a:ea typeface="Calibri" pitchFamily="34" charset="-122"/>
                <a:cs typeface="Calibri" pitchFamily="34" charset="-120"/>
              </a:rPr>
              <a:t>Example tree</a:t>
            </a:r>
            <a:endParaRPr lang="en-US" sz="1500" dirty="0"/>
          </a:p>
        </p:txBody>
      </p:sp>
      <p:sp>
        <p:nvSpPr>
          <p:cNvPr id="4" name="Text 2"/>
          <p:cNvSpPr txBox="1"/>
          <p:nvPr/>
        </p:nvSpPr>
        <p:spPr>
          <a:xfrm>
            <a:off x="457200" y="1783080"/>
            <a:ext cx="1005840" cy="457200"/>
          </a:xfrm>
          <a:prstGeom prst="rect">
            <a:avLst/>
          </a:prstGeom>
          <a:noFill/>
          <a:ln/>
        </p:spPr>
        <p:txBody>
          <a:bodyPr wrap="square" lIns="0" tIns="0" rIns="0" bIns="0" rtlCol="0" anchor="ctr"/>
          <a:lstStyle/>
          <a:p>
            <a:pPr indent="0" marL="0">
              <a:buNone/>
            </a:pPr>
            <a:r>
              <a:rPr lang="en-US" sz="1500" b="1" dirty="0">
                <a:solidFill>
                  <a:srgbClr val="1E2B24"/>
                </a:solidFill>
                <a:latin typeface="Calibri" pitchFamily="34" charset="0"/>
                <a:ea typeface="Calibri" pitchFamily="34" charset="-122"/>
                <a:cs typeface="Calibri" pitchFamily="34" charset="-120"/>
              </a:rPr>
              <a:t>True</a:t>
            </a:r>
            <a:endParaRPr lang="en-US" sz="1500" dirty="0"/>
          </a:p>
        </p:txBody>
      </p:sp>
      <p:sp>
        <p:nvSpPr>
          <p:cNvPr id="5" name="Text 3"/>
          <p:cNvSpPr txBox="1"/>
          <p:nvPr/>
        </p:nvSpPr>
        <p:spPr>
          <a:xfrm>
            <a:off x="457200" y="2377440"/>
            <a:ext cx="1005840" cy="457200"/>
          </a:xfrm>
          <a:prstGeom prst="rect">
            <a:avLst/>
          </a:prstGeom>
          <a:noFill/>
          <a:ln/>
        </p:spPr>
        <p:txBody>
          <a:bodyPr wrap="square" lIns="0" tIns="0" rIns="0" bIns="0" rtlCol="0" anchor="ctr"/>
          <a:lstStyle/>
          <a:p>
            <a:pPr indent="0" marL="0">
              <a:buNone/>
            </a:pPr>
            <a:r>
              <a:rPr lang="en-US" sz="1500" b="1" dirty="0">
                <a:solidFill>
                  <a:srgbClr val="1E2B24"/>
                </a:solidFill>
                <a:latin typeface="Calibri" pitchFamily="34" charset="0"/>
                <a:ea typeface="Calibri" pitchFamily="34" charset="-122"/>
                <a:cs typeface="Calibri" pitchFamily="34" charset="-120"/>
              </a:rPr>
              <a:t>Predicted</a:t>
            </a:r>
            <a:endParaRPr lang="en-US" sz="1500" dirty="0"/>
          </a:p>
        </p:txBody>
      </p:sp>
      <p:sp>
        <p:nvSpPr>
          <p:cNvPr id="6" name="Shape 4"/>
          <p:cNvSpPr/>
          <p:nvPr/>
        </p:nvSpPr>
        <p:spPr>
          <a:xfrm>
            <a:off x="1691640" y="1325880"/>
            <a:ext cx="731520" cy="310896"/>
          </a:xfrm>
          <a:prstGeom prst="roundRect">
            <a:avLst>
              <a:gd name="adj" fmla="val 50000"/>
            </a:avLst>
          </a:prstGeom>
          <a:solidFill>
            <a:srgbClr val="C8511B"/>
          </a:solidFill>
          <a:ln/>
        </p:spPr>
      </p:sp>
      <p:sp>
        <p:nvSpPr>
          <p:cNvPr id="7" name="Text 5"/>
          <p:cNvSpPr txBox="1"/>
          <p:nvPr/>
        </p:nvSpPr>
        <p:spPr>
          <a:xfrm>
            <a:off x="1691640" y="1325880"/>
            <a:ext cx="73152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B1</a:t>
            </a:r>
            <a:endParaRPr lang="en-US" sz="1200" dirty="0"/>
          </a:p>
        </p:txBody>
      </p:sp>
      <p:sp>
        <p:nvSpPr>
          <p:cNvPr id="8" name="Shape 6"/>
          <p:cNvSpPr/>
          <p:nvPr/>
        </p:nvSpPr>
        <p:spPr>
          <a:xfrm>
            <a:off x="1554480" y="1783080"/>
            <a:ext cx="914400" cy="457200"/>
          </a:xfrm>
          <a:prstGeom prst="roundRect">
            <a:avLst>
              <a:gd name="adj" fmla="val 20000"/>
            </a:avLst>
          </a:prstGeom>
          <a:solidFill>
            <a:srgbClr val="EEF4EF"/>
          </a:solidFill>
          <a:ln/>
        </p:spPr>
      </p:sp>
      <p:sp>
        <p:nvSpPr>
          <p:cNvPr id="9" name="Text 7"/>
          <p:cNvSpPr txBox="1"/>
          <p:nvPr/>
        </p:nvSpPr>
        <p:spPr>
          <a:xfrm>
            <a:off x="1554480" y="1783080"/>
            <a:ext cx="914400" cy="457200"/>
          </a:xfrm>
          <a:prstGeom prst="rect">
            <a:avLst/>
          </a:prstGeom>
          <a:noFill/>
          <a:ln/>
        </p:spPr>
        <p:txBody>
          <a:bodyPr wrap="square" lIns="0" tIns="0" rIns="0" bIns="0" rtlCol="0" anchor="ctr"/>
          <a:lstStyle/>
          <a:p>
            <a:pPr algn="ctr" indent="0" marL="0">
              <a:buNone/>
            </a:pPr>
            <a:r>
              <a:rPr lang="en-US" sz="2200" b="1" dirty="0">
                <a:solidFill>
                  <a:srgbClr val="1E2B24"/>
                </a:solidFill>
                <a:latin typeface="Cambria" pitchFamily="34" charset="0"/>
                <a:ea typeface="Cambria" pitchFamily="34" charset="-122"/>
                <a:cs typeface="Cambria" pitchFamily="34" charset="-120"/>
              </a:rPr>
              <a:t>1</a:t>
            </a:r>
            <a:endParaRPr lang="en-US" sz="2200" dirty="0"/>
          </a:p>
        </p:txBody>
      </p:sp>
      <p:sp>
        <p:nvSpPr>
          <p:cNvPr id="10" name="Shape 8"/>
          <p:cNvSpPr/>
          <p:nvPr/>
        </p:nvSpPr>
        <p:spPr>
          <a:xfrm>
            <a:off x="1554480" y="2377440"/>
            <a:ext cx="914400" cy="457200"/>
          </a:xfrm>
          <a:prstGeom prst="roundRect">
            <a:avLst>
              <a:gd name="adj" fmla="val 20000"/>
            </a:avLst>
          </a:prstGeom>
          <a:solidFill>
            <a:srgbClr val="E3F2E8"/>
          </a:solidFill>
          <a:ln/>
        </p:spPr>
      </p:sp>
      <p:sp>
        <p:nvSpPr>
          <p:cNvPr id="11" name="Text 9"/>
          <p:cNvSpPr txBox="1"/>
          <p:nvPr/>
        </p:nvSpPr>
        <p:spPr>
          <a:xfrm>
            <a:off x="1554480" y="2377440"/>
            <a:ext cx="914400" cy="457200"/>
          </a:xfrm>
          <a:prstGeom prst="rect">
            <a:avLst/>
          </a:prstGeom>
          <a:noFill/>
          <a:ln/>
        </p:spPr>
        <p:txBody>
          <a:bodyPr wrap="square" lIns="0" tIns="0" rIns="0" bIns="0" rtlCol="0" anchor="ctr"/>
          <a:lstStyle/>
          <a:p>
            <a:pPr algn="ctr" indent="0" marL="0">
              <a:buNone/>
            </a:pPr>
            <a:r>
              <a:rPr lang="en-US" sz="2200" b="1" dirty="0">
                <a:solidFill>
                  <a:srgbClr val="2E9E5B"/>
                </a:solidFill>
                <a:latin typeface="Cambria" pitchFamily="34" charset="0"/>
                <a:ea typeface="Cambria" pitchFamily="34" charset="-122"/>
                <a:cs typeface="Cambria" pitchFamily="34" charset="-120"/>
              </a:rPr>
              <a:t>1</a:t>
            </a:r>
            <a:endParaRPr lang="en-US" sz="2200" dirty="0"/>
          </a:p>
        </p:txBody>
      </p:sp>
      <p:pic>
        <p:nvPicPr>
          <p:cNvPr id="12" name="Image 0" descr="preencoded.png">    </p:cNvPr>
          <p:cNvPicPr>
            <a:picLocks noChangeAspect="1"/>
          </p:cNvPicPr>
          <p:nvPr/>
        </p:nvPicPr>
        <p:blipFill>
          <a:blip r:embed="rId1"/>
          <a:stretch>
            <a:fillRect/>
          </a:stretch>
        </p:blipFill>
        <p:spPr>
          <a:xfrm>
            <a:off x="1856232" y="2971800"/>
            <a:ext cx="310896" cy="310896"/>
          </a:xfrm>
          <a:prstGeom prst="rect">
            <a:avLst/>
          </a:prstGeom>
        </p:spPr>
      </p:pic>
      <p:sp>
        <p:nvSpPr>
          <p:cNvPr id="13" name="Shape 10"/>
          <p:cNvSpPr/>
          <p:nvPr/>
        </p:nvSpPr>
        <p:spPr>
          <a:xfrm>
            <a:off x="2697480" y="1325880"/>
            <a:ext cx="731520" cy="310896"/>
          </a:xfrm>
          <a:prstGeom prst="roundRect">
            <a:avLst>
              <a:gd name="adj" fmla="val 50000"/>
            </a:avLst>
          </a:prstGeom>
          <a:solidFill>
            <a:srgbClr val="9E2A2B"/>
          </a:solidFill>
          <a:ln/>
        </p:spPr>
      </p:sp>
      <p:sp>
        <p:nvSpPr>
          <p:cNvPr id="14" name="Text 11"/>
          <p:cNvSpPr txBox="1"/>
          <p:nvPr/>
        </p:nvSpPr>
        <p:spPr>
          <a:xfrm>
            <a:off x="2697480" y="1325880"/>
            <a:ext cx="73152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B2</a:t>
            </a:r>
            <a:endParaRPr lang="en-US" sz="1200" dirty="0"/>
          </a:p>
        </p:txBody>
      </p:sp>
      <p:sp>
        <p:nvSpPr>
          <p:cNvPr id="15" name="Shape 12"/>
          <p:cNvSpPr/>
          <p:nvPr/>
        </p:nvSpPr>
        <p:spPr>
          <a:xfrm>
            <a:off x="2560320" y="1783080"/>
            <a:ext cx="914400" cy="457200"/>
          </a:xfrm>
          <a:prstGeom prst="roundRect">
            <a:avLst>
              <a:gd name="adj" fmla="val 20000"/>
            </a:avLst>
          </a:prstGeom>
          <a:solidFill>
            <a:srgbClr val="EEF4EF"/>
          </a:solidFill>
          <a:ln/>
        </p:spPr>
      </p:sp>
      <p:sp>
        <p:nvSpPr>
          <p:cNvPr id="16" name="Text 13"/>
          <p:cNvSpPr txBox="1"/>
          <p:nvPr/>
        </p:nvSpPr>
        <p:spPr>
          <a:xfrm>
            <a:off x="2560320" y="1783080"/>
            <a:ext cx="914400" cy="457200"/>
          </a:xfrm>
          <a:prstGeom prst="rect">
            <a:avLst/>
          </a:prstGeom>
          <a:noFill/>
          <a:ln/>
        </p:spPr>
        <p:txBody>
          <a:bodyPr wrap="square" lIns="0" tIns="0" rIns="0" bIns="0" rtlCol="0" anchor="ctr"/>
          <a:lstStyle/>
          <a:p>
            <a:pPr algn="ctr" indent="0" marL="0">
              <a:buNone/>
            </a:pPr>
            <a:r>
              <a:rPr lang="en-US" sz="2200" b="1" dirty="0">
                <a:solidFill>
                  <a:srgbClr val="1E2B24"/>
                </a:solidFill>
                <a:latin typeface="Cambria" pitchFamily="34" charset="0"/>
                <a:ea typeface="Cambria" pitchFamily="34" charset="-122"/>
                <a:cs typeface="Cambria" pitchFamily="34" charset="-120"/>
              </a:rPr>
              <a:t>2</a:t>
            </a:r>
            <a:endParaRPr lang="en-US" sz="2200" dirty="0"/>
          </a:p>
        </p:txBody>
      </p:sp>
      <p:sp>
        <p:nvSpPr>
          <p:cNvPr id="17" name="Shape 14"/>
          <p:cNvSpPr/>
          <p:nvPr/>
        </p:nvSpPr>
        <p:spPr>
          <a:xfrm>
            <a:off x="2560320" y="2377440"/>
            <a:ext cx="914400" cy="457200"/>
          </a:xfrm>
          <a:prstGeom prst="roundRect">
            <a:avLst>
              <a:gd name="adj" fmla="val 20000"/>
            </a:avLst>
          </a:prstGeom>
          <a:solidFill>
            <a:srgbClr val="E3F2E8"/>
          </a:solidFill>
          <a:ln/>
        </p:spPr>
      </p:sp>
      <p:sp>
        <p:nvSpPr>
          <p:cNvPr id="18" name="Text 15"/>
          <p:cNvSpPr txBox="1"/>
          <p:nvPr/>
        </p:nvSpPr>
        <p:spPr>
          <a:xfrm>
            <a:off x="2560320" y="2377440"/>
            <a:ext cx="914400" cy="457200"/>
          </a:xfrm>
          <a:prstGeom prst="rect">
            <a:avLst/>
          </a:prstGeom>
          <a:noFill/>
          <a:ln/>
        </p:spPr>
        <p:txBody>
          <a:bodyPr wrap="square" lIns="0" tIns="0" rIns="0" bIns="0" rtlCol="0" anchor="ctr"/>
          <a:lstStyle/>
          <a:p>
            <a:pPr algn="ctr" indent="0" marL="0">
              <a:buNone/>
            </a:pPr>
            <a:r>
              <a:rPr lang="en-US" sz="2200" b="1" dirty="0">
                <a:solidFill>
                  <a:srgbClr val="2E9E5B"/>
                </a:solidFill>
                <a:latin typeface="Cambria" pitchFamily="34" charset="0"/>
                <a:ea typeface="Cambria" pitchFamily="34" charset="-122"/>
                <a:cs typeface="Cambria" pitchFamily="34" charset="-120"/>
              </a:rPr>
              <a:t>3</a:t>
            </a:r>
            <a:endParaRPr lang="en-US" sz="2200" dirty="0"/>
          </a:p>
        </p:txBody>
      </p:sp>
      <p:pic>
        <p:nvPicPr>
          <p:cNvPr id="19" name="Image 1" descr="preencoded.png">    </p:cNvPr>
          <p:cNvPicPr>
            <a:picLocks noChangeAspect="1"/>
          </p:cNvPicPr>
          <p:nvPr/>
        </p:nvPicPr>
        <p:blipFill>
          <a:blip r:embed="rId2"/>
          <a:stretch>
            <a:fillRect/>
          </a:stretch>
        </p:blipFill>
        <p:spPr>
          <a:xfrm>
            <a:off x="2862072" y="2971800"/>
            <a:ext cx="310896" cy="310896"/>
          </a:xfrm>
          <a:prstGeom prst="rect">
            <a:avLst/>
          </a:prstGeom>
        </p:spPr>
      </p:pic>
      <p:sp>
        <p:nvSpPr>
          <p:cNvPr id="20" name="Shape 16"/>
          <p:cNvSpPr/>
          <p:nvPr/>
        </p:nvSpPr>
        <p:spPr>
          <a:xfrm>
            <a:off x="3703320" y="1325880"/>
            <a:ext cx="731520" cy="310896"/>
          </a:xfrm>
          <a:prstGeom prst="roundRect">
            <a:avLst>
              <a:gd name="adj" fmla="val 50000"/>
            </a:avLst>
          </a:prstGeom>
          <a:solidFill>
            <a:srgbClr val="12291D"/>
          </a:solidFill>
          <a:ln/>
        </p:spPr>
      </p:sp>
      <p:sp>
        <p:nvSpPr>
          <p:cNvPr id="21" name="Text 17"/>
          <p:cNvSpPr txBox="1"/>
          <p:nvPr/>
        </p:nvSpPr>
        <p:spPr>
          <a:xfrm>
            <a:off x="3703320" y="1325880"/>
            <a:ext cx="73152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B3</a:t>
            </a:r>
            <a:endParaRPr lang="en-US" sz="1200" dirty="0"/>
          </a:p>
        </p:txBody>
      </p:sp>
      <p:sp>
        <p:nvSpPr>
          <p:cNvPr id="22" name="Shape 18"/>
          <p:cNvSpPr/>
          <p:nvPr/>
        </p:nvSpPr>
        <p:spPr>
          <a:xfrm>
            <a:off x="3566160" y="1783080"/>
            <a:ext cx="914400" cy="457200"/>
          </a:xfrm>
          <a:prstGeom prst="roundRect">
            <a:avLst>
              <a:gd name="adj" fmla="val 20000"/>
            </a:avLst>
          </a:prstGeom>
          <a:solidFill>
            <a:srgbClr val="EEF4EF"/>
          </a:solidFill>
          <a:ln/>
        </p:spPr>
      </p:sp>
      <p:sp>
        <p:nvSpPr>
          <p:cNvPr id="23" name="Text 19"/>
          <p:cNvSpPr txBox="1"/>
          <p:nvPr/>
        </p:nvSpPr>
        <p:spPr>
          <a:xfrm>
            <a:off x="3566160" y="1783080"/>
            <a:ext cx="914400" cy="457200"/>
          </a:xfrm>
          <a:prstGeom prst="rect">
            <a:avLst/>
          </a:prstGeom>
          <a:noFill/>
          <a:ln/>
        </p:spPr>
        <p:txBody>
          <a:bodyPr wrap="square" lIns="0" tIns="0" rIns="0" bIns="0" rtlCol="0" anchor="ctr"/>
          <a:lstStyle/>
          <a:p>
            <a:pPr algn="ctr" indent="0" marL="0">
              <a:buNone/>
            </a:pPr>
            <a:r>
              <a:rPr lang="en-US" sz="2200" b="1" dirty="0">
                <a:solidFill>
                  <a:srgbClr val="1E2B24"/>
                </a:solidFill>
                <a:latin typeface="Cambria" pitchFamily="34" charset="0"/>
                <a:ea typeface="Cambria" pitchFamily="34" charset="-122"/>
                <a:cs typeface="Cambria" pitchFamily="34" charset="-120"/>
              </a:rPr>
              <a:t>5</a:t>
            </a:r>
            <a:endParaRPr lang="en-US" sz="2200" dirty="0"/>
          </a:p>
        </p:txBody>
      </p:sp>
      <p:sp>
        <p:nvSpPr>
          <p:cNvPr id="24" name="Shape 20"/>
          <p:cNvSpPr/>
          <p:nvPr/>
        </p:nvSpPr>
        <p:spPr>
          <a:xfrm>
            <a:off x="3566160" y="2377440"/>
            <a:ext cx="914400" cy="457200"/>
          </a:xfrm>
          <a:prstGeom prst="roundRect">
            <a:avLst>
              <a:gd name="adj" fmla="val 20000"/>
            </a:avLst>
          </a:prstGeom>
          <a:solidFill>
            <a:srgbClr val="FBE3E3"/>
          </a:solidFill>
          <a:ln/>
        </p:spPr>
      </p:sp>
      <p:sp>
        <p:nvSpPr>
          <p:cNvPr id="25" name="Text 21"/>
          <p:cNvSpPr txBox="1"/>
          <p:nvPr/>
        </p:nvSpPr>
        <p:spPr>
          <a:xfrm>
            <a:off x="3566160" y="2377440"/>
            <a:ext cx="914400" cy="457200"/>
          </a:xfrm>
          <a:prstGeom prst="rect">
            <a:avLst/>
          </a:prstGeom>
          <a:noFill/>
          <a:ln/>
        </p:spPr>
        <p:txBody>
          <a:bodyPr wrap="square" lIns="0" tIns="0" rIns="0" bIns="0" rtlCol="0" anchor="ctr"/>
          <a:lstStyle/>
          <a:p>
            <a:pPr algn="ctr" indent="0" marL="0">
              <a:buNone/>
            </a:pPr>
            <a:r>
              <a:rPr lang="en-US" sz="2200" b="1" dirty="0">
                <a:solidFill>
                  <a:srgbClr val="C62828"/>
                </a:solidFill>
                <a:latin typeface="Cambria" pitchFamily="34" charset="0"/>
                <a:ea typeface="Cambria" pitchFamily="34" charset="-122"/>
                <a:cs typeface="Cambria" pitchFamily="34" charset="-120"/>
              </a:rPr>
              <a:t>7</a:t>
            </a:r>
            <a:endParaRPr lang="en-US" sz="2200" dirty="0"/>
          </a:p>
        </p:txBody>
      </p:sp>
      <p:pic>
        <p:nvPicPr>
          <p:cNvPr id="26" name="Image 2" descr="preencoded.png">    </p:cNvPr>
          <p:cNvPicPr>
            <a:picLocks noChangeAspect="1"/>
          </p:cNvPicPr>
          <p:nvPr/>
        </p:nvPicPr>
        <p:blipFill>
          <a:blip r:embed="rId3"/>
          <a:stretch>
            <a:fillRect/>
          </a:stretch>
        </p:blipFill>
        <p:spPr>
          <a:xfrm>
            <a:off x="3867912" y="2971800"/>
            <a:ext cx="310896" cy="310896"/>
          </a:xfrm>
          <a:prstGeom prst="rect">
            <a:avLst/>
          </a:prstGeom>
        </p:spPr>
      </p:pic>
      <p:sp>
        <p:nvSpPr>
          <p:cNvPr id="27" name="Shape 22"/>
          <p:cNvSpPr/>
          <p:nvPr/>
        </p:nvSpPr>
        <p:spPr>
          <a:xfrm>
            <a:off x="4709160" y="1325880"/>
            <a:ext cx="731520" cy="310896"/>
          </a:xfrm>
          <a:prstGeom prst="roundRect">
            <a:avLst>
              <a:gd name="adj" fmla="val 50000"/>
            </a:avLst>
          </a:prstGeom>
          <a:solidFill>
            <a:srgbClr val="1F4D36"/>
          </a:solidFill>
          <a:ln/>
        </p:spPr>
      </p:sp>
      <p:sp>
        <p:nvSpPr>
          <p:cNvPr id="28" name="Text 23"/>
          <p:cNvSpPr txBox="1"/>
          <p:nvPr/>
        </p:nvSpPr>
        <p:spPr>
          <a:xfrm>
            <a:off x="4709160" y="1325880"/>
            <a:ext cx="73152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B4</a:t>
            </a:r>
            <a:endParaRPr lang="en-US" sz="1200" dirty="0"/>
          </a:p>
        </p:txBody>
      </p:sp>
      <p:sp>
        <p:nvSpPr>
          <p:cNvPr id="29" name="Shape 24"/>
          <p:cNvSpPr/>
          <p:nvPr/>
        </p:nvSpPr>
        <p:spPr>
          <a:xfrm>
            <a:off x="4572000" y="1783080"/>
            <a:ext cx="914400" cy="457200"/>
          </a:xfrm>
          <a:prstGeom prst="roundRect">
            <a:avLst>
              <a:gd name="adj" fmla="val 20000"/>
            </a:avLst>
          </a:prstGeom>
          <a:solidFill>
            <a:srgbClr val="EEF4EF"/>
          </a:solidFill>
          <a:ln/>
        </p:spPr>
      </p:sp>
      <p:sp>
        <p:nvSpPr>
          <p:cNvPr id="30" name="Text 25"/>
          <p:cNvSpPr txBox="1"/>
          <p:nvPr/>
        </p:nvSpPr>
        <p:spPr>
          <a:xfrm>
            <a:off x="4572000" y="1783080"/>
            <a:ext cx="914400" cy="457200"/>
          </a:xfrm>
          <a:prstGeom prst="rect">
            <a:avLst/>
          </a:prstGeom>
          <a:noFill/>
          <a:ln/>
        </p:spPr>
        <p:txBody>
          <a:bodyPr wrap="square" lIns="0" tIns="0" rIns="0" bIns="0" rtlCol="0" anchor="ctr"/>
          <a:lstStyle/>
          <a:p>
            <a:pPr algn="ctr" indent="0" marL="0">
              <a:buNone/>
            </a:pPr>
            <a:r>
              <a:rPr lang="en-US" sz="2200" b="1" dirty="0">
                <a:solidFill>
                  <a:srgbClr val="1E2B24"/>
                </a:solidFill>
                <a:latin typeface="Cambria" pitchFamily="34" charset="0"/>
                <a:ea typeface="Cambria" pitchFamily="34" charset="-122"/>
                <a:cs typeface="Cambria" pitchFamily="34" charset="-120"/>
              </a:rPr>
              <a:t>2</a:t>
            </a:r>
            <a:endParaRPr lang="en-US" sz="2200" dirty="0"/>
          </a:p>
        </p:txBody>
      </p:sp>
      <p:sp>
        <p:nvSpPr>
          <p:cNvPr id="31" name="Shape 26"/>
          <p:cNvSpPr/>
          <p:nvPr/>
        </p:nvSpPr>
        <p:spPr>
          <a:xfrm>
            <a:off x="4572000" y="2377440"/>
            <a:ext cx="914400" cy="457200"/>
          </a:xfrm>
          <a:prstGeom prst="roundRect">
            <a:avLst>
              <a:gd name="adj" fmla="val 20000"/>
            </a:avLst>
          </a:prstGeom>
          <a:solidFill>
            <a:srgbClr val="E3F2E8"/>
          </a:solidFill>
          <a:ln/>
        </p:spPr>
      </p:sp>
      <p:sp>
        <p:nvSpPr>
          <p:cNvPr id="32" name="Text 27"/>
          <p:cNvSpPr txBox="1"/>
          <p:nvPr/>
        </p:nvSpPr>
        <p:spPr>
          <a:xfrm>
            <a:off x="4572000" y="2377440"/>
            <a:ext cx="914400" cy="457200"/>
          </a:xfrm>
          <a:prstGeom prst="rect">
            <a:avLst/>
          </a:prstGeom>
          <a:noFill/>
          <a:ln/>
        </p:spPr>
        <p:txBody>
          <a:bodyPr wrap="square" lIns="0" tIns="0" rIns="0" bIns="0" rtlCol="0" anchor="ctr"/>
          <a:lstStyle/>
          <a:p>
            <a:pPr algn="ctr" indent="0" marL="0">
              <a:buNone/>
            </a:pPr>
            <a:r>
              <a:rPr lang="en-US" sz="2200" b="1" dirty="0">
                <a:solidFill>
                  <a:srgbClr val="2E9E5B"/>
                </a:solidFill>
                <a:latin typeface="Cambria" pitchFamily="34" charset="0"/>
                <a:ea typeface="Cambria" pitchFamily="34" charset="-122"/>
                <a:cs typeface="Cambria" pitchFamily="34" charset="-120"/>
              </a:rPr>
              <a:t>2</a:t>
            </a:r>
            <a:endParaRPr lang="en-US" sz="2200" dirty="0"/>
          </a:p>
        </p:txBody>
      </p:sp>
      <p:pic>
        <p:nvPicPr>
          <p:cNvPr id="33" name="Image 3" descr="preencoded.png">    </p:cNvPr>
          <p:cNvPicPr>
            <a:picLocks noChangeAspect="1"/>
          </p:cNvPicPr>
          <p:nvPr/>
        </p:nvPicPr>
        <p:blipFill>
          <a:blip r:embed="rId4"/>
          <a:stretch>
            <a:fillRect/>
          </a:stretch>
        </p:blipFill>
        <p:spPr>
          <a:xfrm>
            <a:off x="4873752" y="2971800"/>
            <a:ext cx="310896" cy="310896"/>
          </a:xfrm>
          <a:prstGeom prst="rect">
            <a:avLst/>
          </a:prstGeom>
        </p:spPr>
      </p:pic>
      <p:sp>
        <p:nvSpPr>
          <p:cNvPr id="34" name="Shape 28"/>
          <p:cNvSpPr/>
          <p:nvPr/>
        </p:nvSpPr>
        <p:spPr>
          <a:xfrm>
            <a:off x="5760720" y="1325880"/>
            <a:ext cx="2926080" cy="1463040"/>
          </a:xfrm>
          <a:prstGeom prst="roundRect">
            <a:avLst>
              <a:gd name="adj" fmla="val 6250"/>
            </a:avLst>
          </a:prstGeom>
          <a:solidFill>
            <a:srgbClr val="EEF4EF"/>
          </a:solidFill>
          <a:ln/>
        </p:spPr>
      </p:sp>
      <p:sp>
        <p:nvSpPr>
          <p:cNvPr id="35" name="Text 29"/>
          <p:cNvSpPr txBox="1"/>
          <p:nvPr/>
        </p:nvSpPr>
        <p:spPr>
          <a:xfrm>
            <a:off x="5943600" y="1435608"/>
            <a:ext cx="2651760" cy="457200"/>
          </a:xfrm>
          <a:prstGeom prst="rect">
            <a:avLst/>
          </a:prstGeom>
          <a:noFill/>
          <a:ln/>
        </p:spPr>
        <p:txBody>
          <a:bodyPr wrap="square" lIns="0" tIns="0" rIns="0" bIns="0" rtlCol="0" anchor="ctr"/>
          <a:lstStyle/>
          <a:p>
            <a:pPr indent="0" marL="0">
              <a:buNone/>
            </a:pPr>
            <a:r>
              <a:rPr lang="en-US" sz="2400" b="1" dirty="0">
                <a:solidFill>
                  <a:srgbClr val="1F4D36"/>
                </a:solidFill>
                <a:latin typeface="Cambria" pitchFamily="34" charset="0"/>
                <a:ea typeface="Cambria" pitchFamily="34" charset="-122"/>
                <a:cs typeface="Cambria" pitchFamily="34" charset="-120"/>
              </a:rPr>
              <a:t>Class ±1</a:t>
            </a:r>
            <a:endParaRPr lang="en-US" sz="2400" dirty="0"/>
          </a:p>
        </p:txBody>
      </p:sp>
      <p:sp>
        <p:nvSpPr>
          <p:cNvPr id="36" name="Text 30"/>
          <p:cNvSpPr txBox="1"/>
          <p:nvPr/>
        </p:nvSpPr>
        <p:spPr>
          <a:xfrm>
            <a:off x="5943600" y="1892808"/>
            <a:ext cx="2651760" cy="320040"/>
          </a:xfrm>
          <a:prstGeom prst="rect">
            <a:avLst/>
          </a:prstGeom>
          <a:noFill/>
          <a:ln/>
        </p:spPr>
        <p:txBody>
          <a:bodyPr wrap="square" lIns="0" tIns="0" rIns="0" bIns="0" rtlCol="0" anchor="ctr"/>
          <a:lstStyle/>
          <a:p>
            <a:pPr indent="0" marL="0">
              <a:buNone/>
            </a:pPr>
            <a:r>
              <a:rPr lang="en-US" sz="1250" dirty="0">
                <a:solidFill>
                  <a:srgbClr val="1E2B24"/>
                </a:solidFill>
                <a:latin typeface="Calibri" pitchFamily="34" charset="0"/>
                <a:ea typeface="Calibri" pitchFamily="34" charset="-122"/>
                <a:cs typeface="Calibri" pitchFamily="34" charset="-120"/>
              </a:rPr>
              <a:t>Each class counted separately</a:t>
            </a:r>
            <a:endParaRPr lang="en-US" sz="1250" dirty="0"/>
          </a:p>
        </p:txBody>
      </p:sp>
      <p:sp>
        <p:nvSpPr>
          <p:cNvPr id="37" name="Text 31"/>
          <p:cNvSpPr txBox="1"/>
          <p:nvPr/>
        </p:nvSpPr>
        <p:spPr>
          <a:xfrm>
            <a:off x="5943600" y="2240280"/>
            <a:ext cx="2651760" cy="411480"/>
          </a:xfrm>
          <a:prstGeom prst="rect">
            <a:avLst/>
          </a:prstGeom>
          <a:noFill/>
          <a:ln/>
        </p:spPr>
        <p:txBody>
          <a:bodyPr wrap="square" lIns="0" tIns="0" rIns="0" bIns="0" rtlCol="0" anchor="ctr"/>
          <a:lstStyle/>
          <a:p>
            <a:pPr indent="0" marL="0">
              <a:buNone/>
            </a:pPr>
            <a:r>
              <a:rPr lang="en-US" sz="1300" b="1" dirty="0">
                <a:solidFill>
                  <a:srgbClr val="1F4D36"/>
                </a:solidFill>
                <a:latin typeface="Calibri" pitchFamily="34" charset="0"/>
                <a:ea typeface="Calibri" pitchFamily="34" charset="-122"/>
                <a:cs typeface="Calibri" pitchFamily="34" charset="-120"/>
              </a:rPr>
              <a:t>3 of 4 within ±1 = 75%</a:t>
            </a:r>
            <a:endParaRPr lang="en-US" sz="1300" dirty="0"/>
          </a:p>
        </p:txBody>
      </p:sp>
      <p:sp>
        <p:nvSpPr>
          <p:cNvPr id="38" name="Shape 32"/>
          <p:cNvSpPr/>
          <p:nvPr/>
        </p:nvSpPr>
        <p:spPr>
          <a:xfrm>
            <a:off x="5760720" y="2971800"/>
            <a:ext cx="2926080" cy="1463040"/>
          </a:xfrm>
          <a:prstGeom prst="roundRect">
            <a:avLst>
              <a:gd name="adj" fmla="val 6250"/>
            </a:avLst>
          </a:prstGeom>
          <a:solidFill>
            <a:srgbClr val="EEF4EF"/>
          </a:solidFill>
          <a:ln/>
        </p:spPr>
      </p:sp>
      <p:sp>
        <p:nvSpPr>
          <p:cNvPr id="39" name="Text 33"/>
          <p:cNvSpPr txBox="1"/>
          <p:nvPr/>
        </p:nvSpPr>
        <p:spPr>
          <a:xfrm>
            <a:off x="5943600" y="3081528"/>
            <a:ext cx="2651760" cy="457200"/>
          </a:xfrm>
          <a:prstGeom prst="rect">
            <a:avLst/>
          </a:prstGeom>
          <a:noFill/>
          <a:ln/>
        </p:spPr>
        <p:txBody>
          <a:bodyPr wrap="square" lIns="0" tIns="0" rIns="0" bIns="0" rtlCol="0" anchor="ctr"/>
          <a:lstStyle/>
          <a:p>
            <a:pPr indent="0" marL="0">
              <a:buNone/>
            </a:pPr>
            <a:r>
              <a:rPr lang="en-US" sz="2400" b="1" dirty="0">
                <a:solidFill>
                  <a:srgbClr val="C8511B"/>
                </a:solidFill>
                <a:latin typeface="Cambria" pitchFamily="34" charset="0"/>
                <a:ea typeface="Cambria" pitchFamily="34" charset="-122"/>
                <a:cs typeface="Cambria" pitchFamily="34" charset="-120"/>
              </a:rPr>
              <a:t>Tree ±1</a:t>
            </a:r>
            <a:endParaRPr lang="en-US" sz="2400" dirty="0"/>
          </a:p>
        </p:txBody>
      </p:sp>
      <p:sp>
        <p:nvSpPr>
          <p:cNvPr id="40" name="Text 34"/>
          <p:cNvSpPr txBox="1"/>
          <p:nvPr/>
        </p:nvSpPr>
        <p:spPr>
          <a:xfrm>
            <a:off x="5943600" y="3538728"/>
            <a:ext cx="2651760" cy="320040"/>
          </a:xfrm>
          <a:prstGeom prst="rect">
            <a:avLst/>
          </a:prstGeom>
          <a:noFill/>
          <a:ln/>
        </p:spPr>
        <p:txBody>
          <a:bodyPr wrap="square" lIns="0" tIns="0" rIns="0" bIns="0" rtlCol="0" anchor="ctr"/>
          <a:lstStyle/>
          <a:p>
            <a:pPr indent="0" marL="0">
              <a:buNone/>
            </a:pPr>
            <a:r>
              <a:rPr lang="en-US" sz="1250" dirty="0">
                <a:solidFill>
                  <a:srgbClr val="1E2B24"/>
                </a:solidFill>
                <a:latin typeface="Calibri" pitchFamily="34" charset="0"/>
                <a:ea typeface="Calibri" pitchFamily="34" charset="-122"/>
                <a:cs typeface="Calibri" pitchFamily="34" charset="-120"/>
              </a:rPr>
              <a:t>All four classes at once</a:t>
            </a:r>
            <a:endParaRPr lang="en-US" sz="1250" dirty="0"/>
          </a:p>
        </p:txBody>
      </p:sp>
      <p:sp>
        <p:nvSpPr>
          <p:cNvPr id="41" name="Text 35"/>
          <p:cNvSpPr txBox="1"/>
          <p:nvPr/>
        </p:nvSpPr>
        <p:spPr>
          <a:xfrm>
            <a:off x="5943600" y="3886200"/>
            <a:ext cx="2651760" cy="411480"/>
          </a:xfrm>
          <a:prstGeom prst="rect">
            <a:avLst/>
          </a:prstGeom>
          <a:noFill/>
          <a:ln/>
        </p:spPr>
        <p:txBody>
          <a:bodyPr wrap="square" lIns="0" tIns="0" rIns="0" bIns="0" rtlCol="0" anchor="ctr"/>
          <a:lstStyle/>
          <a:p>
            <a:pPr indent="0" marL="0">
              <a:buNone/>
            </a:pPr>
            <a:r>
              <a:rPr lang="en-US" sz="1300" b="1" dirty="0">
                <a:solidFill>
                  <a:srgbClr val="C8511B"/>
                </a:solidFill>
                <a:latin typeface="Calibri" pitchFamily="34" charset="0"/>
                <a:ea typeface="Calibri" pitchFamily="34" charset="-122"/>
                <a:cs typeface="Calibri" pitchFamily="34" charset="-120"/>
              </a:rPr>
              <a:t>B3 off by 2 → 0%</a:t>
            </a:r>
            <a:endParaRPr lang="en-US" sz="1300" dirty="0"/>
          </a:p>
        </p:txBody>
      </p:sp>
      <p:sp>
        <p:nvSpPr>
          <p:cNvPr id="42" name="Text 36"/>
          <p:cNvSpPr txBox="1"/>
          <p:nvPr/>
        </p:nvSpPr>
        <p:spPr>
          <a:xfrm>
            <a:off x="8412480" y="4773168"/>
            <a:ext cx="365760" cy="228600"/>
          </a:xfrm>
          <a:prstGeom prst="rect">
            <a:avLst/>
          </a:prstGeom>
          <a:noFill/>
          <a:ln/>
        </p:spPr>
        <p:txBody>
          <a:bodyPr wrap="square" lIns="0" tIns="0" rIns="0" bIns="0" rtlCol="0" anchor="ctr"/>
          <a:lstStyle/>
          <a:p>
            <a:pPr algn="r" indent="0" marL="0">
              <a:buNone/>
            </a:pPr>
            <a:r>
              <a:rPr lang="en-US" sz="1000" dirty="0">
                <a:solidFill>
                  <a:srgbClr val="5B6B6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B24"/>
                </a:solidFill>
                <a:latin typeface="Cambria" pitchFamily="34" charset="0"/>
                <a:ea typeface="Cambria" pitchFamily="34" charset="-122"/>
                <a:cs typeface="Cambria" pitchFamily="34" charset="-120"/>
              </a:rPr>
              <a:t>Results: ground truth vs fixed detector</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500" dirty="0">
                <a:solidFill>
                  <a:srgbClr val="5B6B62"/>
                </a:solidFill>
                <a:latin typeface="Calibri" pitchFamily="34" charset="0"/>
                <a:ea typeface="Calibri" pitchFamily="34" charset="-122"/>
                <a:cs typeface="Calibri" pitchFamily="34" charset="-120"/>
              </a:rPr>
              <a:t>Class ±1 accuracy (%), 141 test trees</a:t>
            </a:r>
            <a:endParaRPr lang="en-US" sz="1500" dirty="0"/>
          </a:p>
        </p:txBody>
      </p:sp>
      <p:graphicFrame>
        <p:nvGraphicFramePr>
          <p:cNvPr id="4" name="Chart 0" descr=""/>
          <p:cNvGraphicFramePr/>
          <p:nvPr/>
        </p:nvGraphicFramePr>
        <p:xfrm>
          <a:off x="274320" y="1143000"/>
          <a:ext cx="5394960" cy="36118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897880" y="1188720"/>
            <a:ext cx="2834640" cy="1280160"/>
          </a:xfrm>
          <a:prstGeom prst="roundRect">
            <a:avLst>
              <a:gd name="adj" fmla="val 7143"/>
            </a:avLst>
          </a:prstGeom>
          <a:solidFill>
            <a:srgbClr val="EEF4EF"/>
          </a:solidFill>
          <a:ln/>
        </p:spPr>
      </p:sp>
      <p:sp>
        <p:nvSpPr>
          <p:cNvPr id="6" name="Text 3"/>
          <p:cNvSpPr txBox="1"/>
          <p:nvPr/>
        </p:nvSpPr>
        <p:spPr>
          <a:xfrm>
            <a:off x="6080760" y="1280160"/>
            <a:ext cx="2560320" cy="274320"/>
          </a:xfrm>
          <a:prstGeom prst="rect">
            <a:avLst/>
          </a:prstGeom>
          <a:noFill/>
          <a:ln/>
        </p:spPr>
        <p:txBody>
          <a:bodyPr wrap="square" lIns="0" tIns="0" rIns="0" bIns="0" rtlCol="0" anchor="ctr"/>
          <a:lstStyle/>
          <a:p>
            <a:pPr indent="0" marL="0">
              <a:buNone/>
            </a:pPr>
            <a:r>
              <a:rPr lang="en-US" sz="1200" b="1" dirty="0">
                <a:solidFill>
                  <a:srgbClr val="5B6B62"/>
                </a:solidFill>
                <a:latin typeface="Calibri" pitchFamily="34" charset="0"/>
                <a:ea typeface="Calibri" pitchFamily="34" charset="-122"/>
                <a:cs typeface="Calibri" pitchFamily="34" charset="-120"/>
              </a:rPr>
              <a:t>Class ±1 (best)</a:t>
            </a:r>
            <a:endParaRPr lang="en-US" sz="1200" dirty="0"/>
          </a:p>
        </p:txBody>
      </p:sp>
      <p:sp>
        <p:nvSpPr>
          <p:cNvPr id="7" name="Text 4"/>
          <p:cNvSpPr txBox="1"/>
          <p:nvPr/>
        </p:nvSpPr>
        <p:spPr>
          <a:xfrm>
            <a:off x="6080760" y="1600200"/>
            <a:ext cx="1097280" cy="640080"/>
          </a:xfrm>
          <a:prstGeom prst="rect">
            <a:avLst/>
          </a:prstGeom>
          <a:noFill/>
          <a:ln/>
        </p:spPr>
        <p:txBody>
          <a:bodyPr wrap="square" lIns="0" tIns="0" rIns="0" bIns="0" rtlCol="0" anchor="ctr"/>
          <a:lstStyle/>
          <a:p>
            <a:pPr indent="0" marL="0">
              <a:buNone/>
            </a:pPr>
            <a:r>
              <a:rPr lang="en-US" sz="3000" b="1" dirty="0">
                <a:solidFill>
                  <a:srgbClr val="1F4D36"/>
                </a:solidFill>
                <a:latin typeface="Cambria" pitchFamily="34" charset="0"/>
                <a:ea typeface="Cambria" pitchFamily="34" charset="-122"/>
                <a:cs typeface="Cambria" pitchFamily="34" charset="-120"/>
              </a:rPr>
              <a:t>98%</a:t>
            </a:r>
            <a:endParaRPr lang="en-US" sz="3000" dirty="0"/>
          </a:p>
        </p:txBody>
      </p:sp>
      <p:sp>
        <p:nvSpPr>
          <p:cNvPr id="8" name="Text 5"/>
          <p:cNvSpPr txBox="1"/>
          <p:nvPr/>
        </p:nvSpPr>
        <p:spPr>
          <a:xfrm>
            <a:off x="7132320" y="1600200"/>
            <a:ext cx="411480" cy="640080"/>
          </a:xfrm>
          <a:prstGeom prst="rect">
            <a:avLst/>
          </a:prstGeom>
          <a:noFill/>
          <a:ln/>
        </p:spPr>
        <p:txBody>
          <a:bodyPr wrap="square" lIns="0" tIns="0" rIns="0" bIns="0" rtlCol="0" anchor="ctr"/>
          <a:lstStyle/>
          <a:p>
            <a:pPr algn="ctr" indent="0" marL="0">
              <a:buNone/>
            </a:pPr>
            <a:r>
              <a:rPr lang="en-US" sz="2200" dirty="0">
                <a:solidFill>
                  <a:srgbClr val="5B6B62"/>
                </a:solidFill>
                <a:latin typeface="Calibri" pitchFamily="34" charset="0"/>
                <a:ea typeface="Calibri" pitchFamily="34" charset="-122"/>
                <a:cs typeface="Calibri" pitchFamily="34" charset="-120"/>
              </a:rPr>
              <a:t>→</a:t>
            </a:r>
            <a:endParaRPr lang="en-US" sz="2200" dirty="0"/>
          </a:p>
        </p:txBody>
      </p:sp>
      <p:sp>
        <p:nvSpPr>
          <p:cNvPr id="9" name="Text 6"/>
          <p:cNvSpPr txBox="1"/>
          <p:nvPr/>
        </p:nvSpPr>
        <p:spPr>
          <a:xfrm>
            <a:off x="7543800" y="1600200"/>
            <a:ext cx="1097280" cy="640080"/>
          </a:xfrm>
          <a:prstGeom prst="rect">
            <a:avLst/>
          </a:prstGeom>
          <a:noFill/>
          <a:ln/>
        </p:spPr>
        <p:txBody>
          <a:bodyPr wrap="square" lIns="0" tIns="0" rIns="0" bIns="0" rtlCol="0" anchor="ctr"/>
          <a:lstStyle/>
          <a:p>
            <a:pPr indent="0" marL="0">
              <a:buNone/>
            </a:pPr>
            <a:r>
              <a:rPr lang="en-US" sz="3000" b="1" dirty="0">
                <a:solidFill>
                  <a:srgbClr val="C8511B"/>
                </a:solidFill>
                <a:latin typeface="Cambria" pitchFamily="34" charset="0"/>
                <a:ea typeface="Cambria" pitchFamily="34" charset="-122"/>
                <a:cs typeface="Cambria" pitchFamily="34" charset="-120"/>
              </a:rPr>
              <a:t>77%</a:t>
            </a:r>
            <a:endParaRPr lang="en-US" sz="3000" dirty="0"/>
          </a:p>
        </p:txBody>
      </p:sp>
      <p:sp>
        <p:nvSpPr>
          <p:cNvPr id="10" name="Shape 7"/>
          <p:cNvSpPr/>
          <p:nvPr/>
        </p:nvSpPr>
        <p:spPr>
          <a:xfrm>
            <a:off x="5897880" y="2606040"/>
            <a:ext cx="2834640" cy="1280160"/>
          </a:xfrm>
          <a:prstGeom prst="roundRect">
            <a:avLst>
              <a:gd name="adj" fmla="val 7143"/>
            </a:avLst>
          </a:prstGeom>
          <a:solidFill>
            <a:srgbClr val="EEF4EF"/>
          </a:solidFill>
          <a:ln/>
        </p:spPr>
      </p:sp>
      <p:sp>
        <p:nvSpPr>
          <p:cNvPr id="11" name="Text 8"/>
          <p:cNvSpPr txBox="1"/>
          <p:nvPr/>
        </p:nvSpPr>
        <p:spPr>
          <a:xfrm>
            <a:off x="6080760" y="2697480"/>
            <a:ext cx="2560320" cy="274320"/>
          </a:xfrm>
          <a:prstGeom prst="rect">
            <a:avLst/>
          </a:prstGeom>
          <a:noFill/>
          <a:ln/>
        </p:spPr>
        <p:txBody>
          <a:bodyPr wrap="square" lIns="0" tIns="0" rIns="0" bIns="0" rtlCol="0" anchor="ctr"/>
          <a:lstStyle/>
          <a:p>
            <a:pPr indent="0" marL="0">
              <a:buNone/>
            </a:pPr>
            <a:r>
              <a:rPr lang="en-US" sz="1200" b="1" dirty="0">
                <a:solidFill>
                  <a:srgbClr val="5B6B62"/>
                </a:solidFill>
                <a:latin typeface="Calibri" pitchFamily="34" charset="0"/>
                <a:ea typeface="Calibri" pitchFamily="34" charset="-122"/>
                <a:cs typeface="Calibri" pitchFamily="34" charset="-120"/>
              </a:rPr>
              <a:t>Tree ±1 (best)</a:t>
            </a:r>
            <a:endParaRPr lang="en-US" sz="1200" dirty="0"/>
          </a:p>
        </p:txBody>
      </p:sp>
      <p:sp>
        <p:nvSpPr>
          <p:cNvPr id="12" name="Text 9"/>
          <p:cNvSpPr txBox="1"/>
          <p:nvPr/>
        </p:nvSpPr>
        <p:spPr>
          <a:xfrm>
            <a:off x="6080760" y="3017520"/>
            <a:ext cx="1097280" cy="640080"/>
          </a:xfrm>
          <a:prstGeom prst="rect">
            <a:avLst/>
          </a:prstGeom>
          <a:noFill/>
          <a:ln/>
        </p:spPr>
        <p:txBody>
          <a:bodyPr wrap="square" lIns="0" tIns="0" rIns="0" bIns="0" rtlCol="0" anchor="ctr"/>
          <a:lstStyle/>
          <a:p>
            <a:pPr indent="0" marL="0">
              <a:buNone/>
            </a:pPr>
            <a:r>
              <a:rPr lang="en-US" sz="3000" b="1" dirty="0">
                <a:solidFill>
                  <a:srgbClr val="1F4D36"/>
                </a:solidFill>
                <a:latin typeface="Cambria" pitchFamily="34" charset="0"/>
                <a:ea typeface="Cambria" pitchFamily="34" charset="-122"/>
                <a:cs typeface="Cambria" pitchFamily="34" charset="-120"/>
              </a:rPr>
              <a:t>92%</a:t>
            </a:r>
            <a:endParaRPr lang="en-US" sz="3000" dirty="0"/>
          </a:p>
        </p:txBody>
      </p:sp>
      <p:sp>
        <p:nvSpPr>
          <p:cNvPr id="13" name="Text 10"/>
          <p:cNvSpPr txBox="1"/>
          <p:nvPr/>
        </p:nvSpPr>
        <p:spPr>
          <a:xfrm>
            <a:off x="7132320" y="3017520"/>
            <a:ext cx="411480" cy="640080"/>
          </a:xfrm>
          <a:prstGeom prst="rect">
            <a:avLst/>
          </a:prstGeom>
          <a:noFill/>
          <a:ln/>
        </p:spPr>
        <p:txBody>
          <a:bodyPr wrap="square" lIns="0" tIns="0" rIns="0" bIns="0" rtlCol="0" anchor="ctr"/>
          <a:lstStyle/>
          <a:p>
            <a:pPr algn="ctr" indent="0" marL="0">
              <a:buNone/>
            </a:pPr>
            <a:r>
              <a:rPr lang="en-US" sz="2200" dirty="0">
                <a:solidFill>
                  <a:srgbClr val="5B6B62"/>
                </a:solidFill>
                <a:latin typeface="Calibri" pitchFamily="34" charset="0"/>
                <a:ea typeface="Calibri" pitchFamily="34" charset="-122"/>
                <a:cs typeface="Calibri" pitchFamily="34" charset="-120"/>
              </a:rPr>
              <a:t>→</a:t>
            </a:r>
            <a:endParaRPr lang="en-US" sz="2200" dirty="0"/>
          </a:p>
        </p:txBody>
      </p:sp>
      <p:sp>
        <p:nvSpPr>
          <p:cNvPr id="14" name="Text 11"/>
          <p:cNvSpPr txBox="1"/>
          <p:nvPr/>
        </p:nvSpPr>
        <p:spPr>
          <a:xfrm>
            <a:off x="7543800" y="3017520"/>
            <a:ext cx="1097280" cy="640080"/>
          </a:xfrm>
          <a:prstGeom prst="rect">
            <a:avLst/>
          </a:prstGeom>
          <a:noFill/>
          <a:ln/>
        </p:spPr>
        <p:txBody>
          <a:bodyPr wrap="square" lIns="0" tIns="0" rIns="0" bIns="0" rtlCol="0" anchor="ctr"/>
          <a:lstStyle/>
          <a:p>
            <a:pPr indent="0" marL="0">
              <a:buNone/>
            </a:pPr>
            <a:r>
              <a:rPr lang="en-US" sz="3000" b="1" dirty="0">
                <a:solidFill>
                  <a:srgbClr val="C8511B"/>
                </a:solidFill>
                <a:latin typeface="Cambria" pitchFamily="34" charset="0"/>
                <a:ea typeface="Cambria" pitchFamily="34" charset="-122"/>
                <a:cs typeface="Cambria" pitchFamily="34" charset="-120"/>
              </a:rPr>
              <a:t>33%</a:t>
            </a:r>
            <a:endParaRPr lang="en-US" sz="3000" dirty="0"/>
          </a:p>
        </p:txBody>
      </p:sp>
      <p:sp>
        <p:nvSpPr>
          <p:cNvPr id="15" name="Shape 12"/>
          <p:cNvSpPr/>
          <p:nvPr/>
        </p:nvSpPr>
        <p:spPr>
          <a:xfrm>
            <a:off x="5897880" y="4023360"/>
            <a:ext cx="2834640" cy="731520"/>
          </a:xfrm>
          <a:prstGeom prst="roundRect">
            <a:avLst>
              <a:gd name="adj" fmla="val 12500"/>
            </a:avLst>
          </a:prstGeom>
          <a:solidFill>
            <a:srgbClr val="FBEDE5"/>
          </a:solidFill>
          <a:ln/>
        </p:spPr>
      </p:sp>
      <p:sp>
        <p:nvSpPr>
          <p:cNvPr id="16" name="Text 13"/>
          <p:cNvSpPr txBox="1"/>
          <p:nvPr/>
        </p:nvSpPr>
        <p:spPr>
          <a:xfrm>
            <a:off x="6035040" y="4023360"/>
            <a:ext cx="2606040" cy="731520"/>
          </a:xfrm>
          <a:prstGeom prst="rect">
            <a:avLst/>
          </a:prstGeom>
          <a:noFill/>
          <a:ln/>
        </p:spPr>
        <p:txBody>
          <a:bodyPr wrap="square" lIns="0" tIns="0" rIns="0" bIns="0" rtlCol="0" anchor="ctr"/>
          <a:lstStyle/>
          <a:p>
            <a:pPr indent="0" marL="0">
              <a:buNone/>
            </a:pPr>
            <a:r>
              <a:rPr lang="en-US" sz="1200" b="1" dirty="0">
                <a:solidFill>
                  <a:srgbClr val="1E2B24"/>
                </a:solidFill>
                <a:latin typeface="Calibri" pitchFamily="34" charset="0"/>
                <a:ea typeface="Calibri" pitchFamily="34" charset="-122"/>
                <a:cs typeface="Calibri" pitchFamily="34" charset="-120"/>
              </a:rPr>
              <a:t>Spread between counters: 3.2 pp </a:t>
            </a:r>
            <a:pPr indent="0" marL="0">
              <a:buNone/>
            </a:pPr>
            <a:r>
              <a:rPr lang="en-US" sz="1200" dirty="0">
                <a:solidFill>
                  <a:srgbClr val="1E2B24"/>
                </a:solidFill>
                <a:latin typeface="Calibri" pitchFamily="34" charset="0"/>
                <a:ea typeface="Calibri" pitchFamily="34" charset="-122"/>
                <a:cs typeface="Calibri" pitchFamily="34" charset="-120"/>
              </a:rPr>
              <a:t>(not significant)</a:t>
            </a:r>
            <a:endParaRPr lang="en-US" sz="1200" dirty="0"/>
          </a:p>
        </p:txBody>
      </p:sp>
      <p:sp>
        <p:nvSpPr>
          <p:cNvPr id="17" name="Text 14"/>
          <p:cNvSpPr txBox="1"/>
          <p:nvPr/>
        </p:nvSpPr>
        <p:spPr>
          <a:xfrm>
            <a:off x="8412480" y="4773168"/>
            <a:ext cx="365760" cy="228600"/>
          </a:xfrm>
          <a:prstGeom prst="rect">
            <a:avLst/>
          </a:prstGeom>
          <a:noFill/>
          <a:ln/>
        </p:spPr>
        <p:txBody>
          <a:bodyPr wrap="square" lIns="0" tIns="0" rIns="0" bIns="0" rtlCol="0" anchor="ctr"/>
          <a:lstStyle/>
          <a:p>
            <a:pPr algn="r" indent="0" marL="0">
              <a:buNone/>
            </a:pPr>
            <a:r>
              <a:rPr lang="en-US" sz="1000" dirty="0">
                <a:solidFill>
                  <a:srgbClr val="5B6B6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291D"/>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Detection errors behind the gap</a:t>
            </a:r>
            <a:endParaRPr lang="en-US" sz="2800" dirty="0"/>
          </a:p>
        </p:txBody>
      </p:sp>
      <p:graphicFrame>
        <p:nvGraphicFramePr>
          <p:cNvPr id="3" name="Chart 0" descr=""/>
          <p:cNvGraphicFramePr/>
          <p:nvPr/>
        </p:nvGraphicFramePr>
        <p:xfrm>
          <a:off x="274320" y="868680"/>
          <a:ext cx="3017520" cy="28803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3566160" y="1005840"/>
            <a:ext cx="548640" cy="548640"/>
          </a:xfrm>
          <a:prstGeom prst="ellipse">
            <a:avLst/>
          </a:prstGeom>
          <a:solidFill>
            <a:srgbClr val="C8511B"/>
          </a:solidFill>
          <a:ln w="12700">
            <a:solidFill>
              <a:srgbClr val="C8511B"/>
            </a:solidFill>
            <a:prstDash val="solid"/>
          </a:ln>
        </p:spPr>
      </p:sp>
      <p:pic>
        <p:nvPicPr>
          <p:cNvPr id="5" name="Image 0" descr="preencoded.png">    </p:cNvPr>
          <p:cNvPicPr>
            <a:picLocks noChangeAspect="1"/>
          </p:cNvPicPr>
          <p:nvPr/>
        </p:nvPicPr>
        <p:blipFill>
          <a:blip r:embed="rId2"/>
          <a:stretch>
            <a:fillRect/>
          </a:stretch>
        </p:blipFill>
        <p:spPr>
          <a:xfrm>
            <a:off x="3708806" y="1148486"/>
            <a:ext cx="263347" cy="263347"/>
          </a:xfrm>
          <a:prstGeom prst="rect">
            <a:avLst/>
          </a:prstGeom>
        </p:spPr>
      </p:pic>
      <p:sp>
        <p:nvSpPr>
          <p:cNvPr id="6" name="Text 2"/>
          <p:cNvSpPr txBox="1"/>
          <p:nvPr/>
        </p:nvSpPr>
        <p:spPr>
          <a:xfrm>
            <a:off x="4251960" y="960120"/>
            <a:ext cx="4480560" cy="365760"/>
          </a:xfrm>
          <a:prstGeom prst="rect">
            <a:avLst/>
          </a:prstGeom>
          <a:noFill/>
          <a:ln/>
        </p:spPr>
        <p:txBody>
          <a:bodyPr wrap="square" lIns="0" tIns="0" rIns="0" bIns="0" rtlCol="0" anchor="ctr"/>
          <a:lstStyle/>
          <a:p>
            <a:pPr indent="0" marL="0">
              <a:buNone/>
            </a:pPr>
            <a:r>
              <a:rPr lang="en-US" sz="2000" b="1" dirty="0">
                <a:solidFill>
                  <a:srgbClr val="F2A36B"/>
                </a:solidFill>
                <a:latin typeface="Cambria" pitchFamily="34" charset="0"/>
                <a:ea typeface="Cambria" pitchFamily="34" charset="-122"/>
                <a:cs typeface="Cambria" pitchFamily="34" charset="-120"/>
              </a:rPr>
              <a:t>22.7%</a:t>
            </a:r>
            <a:endParaRPr lang="en-US" sz="2000" dirty="0"/>
          </a:p>
        </p:txBody>
      </p:sp>
      <p:sp>
        <p:nvSpPr>
          <p:cNvPr id="7" name="Text 3"/>
          <p:cNvSpPr txBox="1"/>
          <p:nvPr/>
        </p:nvSpPr>
        <p:spPr>
          <a:xfrm>
            <a:off x="4251960" y="1325880"/>
            <a:ext cx="4480560" cy="274320"/>
          </a:xfrm>
          <a:prstGeom prst="rect">
            <a:avLst/>
          </a:prstGeom>
          <a:noFill/>
          <a:ln/>
        </p:spPr>
        <p:txBody>
          <a:bodyPr wrap="square" lIns="0" tIns="0" rIns="0" bIns="0" rtlCol="0" anchor="ctr"/>
          <a:lstStyle/>
          <a:p>
            <a:pPr indent="0" marL="0">
              <a:buNone/>
            </a:pPr>
            <a:r>
              <a:rPr lang="en-US" sz="1250" dirty="0">
                <a:solidFill>
                  <a:srgbClr val="DCE8DE"/>
                </a:solidFill>
                <a:latin typeface="Calibri" pitchFamily="34" charset="0"/>
                <a:ea typeface="Calibri" pitchFamily="34" charset="-122"/>
                <a:cs typeface="Calibri" pitchFamily="34" charset="-120"/>
              </a:rPr>
              <a:t>of bunches not detected in any view (B4: 42.3%)</a:t>
            </a:r>
            <a:endParaRPr lang="en-US" sz="1250" dirty="0"/>
          </a:p>
        </p:txBody>
      </p:sp>
      <p:sp>
        <p:nvSpPr>
          <p:cNvPr id="8" name="Shape 4"/>
          <p:cNvSpPr/>
          <p:nvPr/>
        </p:nvSpPr>
        <p:spPr>
          <a:xfrm>
            <a:off x="3566160" y="1874520"/>
            <a:ext cx="548640" cy="548640"/>
          </a:xfrm>
          <a:prstGeom prst="ellipse">
            <a:avLst/>
          </a:prstGeom>
          <a:solidFill>
            <a:srgbClr val="1F4D36"/>
          </a:solidFill>
          <a:ln w="12700">
            <a:solidFill>
              <a:srgbClr val="1F4D36"/>
            </a:solidFill>
            <a:prstDash val="solid"/>
          </a:ln>
        </p:spPr>
      </p:sp>
      <p:pic>
        <p:nvPicPr>
          <p:cNvPr id="9" name="Image 1" descr="preencoded.png">    </p:cNvPr>
          <p:cNvPicPr>
            <a:picLocks noChangeAspect="1"/>
          </p:cNvPicPr>
          <p:nvPr/>
        </p:nvPicPr>
        <p:blipFill>
          <a:blip r:embed="rId3"/>
          <a:stretch>
            <a:fillRect/>
          </a:stretch>
        </p:blipFill>
        <p:spPr>
          <a:xfrm>
            <a:off x="3708806" y="2017166"/>
            <a:ext cx="263347" cy="263347"/>
          </a:xfrm>
          <a:prstGeom prst="rect">
            <a:avLst/>
          </a:prstGeom>
        </p:spPr>
      </p:pic>
      <p:sp>
        <p:nvSpPr>
          <p:cNvPr id="10" name="Text 5"/>
          <p:cNvSpPr txBox="1"/>
          <p:nvPr/>
        </p:nvSpPr>
        <p:spPr>
          <a:xfrm>
            <a:off x="4251960" y="1828800"/>
            <a:ext cx="4480560" cy="365760"/>
          </a:xfrm>
          <a:prstGeom prst="rect">
            <a:avLst/>
          </a:prstGeom>
          <a:noFill/>
          <a:ln/>
        </p:spPr>
        <p:txBody>
          <a:bodyPr wrap="square" lIns="0" tIns="0" rIns="0" bIns="0" rtlCol="0" anchor="ctr"/>
          <a:lstStyle/>
          <a:p>
            <a:pPr indent="0" marL="0">
              <a:buNone/>
            </a:pPr>
            <a:r>
              <a:rPr lang="en-US" sz="2000" b="1" dirty="0">
                <a:solidFill>
                  <a:srgbClr val="F2A36B"/>
                </a:solidFill>
                <a:latin typeface="Cambria" pitchFamily="34" charset="0"/>
                <a:ea typeface="Cambria" pitchFamily="34" charset="-122"/>
                <a:cs typeface="Cambria" pitchFamily="34" charset="-120"/>
              </a:rPr>
              <a:t>158</a:t>
            </a:r>
            <a:endParaRPr lang="en-US" sz="2000" dirty="0"/>
          </a:p>
        </p:txBody>
      </p:sp>
      <p:sp>
        <p:nvSpPr>
          <p:cNvPr id="11" name="Text 6"/>
          <p:cNvSpPr txBox="1"/>
          <p:nvPr/>
        </p:nvSpPr>
        <p:spPr>
          <a:xfrm>
            <a:off x="4251960" y="2194560"/>
            <a:ext cx="4480560" cy="274320"/>
          </a:xfrm>
          <a:prstGeom prst="rect">
            <a:avLst/>
          </a:prstGeom>
          <a:noFill/>
          <a:ln/>
        </p:spPr>
        <p:txBody>
          <a:bodyPr wrap="square" lIns="0" tIns="0" rIns="0" bIns="0" rtlCol="0" anchor="ctr"/>
          <a:lstStyle/>
          <a:p>
            <a:pPr indent="0" marL="0">
              <a:buNone/>
            </a:pPr>
            <a:r>
              <a:rPr lang="en-US" sz="1250" dirty="0">
                <a:solidFill>
                  <a:srgbClr val="DCE8DE"/>
                </a:solidFill>
                <a:latin typeface="Calibri" pitchFamily="34" charset="0"/>
                <a:ea typeface="Calibri" pitchFamily="34" charset="-122"/>
                <a:cs typeface="Calibri" pitchFamily="34" charset="-120"/>
              </a:rPr>
              <a:t>B2 appearances labelled as B3</a:t>
            </a:r>
            <a:endParaRPr lang="en-US" sz="1250" dirty="0"/>
          </a:p>
        </p:txBody>
      </p:sp>
      <p:sp>
        <p:nvSpPr>
          <p:cNvPr id="12" name="Shape 7"/>
          <p:cNvSpPr/>
          <p:nvPr/>
        </p:nvSpPr>
        <p:spPr>
          <a:xfrm>
            <a:off x="3566160" y="2743200"/>
            <a:ext cx="548640" cy="548640"/>
          </a:xfrm>
          <a:prstGeom prst="ellipse">
            <a:avLst/>
          </a:prstGeom>
          <a:solidFill>
            <a:srgbClr val="1F4D36"/>
          </a:solidFill>
          <a:ln w="12700">
            <a:solidFill>
              <a:srgbClr val="1F4D36"/>
            </a:solidFill>
            <a:prstDash val="solid"/>
          </a:ln>
        </p:spPr>
      </p:sp>
      <p:pic>
        <p:nvPicPr>
          <p:cNvPr id="13" name="Image 2" descr="preencoded.png">    </p:cNvPr>
          <p:cNvPicPr>
            <a:picLocks noChangeAspect="1"/>
          </p:cNvPicPr>
          <p:nvPr/>
        </p:nvPicPr>
        <p:blipFill>
          <a:blip r:embed="rId4"/>
          <a:stretch>
            <a:fillRect/>
          </a:stretch>
        </p:blipFill>
        <p:spPr>
          <a:xfrm>
            <a:off x="3708806" y="2885846"/>
            <a:ext cx="263347" cy="263347"/>
          </a:xfrm>
          <a:prstGeom prst="rect">
            <a:avLst/>
          </a:prstGeom>
        </p:spPr>
      </p:pic>
      <p:sp>
        <p:nvSpPr>
          <p:cNvPr id="14" name="Text 8"/>
          <p:cNvSpPr txBox="1"/>
          <p:nvPr/>
        </p:nvSpPr>
        <p:spPr>
          <a:xfrm>
            <a:off x="4251960" y="2697480"/>
            <a:ext cx="4480560" cy="365760"/>
          </a:xfrm>
          <a:prstGeom prst="rect">
            <a:avLst/>
          </a:prstGeom>
          <a:noFill/>
          <a:ln/>
        </p:spPr>
        <p:txBody>
          <a:bodyPr wrap="square" lIns="0" tIns="0" rIns="0" bIns="0" rtlCol="0" anchor="ctr"/>
          <a:lstStyle/>
          <a:p>
            <a:pPr indent="0" marL="0">
              <a:buNone/>
            </a:pPr>
            <a:r>
              <a:rPr lang="en-US" sz="2000" b="1" dirty="0">
                <a:solidFill>
                  <a:srgbClr val="F2A36B"/>
                </a:solidFill>
                <a:latin typeface="Cambria" pitchFamily="34" charset="0"/>
                <a:ea typeface="Cambria" pitchFamily="34" charset="-122"/>
                <a:cs typeface="Cambria" pitchFamily="34" charset="-120"/>
              </a:rPr>
              <a:t>+1.4 pp</a:t>
            </a:r>
            <a:endParaRPr lang="en-US" sz="2000" dirty="0"/>
          </a:p>
        </p:txBody>
      </p:sp>
      <p:sp>
        <p:nvSpPr>
          <p:cNvPr id="15" name="Text 9"/>
          <p:cNvSpPr txBox="1"/>
          <p:nvPr/>
        </p:nvSpPr>
        <p:spPr>
          <a:xfrm>
            <a:off x="4251960" y="3063240"/>
            <a:ext cx="4480560" cy="274320"/>
          </a:xfrm>
          <a:prstGeom prst="rect">
            <a:avLst/>
          </a:prstGeom>
          <a:noFill/>
          <a:ln/>
        </p:spPr>
        <p:txBody>
          <a:bodyPr wrap="square" lIns="0" tIns="0" rIns="0" bIns="0" rtlCol="0" anchor="ctr"/>
          <a:lstStyle/>
          <a:p>
            <a:pPr indent="0" marL="0">
              <a:buNone/>
            </a:pPr>
            <a:r>
              <a:rPr lang="en-US" sz="1250" dirty="0">
                <a:solidFill>
                  <a:srgbClr val="DCE8DE"/>
                </a:solidFill>
                <a:latin typeface="Calibri" pitchFamily="34" charset="0"/>
                <a:ea typeface="Calibri" pitchFamily="34" charset="-122"/>
                <a:cs typeface="Calibri" pitchFamily="34" charset="-120"/>
              </a:rPr>
              <a:t>gained by the 67-feature set (not significant)</a:t>
            </a:r>
            <a:endParaRPr lang="en-US" sz="1250" dirty="0"/>
          </a:p>
        </p:txBody>
      </p:sp>
      <p:sp>
        <p:nvSpPr>
          <p:cNvPr id="16" name="Text 10"/>
          <p:cNvSpPr txBox="1"/>
          <p:nvPr/>
        </p:nvSpPr>
        <p:spPr>
          <a:xfrm>
            <a:off x="457200" y="3840480"/>
            <a:ext cx="82296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Class ±1 gap in the sensitivity checks</a:t>
            </a:r>
            <a:endParaRPr lang="en-US" sz="1300" dirty="0"/>
          </a:p>
        </p:txBody>
      </p:sp>
      <p:sp>
        <p:nvSpPr>
          <p:cNvPr id="17" name="Shape 11"/>
          <p:cNvSpPr/>
          <p:nvPr/>
        </p:nvSpPr>
        <p:spPr>
          <a:xfrm>
            <a:off x="457200" y="4160520"/>
            <a:ext cx="1920240" cy="548640"/>
          </a:xfrm>
          <a:prstGeom prst="roundRect">
            <a:avLst>
              <a:gd name="adj" fmla="val 13333"/>
            </a:avLst>
          </a:prstGeom>
          <a:solidFill>
            <a:srgbClr val="1F4D36"/>
          </a:solidFill>
          <a:ln/>
        </p:spPr>
      </p:sp>
      <p:sp>
        <p:nvSpPr>
          <p:cNvPr id="18" name="Text 12"/>
          <p:cNvSpPr txBox="1"/>
          <p:nvPr/>
        </p:nvSpPr>
        <p:spPr>
          <a:xfrm>
            <a:off x="457200" y="4160520"/>
            <a:ext cx="1920240" cy="548640"/>
          </a:xfrm>
          <a:prstGeom prst="rect">
            <a:avLst/>
          </a:prstGeom>
          <a:noFill/>
          <a:ln/>
        </p:spPr>
        <p:txBody>
          <a:bodyPr wrap="square" lIns="0" tIns="0" rIns="0" bIns="0" rtlCol="0" anchor="ctr"/>
          <a:lstStyle/>
          <a:p>
            <a:pPr algn="ctr" indent="0" marL="0">
              <a:buNone/>
            </a:pPr>
            <a:r>
              <a:rPr lang="en-US" sz="1400" b="1" dirty="0">
                <a:solidFill>
                  <a:srgbClr val="F2A36B"/>
                </a:solidFill>
                <a:latin typeface="Calibri" pitchFamily="34" charset="0"/>
                <a:ea typeface="Calibri" pitchFamily="34" charset="-122"/>
                <a:cs typeface="Calibri" pitchFamily="34" charset="-120"/>
              </a:rPr>
              <a:t>23.6 pp  </a:t>
            </a:r>
            <a:pPr algn="ctr" indent="0" marL="0">
              <a:buNone/>
            </a:pPr>
            <a:r>
              <a:rPr lang="en-US" sz="1000" dirty="0">
                <a:solidFill>
                  <a:srgbClr val="FFFFFF"/>
                </a:solidFill>
                <a:latin typeface="Calibri" pitchFamily="34" charset="0"/>
                <a:ea typeface="Calibri" pitchFamily="34" charset="-122"/>
                <a:cs typeface="Calibri" pitchFamily="34" charset="-120"/>
              </a:rPr>
              <a:t>Validation selection</a:t>
            </a:r>
            <a:endParaRPr lang="en-US" sz="1400" dirty="0"/>
          </a:p>
        </p:txBody>
      </p:sp>
      <p:sp>
        <p:nvSpPr>
          <p:cNvPr id="19" name="Shape 13"/>
          <p:cNvSpPr/>
          <p:nvPr/>
        </p:nvSpPr>
        <p:spPr>
          <a:xfrm>
            <a:off x="2532888" y="4160520"/>
            <a:ext cx="1920240" cy="548640"/>
          </a:xfrm>
          <a:prstGeom prst="roundRect">
            <a:avLst>
              <a:gd name="adj" fmla="val 13333"/>
            </a:avLst>
          </a:prstGeom>
          <a:solidFill>
            <a:srgbClr val="1F4D36"/>
          </a:solidFill>
          <a:ln/>
        </p:spPr>
      </p:sp>
      <p:sp>
        <p:nvSpPr>
          <p:cNvPr id="20" name="Text 14"/>
          <p:cNvSpPr txBox="1"/>
          <p:nvPr/>
        </p:nvSpPr>
        <p:spPr>
          <a:xfrm>
            <a:off x="2532888" y="4160520"/>
            <a:ext cx="1920240" cy="548640"/>
          </a:xfrm>
          <a:prstGeom prst="rect">
            <a:avLst/>
          </a:prstGeom>
          <a:noFill/>
          <a:ln/>
        </p:spPr>
        <p:txBody>
          <a:bodyPr wrap="square" lIns="0" tIns="0" rIns="0" bIns="0" rtlCol="0" anchor="ctr"/>
          <a:lstStyle/>
          <a:p>
            <a:pPr algn="ctr" indent="0" marL="0">
              <a:buNone/>
            </a:pPr>
            <a:r>
              <a:rPr lang="en-US" sz="1400" b="1" dirty="0">
                <a:solidFill>
                  <a:srgbClr val="F2A36B"/>
                </a:solidFill>
                <a:latin typeface="Calibri" pitchFamily="34" charset="0"/>
                <a:ea typeface="Calibri" pitchFamily="34" charset="-122"/>
                <a:cs typeface="Calibri" pitchFamily="34" charset="-120"/>
              </a:rPr>
              <a:t>25.0 pp  </a:t>
            </a:r>
            <a:pPr algn="ctr" indent="0" marL="0">
              <a:buNone/>
            </a:pPr>
            <a:r>
              <a:rPr lang="en-US" sz="1000" dirty="0">
                <a:solidFill>
                  <a:srgbClr val="FFFFFF"/>
                </a:solidFill>
                <a:latin typeface="Calibri" pitchFamily="34" charset="0"/>
                <a:ea typeface="Calibri" pitchFamily="34" charset="-122"/>
                <a:cs typeface="Calibri" pitchFamily="34" charset="-120"/>
              </a:rPr>
              <a:t>5×5 cross-validation</a:t>
            </a:r>
            <a:endParaRPr lang="en-US" sz="1400" dirty="0"/>
          </a:p>
        </p:txBody>
      </p:sp>
      <p:sp>
        <p:nvSpPr>
          <p:cNvPr id="21" name="Shape 15"/>
          <p:cNvSpPr/>
          <p:nvPr/>
        </p:nvSpPr>
        <p:spPr>
          <a:xfrm>
            <a:off x="4608576" y="4160520"/>
            <a:ext cx="1920240" cy="548640"/>
          </a:xfrm>
          <a:prstGeom prst="roundRect">
            <a:avLst>
              <a:gd name="adj" fmla="val 13333"/>
            </a:avLst>
          </a:prstGeom>
          <a:solidFill>
            <a:srgbClr val="1F4D36"/>
          </a:solidFill>
          <a:ln/>
        </p:spPr>
      </p:sp>
      <p:sp>
        <p:nvSpPr>
          <p:cNvPr id="22" name="Text 16"/>
          <p:cNvSpPr txBox="1"/>
          <p:nvPr/>
        </p:nvSpPr>
        <p:spPr>
          <a:xfrm>
            <a:off x="4608576" y="4160520"/>
            <a:ext cx="1920240" cy="548640"/>
          </a:xfrm>
          <a:prstGeom prst="rect">
            <a:avLst/>
          </a:prstGeom>
          <a:noFill/>
          <a:ln/>
        </p:spPr>
        <p:txBody>
          <a:bodyPr wrap="square" lIns="0" tIns="0" rIns="0" bIns="0" rtlCol="0" anchor="ctr"/>
          <a:lstStyle/>
          <a:p>
            <a:pPr algn="ctr" indent="0" marL="0">
              <a:buNone/>
            </a:pPr>
            <a:r>
              <a:rPr lang="en-US" sz="1400" b="1" dirty="0">
                <a:solidFill>
                  <a:srgbClr val="F2A36B"/>
                </a:solidFill>
                <a:latin typeface="Calibri" pitchFamily="34" charset="0"/>
                <a:ea typeface="Calibri" pitchFamily="34" charset="-122"/>
                <a:cs typeface="Calibri" pitchFamily="34" charset="-120"/>
              </a:rPr>
              <a:t>23.9 pp  </a:t>
            </a:r>
            <a:pPr algn="ctr" indent="0" marL="0">
              <a:buNone/>
            </a:pPr>
            <a:r>
              <a:rPr lang="en-US" sz="1000" dirty="0">
                <a:solidFill>
                  <a:srgbClr val="FFFFFF"/>
                </a:solidFill>
                <a:latin typeface="Calibri" pitchFamily="34" charset="0"/>
                <a:ea typeface="Calibri" pitchFamily="34" charset="-122"/>
                <a:cs typeface="Calibri" pitchFamily="34" charset="-120"/>
              </a:rPr>
              <a:t>YOLO11m detector</a:t>
            </a:r>
            <a:endParaRPr lang="en-US" sz="1400" dirty="0"/>
          </a:p>
        </p:txBody>
      </p:sp>
      <p:sp>
        <p:nvSpPr>
          <p:cNvPr id="23" name="Shape 17"/>
          <p:cNvSpPr/>
          <p:nvPr/>
        </p:nvSpPr>
        <p:spPr>
          <a:xfrm>
            <a:off x="6684264" y="4160520"/>
            <a:ext cx="1920240" cy="548640"/>
          </a:xfrm>
          <a:prstGeom prst="roundRect">
            <a:avLst>
              <a:gd name="adj" fmla="val 13333"/>
            </a:avLst>
          </a:prstGeom>
          <a:solidFill>
            <a:srgbClr val="1F4D36"/>
          </a:solidFill>
          <a:ln/>
        </p:spPr>
      </p:sp>
      <p:sp>
        <p:nvSpPr>
          <p:cNvPr id="24" name="Text 18"/>
          <p:cNvSpPr txBox="1"/>
          <p:nvPr/>
        </p:nvSpPr>
        <p:spPr>
          <a:xfrm>
            <a:off x="6684264" y="4160520"/>
            <a:ext cx="1920240" cy="548640"/>
          </a:xfrm>
          <a:prstGeom prst="rect">
            <a:avLst/>
          </a:prstGeom>
          <a:noFill/>
          <a:ln/>
        </p:spPr>
        <p:txBody>
          <a:bodyPr wrap="square" lIns="0" tIns="0" rIns="0" bIns="0" rtlCol="0" anchor="ctr"/>
          <a:lstStyle/>
          <a:p>
            <a:pPr algn="ctr" indent="0" marL="0">
              <a:buNone/>
            </a:pPr>
            <a:r>
              <a:rPr lang="en-US" sz="1400" b="1" dirty="0">
                <a:solidFill>
                  <a:srgbClr val="F2A36B"/>
                </a:solidFill>
                <a:latin typeface="Calibri" pitchFamily="34" charset="0"/>
                <a:ea typeface="Calibri" pitchFamily="34" charset="-122"/>
                <a:cs typeface="Calibri" pitchFamily="34" charset="-120"/>
              </a:rPr>
              <a:t>23.4 pp  </a:t>
            </a:r>
            <a:pPr algn="ctr" indent="0" marL="0">
              <a:buNone/>
            </a:pPr>
            <a:r>
              <a:rPr lang="en-US" sz="1000" dirty="0">
                <a:solidFill>
                  <a:srgbClr val="FFFFFF"/>
                </a:solidFill>
                <a:latin typeface="Calibri" pitchFamily="34" charset="0"/>
                <a:ea typeface="Calibri" pitchFamily="34" charset="-122"/>
                <a:cs typeface="Calibri" pitchFamily="34" charset="-120"/>
              </a:rPr>
              <a:t>4 YOLO26 checkpoints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B24"/>
                </a:solidFill>
                <a:latin typeface="Cambria" pitchFamily="34" charset="0"/>
                <a:ea typeface="Cambria" pitchFamily="34" charset="-122"/>
                <a:cs typeface="Cambria" pitchFamily="34" charset="-120"/>
              </a:rPr>
              <a:t>Takeaways</a:t>
            </a:r>
            <a:endParaRPr lang="en-US" sz="2800" dirty="0"/>
          </a:p>
        </p:txBody>
      </p:sp>
      <p:sp>
        <p:nvSpPr>
          <p:cNvPr id="3" name="Shape 1"/>
          <p:cNvSpPr/>
          <p:nvPr/>
        </p:nvSpPr>
        <p:spPr>
          <a:xfrm>
            <a:off x="457200" y="1097280"/>
            <a:ext cx="2606040" cy="2377440"/>
          </a:xfrm>
          <a:prstGeom prst="roundRect">
            <a:avLst>
              <a:gd name="adj" fmla="val 3846"/>
            </a:avLst>
          </a:prstGeom>
          <a:solidFill>
            <a:srgbClr val="EEF4EF"/>
          </a:solidFill>
          <a:ln/>
        </p:spPr>
      </p:sp>
      <p:sp>
        <p:nvSpPr>
          <p:cNvPr id="4" name="Shape 2"/>
          <p:cNvSpPr/>
          <p:nvPr/>
        </p:nvSpPr>
        <p:spPr>
          <a:xfrm>
            <a:off x="1389888" y="1325880"/>
            <a:ext cx="731520" cy="731520"/>
          </a:xfrm>
          <a:prstGeom prst="ellipse">
            <a:avLst/>
          </a:prstGeom>
          <a:solidFill>
            <a:srgbClr val="C8511B"/>
          </a:solidFill>
          <a:ln w="12700">
            <a:solidFill>
              <a:srgbClr val="C8511B"/>
            </a:solidFill>
            <a:prstDash val="solid"/>
          </a:ln>
        </p:spPr>
      </p:sp>
      <p:pic>
        <p:nvPicPr>
          <p:cNvPr id="5" name="Image 0" descr="preencoded.png">    </p:cNvPr>
          <p:cNvPicPr>
            <a:picLocks noChangeAspect="1"/>
          </p:cNvPicPr>
          <p:nvPr/>
        </p:nvPicPr>
        <p:blipFill>
          <a:blip r:embed="rId1"/>
          <a:stretch>
            <a:fillRect/>
          </a:stretch>
        </p:blipFill>
        <p:spPr>
          <a:xfrm>
            <a:off x="1580083" y="1516075"/>
            <a:ext cx="351130" cy="351130"/>
          </a:xfrm>
          <a:prstGeom prst="rect">
            <a:avLst/>
          </a:prstGeom>
        </p:spPr>
      </p:pic>
      <p:sp>
        <p:nvSpPr>
          <p:cNvPr id="6" name="Text 3"/>
          <p:cNvSpPr txBox="1"/>
          <p:nvPr/>
        </p:nvSpPr>
        <p:spPr>
          <a:xfrm>
            <a:off x="594360" y="2240280"/>
            <a:ext cx="2331720" cy="411480"/>
          </a:xfrm>
          <a:prstGeom prst="rect">
            <a:avLst/>
          </a:prstGeom>
          <a:noFill/>
          <a:ln/>
        </p:spPr>
        <p:txBody>
          <a:bodyPr wrap="square" lIns="0" tIns="0" rIns="0" bIns="0" rtlCol="0" anchor="ctr"/>
          <a:lstStyle/>
          <a:p>
            <a:pPr algn="ctr" indent="0" marL="0">
              <a:buNone/>
            </a:pPr>
            <a:r>
              <a:rPr lang="en-US" sz="1800" b="1" dirty="0">
                <a:solidFill>
                  <a:srgbClr val="C8511B"/>
                </a:solidFill>
                <a:latin typeface="Cambria" pitchFamily="34" charset="0"/>
                <a:ea typeface="Cambria" pitchFamily="34" charset="-122"/>
                <a:cs typeface="Cambria" pitchFamily="34" charset="-120"/>
              </a:rPr>
              <a:t>Input quality</a:t>
            </a:r>
            <a:endParaRPr lang="en-US" sz="1800" dirty="0"/>
          </a:p>
        </p:txBody>
      </p:sp>
      <p:sp>
        <p:nvSpPr>
          <p:cNvPr id="7" name="Text 4"/>
          <p:cNvSpPr txBox="1"/>
          <p:nvPr/>
        </p:nvSpPr>
        <p:spPr>
          <a:xfrm>
            <a:off x="594360" y="2697480"/>
            <a:ext cx="2331720" cy="548640"/>
          </a:xfrm>
          <a:prstGeom prst="rect">
            <a:avLst/>
          </a:prstGeom>
          <a:noFill/>
          <a:ln/>
        </p:spPr>
        <p:txBody>
          <a:bodyPr wrap="square" lIns="0" tIns="0" rIns="0" bIns="0" rtlCol="0" anchor="t"/>
          <a:lstStyle/>
          <a:p>
            <a:pPr algn="ctr" indent="0" marL="0">
              <a:buNone/>
            </a:pPr>
            <a:r>
              <a:rPr lang="en-US" sz="1300" dirty="0">
                <a:solidFill>
                  <a:srgbClr val="5B6B62"/>
                </a:solidFill>
                <a:latin typeface="Calibri" pitchFamily="34" charset="0"/>
                <a:ea typeface="Calibri" pitchFamily="34" charset="-122"/>
                <a:cs typeface="Calibri" pitchFamily="34" charset="-120"/>
              </a:rPr>
              <a:t>21.6 pp between input conditions; 3.2 pp between counters</a:t>
            </a:r>
            <a:endParaRPr lang="en-US" sz="1300" dirty="0"/>
          </a:p>
        </p:txBody>
      </p:sp>
      <p:sp>
        <p:nvSpPr>
          <p:cNvPr id="8" name="Shape 5"/>
          <p:cNvSpPr/>
          <p:nvPr/>
        </p:nvSpPr>
        <p:spPr>
          <a:xfrm>
            <a:off x="3246120" y="1097280"/>
            <a:ext cx="2606040" cy="2377440"/>
          </a:xfrm>
          <a:prstGeom prst="roundRect">
            <a:avLst>
              <a:gd name="adj" fmla="val 3846"/>
            </a:avLst>
          </a:prstGeom>
          <a:solidFill>
            <a:srgbClr val="EEF4EF"/>
          </a:solidFill>
          <a:ln/>
        </p:spPr>
      </p:sp>
      <p:sp>
        <p:nvSpPr>
          <p:cNvPr id="9" name="Shape 6"/>
          <p:cNvSpPr/>
          <p:nvPr/>
        </p:nvSpPr>
        <p:spPr>
          <a:xfrm>
            <a:off x="4178808" y="1325880"/>
            <a:ext cx="731520" cy="731520"/>
          </a:xfrm>
          <a:prstGeom prst="ellipse">
            <a:avLst/>
          </a:prstGeom>
          <a:solidFill>
            <a:srgbClr val="1F4D36"/>
          </a:solidFill>
          <a:ln w="12700">
            <a:solidFill>
              <a:srgbClr val="1F4D36"/>
            </a:solidFill>
            <a:prstDash val="solid"/>
          </a:ln>
        </p:spPr>
      </p:sp>
      <p:pic>
        <p:nvPicPr>
          <p:cNvPr id="10" name="Image 1" descr="preencoded.png">    </p:cNvPr>
          <p:cNvPicPr>
            <a:picLocks noChangeAspect="1"/>
          </p:cNvPicPr>
          <p:nvPr/>
        </p:nvPicPr>
        <p:blipFill>
          <a:blip r:embed="rId2"/>
          <a:stretch>
            <a:fillRect/>
          </a:stretch>
        </p:blipFill>
        <p:spPr>
          <a:xfrm>
            <a:off x="4369003" y="1516075"/>
            <a:ext cx="351130" cy="351130"/>
          </a:xfrm>
          <a:prstGeom prst="rect">
            <a:avLst/>
          </a:prstGeom>
        </p:spPr>
      </p:pic>
      <p:sp>
        <p:nvSpPr>
          <p:cNvPr id="11" name="Text 7"/>
          <p:cNvSpPr txBox="1"/>
          <p:nvPr/>
        </p:nvSpPr>
        <p:spPr>
          <a:xfrm>
            <a:off x="3383280" y="2240280"/>
            <a:ext cx="2331720" cy="411480"/>
          </a:xfrm>
          <a:prstGeom prst="rect">
            <a:avLst/>
          </a:prstGeom>
          <a:noFill/>
          <a:ln/>
        </p:spPr>
        <p:txBody>
          <a:bodyPr wrap="square" lIns="0" tIns="0" rIns="0" bIns="0" rtlCol="0" anchor="ctr"/>
          <a:lstStyle/>
          <a:p>
            <a:pPr algn="ctr" indent="0" marL="0">
              <a:buNone/>
            </a:pPr>
            <a:r>
              <a:rPr lang="en-US" sz="1800" b="1" dirty="0">
                <a:solidFill>
                  <a:srgbClr val="1F4D36"/>
                </a:solidFill>
                <a:latin typeface="Cambria" pitchFamily="34" charset="0"/>
                <a:ea typeface="Cambria" pitchFamily="34" charset="-122"/>
                <a:cs typeface="Cambria" pitchFamily="34" charset="-120"/>
              </a:rPr>
              <a:t>Class-specific loss</a:t>
            </a:r>
            <a:endParaRPr lang="en-US" sz="1800" dirty="0"/>
          </a:p>
        </p:txBody>
      </p:sp>
      <p:sp>
        <p:nvSpPr>
          <p:cNvPr id="12" name="Text 8"/>
          <p:cNvSpPr txBox="1"/>
          <p:nvPr/>
        </p:nvSpPr>
        <p:spPr>
          <a:xfrm>
            <a:off x="3383280" y="2697480"/>
            <a:ext cx="2331720" cy="548640"/>
          </a:xfrm>
          <a:prstGeom prst="rect">
            <a:avLst/>
          </a:prstGeom>
          <a:noFill/>
          <a:ln/>
        </p:spPr>
        <p:txBody>
          <a:bodyPr wrap="square" lIns="0" tIns="0" rIns="0" bIns="0" rtlCol="0" anchor="t"/>
          <a:lstStyle/>
          <a:p>
            <a:pPr algn="ctr" indent="0" marL="0">
              <a:buNone/>
            </a:pPr>
            <a:r>
              <a:rPr lang="en-US" sz="1300" dirty="0">
                <a:solidFill>
                  <a:srgbClr val="5B6B62"/>
                </a:solidFill>
                <a:latin typeface="Calibri" pitchFamily="34" charset="0"/>
                <a:ea typeface="Calibri" pitchFamily="34" charset="-122"/>
                <a:cs typeface="Calibri" pitchFamily="34" charset="-120"/>
              </a:rPr>
              <a:t>Largest for B3 and B4; B2 frequently read as B3</a:t>
            </a:r>
            <a:endParaRPr lang="en-US" sz="1300" dirty="0"/>
          </a:p>
        </p:txBody>
      </p:sp>
      <p:sp>
        <p:nvSpPr>
          <p:cNvPr id="13" name="Shape 9"/>
          <p:cNvSpPr/>
          <p:nvPr/>
        </p:nvSpPr>
        <p:spPr>
          <a:xfrm>
            <a:off x="6035040" y="1097280"/>
            <a:ext cx="2606040" cy="2377440"/>
          </a:xfrm>
          <a:prstGeom prst="roundRect">
            <a:avLst>
              <a:gd name="adj" fmla="val 3846"/>
            </a:avLst>
          </a:prstGeom>
          <a:solidFill>
            <a:srgbClr val="EEF4EF"/>
          </a:solidFill>
          <a:ln/>
        </p:spPr>
      </p:sp>
      <p:sp>
        <p:nvSpPr>
          <p:cNvPr id="14" name="Shape 10"/>
          <p:cNvSpPr/>
          <p:nvPr/>
        </p:nvSpPr>
        <p:spPr>
          <a:xfrm>
            <a:off x="6967728" y="1325880"/>
            <a:ext cx="731520" cy="731520"/>
          </a:xfrm>
          <a:prstGeom prst="ellipse">
            <a:avLst/>
          </a:prstGeom>
          <a:solidFill>
            <a:srgbClr val="12291D"/>
          </a:solidFill>
          <a:ln w="12700">
            <a:solidFill>
              <a:srgbClr val="12291D"/>
            </a:solidFill>
            <a:prstDash val="solid"/>
          </a:ln>
        </p:spPr>
      </p:sp>
      <p:pic>
        <p:nvPicPr>
          <p:cNvPr id="15" name="Image 2" descr="preencoded.png">    </p:cNvPr>
          <p:cNvPicPr>
            <a:picLocks noChangeAspect="1"/>
          </p:cNvPicPr>
          <p:nvPr/>
        </p:nvPicPr>
        <p:blipFill>
          <a:blip r:embed="rId3"/>
          <a:stretch>
            <a:fillRect/>
          </a:stretch>
        </p:blipFill>
        <p:spPr>
          <a:xfrm>
            <a:off x="7157923" y="1516075"/>
            <a:ext cx="351130" cy="351130"/>
          </a:xfrm>
          <a:prstGeom prst="rect">
            <a:avLst/>
          </a:prstGeom>
        </p:spPr>
      </p:pic>
      <p:sp>
        <p:nvSpPr>
          <p:cNvPr id="16" name="Text 11"/>
          <p:cNvSpPr txBox="1"/>
          <p:nvPr/>
        </p:nvSpPr>
        <p:spPr>
          <a:xfrm>
            <a:off x="6172200" y="2240280"/>
            <a:ext cx="2331720" cy="411480"/>
          </a:xfrm>
          <a:prstGeom prst="rect">
            <a:avLst/>
          </a:prstGeom>
          <a:noFill/>
          <a:ln/>
        </p:spPr>
        <p:txBody>
          <a:bodyPr wrap="square" lIns="0" tIns="0" rIns="0" bIns="0" rtlCol="0" anchor="ctr"/>
          <a:lstStyle/>
          <a:p>
            <a:pPr algn="ctr" indent="0" marL="0">
              <a:buNone/>
            </a:pPr>
            <a:r>
              <a:rPr lang="en-US" sz="1800" b="1" dirty="0">
                <a:solidFill>
                  <a:srgbClr val="12291D"/>
                </a:solidFill>
                <a:latin typeface="Cambria" pitchFamily="34" charset="0"/>
                <a:ea typeface="Cambria" pitchFamily="34" charset="-122"/>
                <a:cs typeface="Cambria" pitchFamily="34" charset="-120"/>
              </a:rPr>
              <a:t>Evaluation protocol</a:t>
            </a:r>
            <a:endParaRPr lang="en-US" sz="1800" dirty="0"/>
          </a:p>
        </p:txBody>
      </p:sp>
      <p:sp>
        <p:nvSpPr>
          <p:cNvPr id="17" name="Text 12"/>
          <p:cNvSpPr txBox="1"/>
          <p:nvPr/>
        </p:nvSpPr>
        <p:spPr>
          <a:xfrm>
            <a:off x="6172200" y="2697480"/>
            <a:ext cx="2331720" cy="548640"/>
          </a:xfrm>
          <a:prstGeom prst="rect">
            <a:avLst/>
          </a:prstGeom>
          <a:noFill/>
          <a:ln/>
        </p:spPr>
        <p:txBody>
          <a:bodyPr wrap="square" lIns="0" tIns="0" rIns="0" bIns="0" rtlCol="0" anchor="t"/>
          <a:lstStyle/>
          <a:p>
            <a:pPr algn="ctr" indent="0" marL="0">
              <a:buNone/>
            </a:pPr>
            <a:r>
              <a:rPr lang="en-US" sz="1300" dirty="0">
                <a:solidFill>
                  <a:srgbClr val="5B6B62"/>
                </a:solidFill>
                <a:latin typeface="Calibri" pitchFamily="34" charset="0"/>
                <a:ea typeface="Calibri" pitchFamily="34" charset="-122"/>
                <a:cs typeface="Calibri" pitchFamily="34" charset="-120"/>
              </a:rPr>
              <a:t>Report GT and detector inputs, class and tree metrics</a:t>
            </a:r>
            <a:endParaRPr lang="en-US" sz="1300" dirty="0"/>
          </a:p>
        </p:txBody>
      </p:sp>
      <p:sp>
        <p:nvSpPr>
          <p:cNvPr id="18" name="Text 13"/>
          <p:cNvSpPr txBox="1"/>
          <p:nvPr/>
        </p:nvSpPr>
        <p:spPr>
          <a:xfrm>
            <a:off x="457200" y="3749040"/>
            <a:ext cx="8229600" cy="365760"/>
          </a:xfrm>
          <a:prstGeom prst="rect">
            <a:avLst/>
          </a:prstGeom>
          <a:noFill/>
          <a:ln/>
        </p:spPr>
        <p:txBody>
          <a:bodyPr wrap="square" lIns="0" tIns="0" rIns="0" bIns="0" rtlCol="0" anchor="ctr"/>
          <a:lstStyle/>
          <a:p>
            <a:pPr indent="0" marL="0">
              <a:buNone/>
            </a:pPr>
            <a:r>
              <a:rPr lang="en-US" sz="1400" b="1" dirty="0">
                <a:solidFill>
                  <a:srgbClr val="1F4D36"/>
                </a:solidFill>
                <a:latin typeface="Calibri" pitchFamily="34" charset="0"/>
                <a:ea typeface="Calibri" pitchFamily="34" charset="-122"/>
                <a:cs typeface="Calibri" pitchFamily="34" charset="-120"/>
              </a:rPr>
              <a:t>Future work: </a:t>
            </a:r>
            <a:pPr indent="0" marL="0">
              <a:buNone/>
            </a:pPr>
            <a:r>
              <a:rPr lang="en-US" sz="1400" dirty="0">
                <a:solidFill>
                  <a:srgbClr val="1E2B24"/>
                </a:solidFill>
                <a:latin typeface="Calibri" pitchFamily="34" charset="0"/>
                <a:ea typeface="Calibri" pitchFamily="34" charset="-122"/>
                <a:cs typeface="Calibri" pitchFamily="34" charset="-120"/>
              </a:rPr>
              <a:t>explicit multi-view association, repeated detector training, an independent plantation</a:t>
            </a:r>
            <a:endParaRPr lang="en-US" sz="1400" dirty="0"/>
          </a:p>
        </p:txBody>
      </p:sp>
      <p:sp>
        <p:nvSpPr>
          <p:cNvPr id="19" name="Text 14"/>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400" b="1" dirty="0">
                <a:solidFill>
                  <a:srgbClr val="C8511B"/>
                </a:solidFill>
                <a:latin typeface="Calibri" pitchFamily="34" charset="0"/>
                <a:ea typeface="Calibri" pitchFamily="34" charset="-122"/>
                <a:cs typeface="Calibri" pitchFamily="34" charset="-120"/>
              </a:rPr>
              <a:t>Limitations: </a:t>
            </a:r>
            <a:pPr indent="0" marL="0">
              <a:buNone/>
            </a:pPr>
            <a:r>
              <a:rPr lang="en-US" sz="1400" dirty="0">
                <a:solidFill>
                  <a:srgbClr val="1E2B24"/>
                </a:solidFill>
                <a:latin typeface="Calibri" pitchFamily="34" charset="0"/>
                <a:ea typeface="Calibri" pitchFamily="34" charset="-122"/>
                <a:cs typeface="Calibri" pitchFamily="34" charset="-120"/>
              </a:rPr>
              <a:t>one dataset, two estates; GT is an empirical reference, not an upper bound</a:t>
            </a:r>
            <a:endParaRPr lang="en-US" sz="1400" dirty="0"/>
          </a:p>
        </p:txBody>
      </p:sp>
      <p:sp>
        <p:nvSpPr>
          <p:cNvPr id="20" name="Text 15"/>
          <p:cNvSpPr txBox="1"/>
          <p:nvPr/>
        </p:nvSpPr>
        <p:spPr>
          <a:xfrm>
            <a:off x="8412480" y="4773168"/>
            <a:ext cx="365760" cy="228600"/>
          </a:xfrm>
          <a:prstGeom prst="rect">
            <a:avLst/>
          </a:prstGeom>
          <a:noFill/>
          <a:ln/>
        </p:spPr>
        <p:txBody>
          <a:bodyPr wrap="square" lIns="0" tIns="0" rIns="0" bIns="0" rtlCol="0" anchor="ctr"/>
          <a:lstStyle/>
          <a:p>
            <a:pPr algn="r" indent="0" marL="0">
              <a:buNone/>
            </a:pPr>
            <a:r>
              <a:rPr lang="en-US" sz="1000" dirty="0">
                <a:solidFill>
                  <a:srgbClr val="5B6B6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291D"/>
        </a:solidFill>
      </p:bgPr>
    </p:bg>
    <p:spTree>
      <p:nvGrpSpPr>
        <p:cNvPr id="1" name=""/>
        <p:cNvGrpSpPr/>
        <p:nvPr/>
      </p:nvGrpSpPr>
      <p:grpSpPr>
        <a:xfrm>
          <a:off x="0" y="0"/>
          <a:ext cx="0" cy="0"/>
          <a:chOff x="0" y="0"/>
          <a:chExt cx="0" cy="0"/>
        </a:xfrm>
      </p:grpSpPr>
      <p:pic>
        <p:nvPicPr>
          <p:cNvPr id="2" name="Image 0" descr="/home/claude/real/s1.jpg">    </p:cNvPr>
          <p:cNvPicPr>
            <a:picLocks noChangeAspect="1"/>
          </p:cNvPicPr>
          <p:nvPr/>
        </p:nvPicPr>
        <p:blipFill>
          <a:blip r:embed="rId1"/>
          <a:srcRect l="0" r="0" t="0" b="0"/>
          <a:stretch/>
        </p:blipFill>
        <p:spPr>
          <a:xfrm>
            <a:off x="0" y="0"/>
            <a:ext cx="3657600" cy="5143500"/>
          </a:xfrm>
          <a:prstGeom prst="rect">
            <a:avLst/>
          </a:prstGeom>
        </p:spPr>
      </p:pic>
      <p:sp>
        <p:nvSpPr>
          <p:cNvPr id="3" name="Shape 0"/>
          <p:cNvSpPr/>
          <p:nvPr/>
        </p:nvSpPr>
        <p:spPr>
          <a:xfrm>
            <a:off x="0" y="0"/>
            <a:ext cx="3657600" cy="5143500"/>
          </a:xfrm>
          <a:prstGeom prst="rect">
            <a:avLst/>
          </a:prstGeom>
          <a:solidFill>
            <a:srgbClr val="12291D">
              <a:alpha val="30000"/>
            </a:srgbClr>
          </a:solidFill>
          <a:ln/>
        </p:spPr>
      </p:sp>
      <p:sp>
        <p:nvSpPr>
          <p:cNvPr id="4" name="Text 1"/>
          <p:cNvSpPr txBox="1"/>
          <p:nvPr/>
        </p:nvSpPr>
        <p:spPr>
          <a:xfrm>
            <a:off x="4206240" y="1188720"/>
            <a:ext cx="457200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pic>
        <p:nvPicPr>
          <p:cNvPr id="5" name="Image 1" descr="preencoded.png">    </p:cNvPr>
          <p:cNvPicPr>
            <a:picLocks noChangeAspect="1"/>
          </p:cNvPicPr>
          <p:nvPr/>
        </p:nvPicPr>
        <p:blipFill>
          <a:blip r:embed="rId2"/>
          <a:stretch>
            <a:fillRect/>
          </a:stretch>
        </p:blipFill>
        <p:spPr>
          <a:xfrm>
            <a:off x="4206240" y="2880360"/>
            <a:ext cx="292608" cy="292608"/>
          </a:xfrm>
          <a:prstGeom prst="rect">
            <a:avLst/>
          </a:prstGeom>
        </p:spPr>
      </p:pic>
      <p:sp>
        <p:nvSpPr>
          <p:cNvPr id="6" name="Text 2">
            <a:hlinkClick r:id="rId3" tooltip=""/>
          </p:cNvPr>
          <p:cNvSpPr txBox="1"/>
          <p:nvPr/>
        </p:nvSpPr>
        <p:spPr>
          <a:xfrm>
            <a:off x="4617720" y="2834640"/>
            <a:ext cx="4206240" cy="384048"/>
          </a:xfrm>
          <a:prstGeom prst="rect">
            <a:avLst/>
          </a:prstGeom>
          <a:noFill/>
          <a:ln/>
        </p:spPr>
        <p:txBody>
          <a:bodyPr wrap="square" lIns="0" tIns="0" rIns="0" bIns="0" rtlCol="0" anchor="ctr"/>
          <a:lstStyle/>
          <a:p>
            <a:pPr indent="0" marL="0">
              <a:buNone/>
            </a:pPr>
            <a:r>
              <a:rPr lang="en-US" sz="13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github.com/ULM-SawitMVC/Baseline-SawitMVC</a:t>
            </a:r>
            <a:endParaRPr lang="en-US" sz="1300" dirty="0"/>
          </a:p>
        </p:txBody>
      </p:sp>
      <p:pic>
        <p:nvPicPr>
          <p:cNvPr id="7" name="Image 2" descr="preencoded.png">    </p:cNvPr>
          <p:cNvPicPr>
            <a:picLocks noChangeAspect="1"/>
          </p:cNvPicPr>
          <p:nvPr/>
        </p:nvPicPr>
        <p:blipFill>
          <a:blip r:embed="rId4"/>
          <a:stretch>
            <a:fillRect/>
          </a:stretch>
        </p:blipFill>
        <p:spPr>
          <a:xfrm>
            <a:off x="4206240" y="3383280"/>
            <a:ext cx="292608" cy="292608"/>
          </a:xfrm>
          <a:prstGeom prst="rect">
            <a:avLst/>
          </a:prstGeom>
        </p:spPr>
      </p:pic>
      <p:sp>
        <p:nvSpPr>
          <p:cNvPr id="8" name="Text 3"/>
          <p:cNvSpPr txBox="1"/>
          <p:nvPr/>
        </p:nvSpPr>
        <p:spPr>
          <a:xfrm>
            <a:off x="4617720" y="3337560"/>
            <a:ext cx="4206240" cy="3840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mz.muttaqin1@gmail.com</a:t>
            </a:r>
            <a:endParaRPr lang="en-US" sz="1300" dirty="0"/>
          </a:p>
        </p:txBody>
      </p:sp>
      <p:sp>
        <p:nvSpPr>
          <p:cNvPr id="9" name="Text 4"/>
          <p:cNvSpPr txBox="1"/>
          <p:nvPr/>
        </p:nvSpPr>
        <p:spPr>
          <a:xfrm>
            <a:off x="4206240" y="4206240"/>
            <a:ext cx="4572000" cy="320040"/>
          </a:xfrm>
          <a:prstGeom prst="rect">
            <a:avLst/>
          </a:prstGeom>
          <a:noFill/>
          <a:ln/>
        </p:spPr>
        <p:txBody>
          <a:bodyPr wrap="square" lIns="0" tIns="0" rIns="0" bIns="0" rtlCol="0" anchor="ctr"/>
          <a:lstStyle/>
          <a:p>
            <a:pPr indent="0" marL="0">
              <a:buNone/>
            </a:pPr>
            <a:r>
              <a:rPr lang="en-US" sz="1100" dirty="0">
                <a:solidFill>
                  <a:srgbClr val="A9C9A4"/>
                </a:solidFill>
                <a:latin typeface="Calibri" pitchFamily="34" charset="0"/>
                <a:ea typeface="Calibri" pitchFamily="34" charset="-122"/>
                <a:cs typeface="Calibri" pitchFamily="34" charset="-120"/>
              </a:rPr>
              <a:t>Lambung Mangkurat University · Banjarbaru, Indonesia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Multi-View Oil Palm Bunch Counting</dc:title>
  <dc:subject>PptxGenJS Presentation</dc:subject>
  <dc:creator>Muhammad Zainal Muttaqin</dc:creator>
  <cp:lastModifiedBy>Muhammad Zainal Muttaqin</cp:lastModifiedBy>
  <cp:revision>1</cp:revision>
  <dcterms:created xsi:type="dcterms:W3CDTF">2026-10-06T01:26:59Z</dcterms:created>
  <dcterms:modified xsi:type="dcterms:W3CDTF">2026-10-06T01:26:59Z</dcterms:modified>
</cp:coreProperties>
</file>