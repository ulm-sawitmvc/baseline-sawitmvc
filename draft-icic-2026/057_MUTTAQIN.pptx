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GT detections</c:v>
                </c:pt>
              </c:strCache>
            </c:strRef>
          </c:tx>
          <c:spPr>
            <a:solidFill>
              <a:srgbClr val="1F4D36"/>
            </a:solidFill>
            <a:effectLst/>
          </c:spPr>
          <c:invertIfNegative val="0"/>
          <c:dLbls>
            <c:numFmt formatCode="0.0" sourceLinked="0"/>
            <c:txPr>
              <a:bodyPr/>
              <a:lstStyle/>
              <a:p>
                <a:pPr>
                  <a:defRPr b="0" i="0" strike="noStrike" sz="800" u="none">
                    <a:solidFill>
                      <a:srgbClr val="1E2B24"/>
                    </a:solidFill>
                    <a:latin typeface="Arial"/>
                  </a:defRPr>
                </a:pPr>
              </a:p>
            </c:txPr>
            <c:showLegendKey val="0"/>
            <c:showVal val="1"/>
            <c:showCatName val="0"/>
            <c:showSerName val="0"/>
            <c:showPercent val="0"/>
            <c:showBubbleSize val="0"/>
            <c:showLeaderLines val="0"/>
          </c:dLbls>
          <c:cat>
            <c:multiLvlStrRef>
              <c:f>Sheet1!$A$2:$A$8</c:f>
              <c:multiLvlStrCache>
                <c:ptCount val="7"/>
                <c:lvl>
                  <c:pt idx="0">
                    <c:v>Naive sum</c:v>
                  </c:pt>
                  <c:pt idx="1">
                    <c:v>Global divisor</c:v>
                  </c:pt>
                  <c:pt idx="2">
                    <c:v>ElasticNet</c:v>
                  </c:pt>
                  <c:pt idx="3">
                    <c:v>SVM</c:v>
                  </c:pt>
                  <c:pt idx="4">
                    <c:v>Ridge</c:v>
                  </c:pt>
                  <c:pt idx="5">
                    <c:v>Linear reg.</c:v>
                  </c:pt>
                  <c:pt idx="6">
                    <c:v>Random forest</c:v>
                  </c:pt>
                </c:lvl>
              </c:multiLvlStrCache>
            </c:multiLvlStrRef>
          </c:cat>
          <c:val>
            <c:numRef>
              <c:f>Sheet1!$B$2:$B$8</c:f>
              <c:numCache>
                <c:formatCode>General</c:formatCode>
                <c:ptCount val="7"/>
                <c:pt idx="0">
                  <c:v>50</c:v>
                </c:pt>
                <c:pt idx="1">
                  <c:v>95.57</c:v>
                </c:pt>
                <c:pt idx="2">
                  <c:v>98.05</c:v>
                </c:pt>
                <c:pt idx="3">
                  <c:v>97.87</c:v>
                </c:pt>
                <c:pt idx="4">
                  <c:v>97.7</c:v>
                </c:pt>
                <c:pt idx="5">
                  <c:v>97.52</c:v>
                </c:pt>
                <c:pt idx="6">
                  <c:v>95.92</c:v>
                </c:pt>
              </c:numCache>
            </c:numRef>
          </c:val>
        </c:ser>
        <c:ser>
          <c:idx val="1"/>
          <c:order val="1"/>
          <c:tx>
            <c:strRef>
              <c:f>Sheet1!$C$1</c:f>
              <c:strCache>
                <c:ptCount val="1"/>
                <c:pt idx="0">
                  <c:v>Fixed YOLO26m</c:v>
                </c:pt>
              </c:strCache>
            </c:strRef>
          </c:tx>
          <c:spPr>
            <a:solidFill>
              <a:srgbClr val="C8511B"/>
            </a:solidFill>
            <a:effectLst/>
          </c:spPr>
          <c:invertIfNegative val="0"/>
          <c:dLbls>
            <c:numFmt formatCode="0.0" sourceLinked="0"/>
            <c:txPr>
              <a:bodyPr/>
              <a:lstStyle/>
              <a:p>
                <a:pPr>
                  <a:defRPr b="0" i="0" strike="noStrike" sz="800" u="none">
                    <a:solidFill>
                      <a:srgbClr val="1E2B24"/>
                    </a:solidFill>
                    <a:latin typeface="Arial"/>
                  </a:defRPr>
                </a:pPr>
              </a:p>
            </c:txPr>
            <c:showLegendKey val="0"/>
            <c:showVal val="1"/>
            <c:showCatName val="0"/>
            <c:showSerName val="0"/>
            <c:showPercent val="0"/>
            <c:showBubbleSize val="0"/>
            <c:showLeaderLines val="0"/>
          </c:dLbls>
          <c:cat>
            <c:multiLvlStrRef>
              <c:f>Sheet1!$A$2:$A$8</c:f>
              <c:multiLvlStrCache>
                <c:ptCount val="7"/>
                <c:lvl>
                  <c:pt idx="0">
                    <c:v>Naive sum</c:v>
                  </c:pt>
                  <c:pt idx="1">
                    <c:v>Global divisor</c:v>
                  </c:pt>
                  <c:pt idx="2">
                    <c:v>ElasticNet</c:v>
                  </c:pt>
                  <c:pt idx="3">
                    <c:v>SVM</c:v>
                  </c:pt>
                  <c:pt idx="4">
                    <c:v>Ridge</c:v>
                  </c:pt>
                  <c:pt idx="5">
                    <c:v>Linear reg.</c:v>
                  </c:pt>
                  <c:pt idx="6">
                    <c:v>Random forest</c:v>
                  </c:pt>
                </c:lvl>
              </c:multiLvlStrCache>
            </c:multiLvlStrRef>
          </c:cat>
          <c:val>
            <c:numRef>
              <c:f>Sheet1!$C$2:$C$8</c:f>
              <c:numCache>
                <c:formatCode>General</c:formatCode>
                <c:ptCount val="7"/>
                <c:pt idx="0">
                  <c:v>50.71</c:v>
                </c:pt>
                <c:pt idx="1">
                  <c:v>70.21</c:v>
                </c:pt>
                <c:pt idx="2">
                  <c:v>76.42</c:v>
                </c:pt>
                <c:pt idx="3">
                  <c:v>74.82</c:v>
                </c:pt>
                <c:pt idx="4">
                  <c:v>76.06</c:v>
                </c:pt>
                <c:pt idx="5">
                  <c:v>75.71</c:v>
                </c:pt>
                <c:pt idx="6">
                  <c:v>73.23</c:v>
                </c:pt>
              </c:numCache>
            </c:numRef>
          </c:val>
        </c:ser>
        <c:dLbls>
          <c:numFmt formatCode="0.0" sourceLinked="0"/>
          <c:txPr>
            <a:bodyPr/>
            <a:lstStyle/>
            <a:p>
              <a:pPr>
                <a:defRPr b="0" i="0" strike="noStrike" sz="800" u="none">
                  <a:solidFill>
                    <a:srgbClr val="1E2B24"/>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62"/>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B24"/>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Arial"/>
              </a:defRPr>
            </a:pPr>
            <a:r>
              <a:rPr sz="1200" b="0" i="0" u="none" strike="noStrike">
                <a:solidFill>
                  <a:srgbClr val="FFFFFF"/>
                </a:solidFill>
                <a:latin typeface="Arial"/>
              </a:rPr>
              <a:t>Per-class accuracy ±1 (%)</a:t>
            </a:r>
          </a:p>
        </c:rich>
      </c:tx>
      <c:layout/>
      <c:overlay val="0"/>
    </c:title>
    <c:autoTitleDeleted val="0"/>
    <c:plotArea>
      <c:layout/>
      <c:barChart>
        <c:barDir val="col"/>
        <c:grouping val="clustered"/>
        <c:varyColors val="0"/>
        <c:ser>
          <c:idx val="0"/>
          <c:order val="0"/>
          <c:tx>
            <c:strRef>
              <c:f>Sheet1!$B$1</c:f>
              <c:strCache>
                <c:ptCount val="1"/>
                <c:pt idx="0">
                  <c:v>GT</c:v>
                </c:pt>
              </c:strCache>
            </c:strRef>
          </c:tx>
          <c:spPr>
            <a:solidFill>
              <a:srgbClr val="A9C9A4"/>
            </a:solidFill>
            <a:effectLst/>
          </c:spPr>
          <c:invertIfNegative val="0"/>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B1</c:v>
                  </c:pt>
                  <c:pt idx="1">
                    <c:v>B2</c:v>
                  </c:pt>
                  <c:pt idx="2">
                    <c:v>B3</c:v>
                  </c:pt>
                  <c:pt idx="3">
                    <c:v>B4</c:v>
                  </c:pt>
                </c:lvl>
              </c:multiLvlStrCache>
            </c:multiLvlStrRef>
          </c:cat>
          <c:val>
            <c:numRef>
              <c:f>Sheet1!$B$2:$B$5</c:f>
              <c:numCache>
                <c:formatCode>General</c:formatCode>
                <c:ptCount val="4"/>
                <c:pt idx="0">
                  <c:v>100</c:v>
                </c:pt>
                <c:pt idx="1">
                  <c:v>99.29</c:v>
                </c:pt>
                <c:pt idx="2">
                  <c:v>93.62</c:v>
                </c:pt>
                <c:pt idx="3">
                  <c:v>99.29</c:v>
                </c:pt>
              </c:numCache>
            </c:numRef>
          </c:val>
        </c:ser>
        <c:ser>
          <c:idx val="1"/>
          <c:order val="1"/>
          <c:tx>
            <c:strRef>
              <c:f>Sheet1!$C$1</c:f>
              <c:strCache>
                <c:ptCount val="1"/>
                <c:pt idx="0">
                  <c:v>Fixed detector</c:v>
                </c:pt>
              </c:strCache>
            </c:strRef>
          </c:tx>
          <c:spPr>
            <a:solidFill>
              <a:srgbClr val="F2A36B"/>
            </a:solidFill>
            <a:effectLst/>
          </c:spPr>
          <c:invertIfNegative val="0"/>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B1</c:v>
                  </c:pt>
                  <c:pt idx="1">
                    <c:v>B2</c:v>
                  </c:pt>
                  <c:pt idx="2">
                    <c:v>B3</c:v>
                  </c:pt>
                  <c:pt idx="3">
                    <c:v>B4</c:v>
                  </c:pt>
                </c:lvl>
              </c:multiLvlStrCache>
            </c:multiLvlStrRef>
          </c:cat>
          <c:val>
            <c:numRef>
              <c:f>Sheet1!$C$2:$C$5</c:f>
              <c:numCache>
                <c:formatCode>General</c:formatCode>
                <c:ptCount val="4"/>
                <c:pt idx="0">
                  <c:v>97.16</c:v>
                </c:pt>
                <c:pt idx="1">
                  <c:v>82.98</c:v>
                </c:pt>
                <c:pt idx="2">
                  <c:v>57.45</c:v>
                </c:pt>
                <c:pt idx="3">
                  <c:v>72.34</c:v>
                </c:pt>
              </c:numCache>
            </c:numRef>
          </c:val>
        </c:ser>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FFFFFF"/>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B24"/>
                </a:solidFill>
                <a:latin typeface="Arial"/>
              </a:defRPr>
            </a:pPr>
            <a:r>
              <a:rPr sz="1200" b="0" i="0" u="none" strike="noStrike">
                <a:solidFill>
                  <a:srgbClr val="1E2B24"/>
                </a:solidFill>
                <a:latin typeface="Arial"/>
              </a:rPr>
              <a:t>2,612 GT appearances</a:t>
            </a:r>
          </a:p>
        </c:rich>
      </c:tx>
      <c:layout/>
      <c:overlay val="0"/>
    </c:title>
    <c:autoTitleDeleted val="0"/>
    <c:plotArea>
      <c:layout/>
      <c:doughnutChart>
        <c:varyColors val="1"/>
        <c:ser>
          <c:idx val="0"/>
          <c:order val="0"/>
          <c:tx>
            <c:strRef>
              <c:f>Sheet1!$B$1</c:f>
              <c:strCache>
                <c:ptCount val="1"/>
                <c:pt idx="0">
                  <c:v>Appearances</c:v>
                </c:pt>
              </c:strCache>
            </c:strRef>
          </c:tx>
          <c:spPr>
            <a:solidFill>
              <a:schemeClr val="accent1"/>
            </a:solidFill>
            <a:ln w="9525" cap="flat">
              <a:solidFill>
                <a:srgbClr val="F9F9F9"/>
              </a:solidFill>
              <a:prstDash val="solid"/>
              <a:round/>
            </a:ln>
            <a:effectLst/>
          </c:spPr>
          <c:dPt>
            <c:idx val="0"/>
            <c:bubble3D val="0"/>
            <c:spPr>
              <a:solidFill>
                <a:srgbClr val="1F4D36"/>
              </a:solidFill>
              <a:effectLst/>
            </c:spPr>
          </c:dPt>
          <c:dPt>
            <c:idx val="1"/>
            <c:bubble3D val="0"/>
            <c:spPr>
              <a:solidFill>
                <a:srgbClr val="9E2A2B"/>
              </a:solidFill>
              <a:effectLst/>
            </c:spPr>
          </c:dPt>
          <c:dPt>
            <c:idx val="2"/>
            <c:bubble3D val="0"/>
            <c:spPr>
              <a:solidFill>
                <a:srgbClr val="E9A23B"/>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Found &amp; correct class</c:v>
                </c:pt>
                <c:pt idx="1">
                  <c:v>Missed</c:v>
                </c:pt>
                <c:pt idx="2">
                  <c:v>Wrong class</c:v>
                </c:pt>
              </c:strCache>
            </c:strRef>
          </c:cat>
          <c:val>
            <c:numRef>
              <c:f>Sheet1!$B$2:$B$4</c:f>
              <c:numCache>
                <c:ptCount val="3"/>
                <c:pt idx="0">
                  <c:v>1252</c:v>
                </c:pt>
                <c:pt idx="1">
                  <c:v>964</c:v>
                </c:pt>
                <c:pt idx="2">
                  <c:v>396</c:v>
                </c:pt>
              </c:numCache>
            </c:numRef>
          </c:val>
        </c:ser>
        <c:firstSliceAng val="0"/>
        <c:holeSize val="58"/>
      </c:doughnutChart>
      <c:spPr>
        <a:noFill/>
        <a:ln>
          <a:noFill/>
        </a:ln>
        <a:effectLst/>
      </c:spPr>
    </c:plotArea>
    <c:legend>
      <c:legendPos val="b"/>
      <c:overlay val="0"/>
      <c:txPr>
        <a:bodyPr/>
        <a:lstStyle/>
        <a:p>
          <a:pPr>
            <a:defRPr sz="1000">
              <a:solidFill>
                <a:srgbClr val="1E2B24"/>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B24"/>
                </a:solidFill>
                <a:latin typeface="Arial"/>
              </a:defRPr>
            </a:pPr>
            <a:r>
              <a:rPr sz="1100" b="0" i="0" u="none" strike="noStrike">
                <a:solidFill>
                  <a:srgbClr val="1E2B24"/>
                </a:solidFill>
                <a:latin typeface="Arial"/>
              </a:rPr>
              <a:t>Confidence threshold sweep — Class ±1 (%)</a:t>
            </a:r>
          </a:p>
        </c:rich>
      </c:tx>
      <c:layout/>
      <c:overlay val="0"/>
    </c:title>
    <c:autoTitleDeleted val="0"/>
    <c:plotArea>
      <c:layout/>
      <c:lineChart>
        <c:varyColors val="0"/>
        <c:ser>
          <c:idx val="0"/>
          <c:order val="0"/>
          <c:tx>
            <c:strRef>
              <c:f>Sheet1!$B$1</c:f>
              <c:strCache>
                <c:ptCount val="1"/>
                <c:pt idx="0">
                  <c:v>Detector (Ridge+Fall)</c:v>
                </c:pt>
              </c:strCache>
            </c:strRef>
          </c:tx>
          <c:spPr>
            <a:solidFill>
              <a:srgbClr val="C8511B"/>
            </a:solidFill>
            <a:ln w="25400" cap="flat">
              <a:solidFill>
                <a:srgbClr val="C85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8511B"/>
              </a:solidFill>
              <a:ln w="9525" cap="flat">
                <a:solidFill>
                  <a:srgbClr val="C8511B"/>
                </a:solidFill>
                <a:prstDash val="solid"/>
                <a:round/>
              </a:ln>
              <a:effectLst/>
            </c:spPr>
          </c:marker>
          <c:cat>
            <c:multiLvlStrRef>
              <c:f>Sheet1!$A$2:$A$12</c:f>
              <c:multiLvlStrCache>
                <c:ptCount val="11"/>
                <c:lvl>
                  <c:pt idx="0">
                    <c:v>0.05</c:v>
                  </c:pt>
                  <c:pt idx="1">
                    <c:v>0.1</c:v>
                  </c:pt>
                  <c:pt idx="2">
                    <c:v>0.15</c:v>
                  </c:pt>
                  <c:pt idx="3">
                    <c:v>0.2</c:v>
                  </c:pt>
                  <c:pt idx="4">
                    <c:v>0.25</c:v>
                  </c:pt>
                  <c:pt idx="5">
                    <c:v>0.3</c:v>
                  </c:pt>
                  <c:pt idx="6">
                    <c:v>0.35</c:v>
                  </c:pt>
                  <c:pt idx="7">
                    <c:v>0.4</c:v>
                  </c:pt>
                  <c:pt idx="8">
                    <c:v>0.5</c:v>
                  </c:pt>
                  <c:pt idx="9">
                    <c:v>0.6</c:v>
                  </c:pt>
                  <c:pt idx="10">
                    <c:v>0.7</c:v>
                  </c:pt>
                </c:lvl>
              </c:multiLvlStrCache>
            </c:multiLvlStrRef>
          </c:cat>
          <c:val>
            <c:numRef>
              <c:f>Sheet1!$B$2:$B$12</c:f>
              <c:numCache>
                <c:formatCode>General</c:formatCode>
                <c:ptCount val="11"/>
                <c:pt idx="0">
                  <c:v>76.24</c:v>
                </c:pt>
                <c:pt idx="1">
                  <c:v>77.48</c:v>
                </c:pt>
                <c:pt idx="2">
                  <c:v>75.7</c:v>
                </c:pt>
                <c:pt idx="3">
                  <c:v>74.3</c:v>
                </c:pt>
                <c:pt idx="4">
                  <c:v>77.48</c:v>
                </c:pt>
                <c:pt idx="5">
                  <c:v>74.7</c:v>
                </c:pt>
                <c:pt idx="6">
                  <c:v>73.05</c:v>
                </c:pt>
                <c:pt idx="7">
                  <c:v>69.5</c:v>
                </c:pt>
                <c:pt idx="8">
                  <c:v>67.91</c:v>
                </c:pt>
                <c:pt idx="9">
                  <c:v>68.1</c:v>
                </c:pt>
                <c:pt idx="10">
                  <c:v>63.12</c:v>
                </c:pt>
              </c:numCache>
            </c:numRef>
          </c:val>
          <c:smooth val="0"/>
        </c:ser>
        <c:ser>
          <c:idx val="1"/>
          <c:order val="1"/>
          <c:tx>
            <c:strRef>
              <c:f>Sheet1!$C$1</c:f>
              <c:strCache>
                <c:ptCount val="1"/>
                <c:pt idx="0">
                  <c:v>GT reference</c:v>
                </c:pt>
              </c:strCache>
            </c:strRef>
          </c:tx>
          <c:spPr>
            <a:solidFill>
              <a:srgbClr val="1F4D36"/>
            </a:solidFill>
            <a:ln w="25400" cap="flat">
              <a:solidFill>
                <a:srgbClr val="1F4D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F4D36"/>
              </a:solidFill>
              <a:ln w="9525" cap="flat">
                <a:solidFill>
                  <a:srgbClr val="1F4D36"/>
                </a:solidFill>
                <a:prstDash val="solid"/>
                <a:round/>
              </a:ln>
              <a:effectLst/>
            </c:spPr>
          </c:marker>
          <c:cat>
            <c:multiLvlStrRef>
              <c:f>Sheet1!$A$2:$A$12</c:f>
              <c:multiLvlStrCache>
                <c:ptCount val="11"/>
                <c:lvl>
                  <c:pt idx="0">
                    <c:v>0.05</c:v>
                  </c:pt>
                  <c:pt idx="1">
                    <c:v>0.1</c:v>
                  </c:pt>
                  <c:pt idx="2">
                    <c:v>0.15</c:v>
                  </c:pt>
                  <c:pt idx="3">
                    <c:v>0.2</c:v>
                  </c:pt>
                  <c:pt idx="4">
                    <c:v>0.25</c:v>
                  </c:pt>
                  <c:pt idx="5">
                    <c:v>0.3</c:v>
                  </c:pt>
                  <c:pt idx="6">
                    <c:v>0.35</c:v>
                  </c:pt>
                  <c:pt idx="7">
                    <c:v>0.4</c:v>
                  </c:pt>
                  <c:pt idx="8">
                    <c:v>0.5</c:v>
                  </c:pt>
                  <c:pt idx="9">
                    <c:v>0.6</c:v>
                  </c:pt>
                  <c:pt idx="10">
                    <c:v>0.7</c:v>
                  </c:pt>
                </c:lvl>
              </c:multiLvlStrCache>
            </c:multiLvlStrRef>
          </c:cat>
          <c:val>
            <c:numRef>
              <c:f>Sheet1!$C$2:$C$12</c:f>
              <c:numCache>
                <c:formatCode>General</c:formatCode>
                <c:ptCount val="11"/>
                <c:pt idx="0">
                  <c:v>98.05</c:v>
                </c:pt>
                <c:pt idx="1">
                  <c:v>98.05</c:v>
                </c:pt>
                <c:pt idx="2">
                  <c:v>98.05</c:v>
                </c:pt>
                <c:pt idx="3">
                  <c:v>98.05</c:v>
                </c:pt>
                <c:pt idx="4">
                  <c:v>98.05</c:v>
                </c:pt>
                <c:pt idx="5">
                  <c:v>98.05</c:v>
                </c:pt>
                <c:pt idx="6">
                  <c:v>98.05</c:v>
                </c:pt>
                <c:pt idx="7">
                  <c:v>98.05</c:v>
                </c:pt>
                <c:pt idx="8">
                  <c:v>98.05</c:v>
                </c:pt>
                <c:pt idx="9">
                  <c:v>98.05</c:v>
                </c:pt>
                <c:pt idx="10">
                  <c:v>98.05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62"/>
                    </a:solidFill>
                    <a:latin typeface="Arial"/>
                  </a:defRPr>
                </a:pPr>
                <a:r>
                  <a:rPr sz="900" b="0" i="0" u="none" strike="noStrike">
                    <a:solidFill>
                      <a:srgbClr val="5B6B62"/>
                    </a:solidFill>
                    <a:latin typeface="Arial"/>
                  </a:rPr>
                  <a:t>Confidence threshold τ</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62"/>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DDE5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B2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morning, everyone. My name is Muhammad Zainal Muttaqin, from Lambung Mangkurat University, Indonesia. Today I will present our work: Benchmarking Multi-View Tree-Level Oil Palm Bunch Counting Under a Fixed Detector. The whole talk revolves around one simple question: when automatic bunch counting fails, is the problem the counter, or the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Oil palm plantations plan their harvest using the Black Bunch Census. For every tree, workers count how many bunches belong to each maturity class, from B1 to B4. Doing this manually is slow and subjective, so we want to automate it with images.
But there is a challenge. Bunches grow all around the trunk and are often hidden behind fronds. So we photograph each tree from four to eight sides. Look at these three views: the highlighted bunch is the same B3 bunch, seen three times. If we simply add up the detections, we count it three times. The census needs it counted only once.
So the open question is: where does counting error really come from — from the counting model, or from the detector that feeds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We work with SawitMVC: 953 trees, 3,992 images, and four maturity classes, with a fixed split of 716 training, 96 validation and 141 test trees.
The pipeline has five steps. We take the multi-view images, obtain detections, summarize them into tree-level feature vectors, from a 13-dimensional baseline F0 up to 67 dimensions, and a regression model predicts the four class counts.
The key design of this study is here: we fit the same counters twice — once on ground-truth boxes, and once on outputs from a frozen YOLO26m detector. The difference between these two conditions tells us how much input quality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We use two main accuracy measures. Class plus-minus one checks whether each class count is within one bunch of the truth. Tree plus-minus one is stricter: all four class counts must be correct within one bunch at the same time — which is what a census really needs.
We compare two simple baselines, five regression counters and eight feature sets. To make the comparisons fair, we use bootstrap confidence intervals, paired permutation tests with Holm correction, and several sensitivity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Here is the first main result. The green bars use ground-truth detections, the orange bars use the detector.
First, naive summation fails in both conditions, at around fifty percent. Second, with ground-truth inputs, all the linear counters reach about ninety-eight percent. But when we switch to detector inputs, every counter drops to between seventy-three and seventy-six percent.
The spread among the five counters is only 3.19 percentage points, and no pair is statistically different after correction. In contrast, the same counter loses about 21.6 points just by changing the input. So the choice of counter matters little; the quality of the input matters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Looking at the best configurations, class accuracy falls from 98.05 to 77.48 percent — a gap of 20.57 points, with a confidence interval from 17 to 24. At tree level the drop is dramatic: from 92.2 to 32.6 percent.
The chart on the right shows where it happens. B1 is almost unaffected, but B3 drops to 57 percent and B4 to 72 percent.
Could richer features fix this? Not really. Using all 67 features adds only 1.42 points over the baseline, and this gain is not statistically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To understand why, we matched every detection to the annotations. Of 2,612 ground-truth appearances, only 48 percent are both found and correctly classified. 37 percent are missed, and 15 percent are found but given the wrong maturity class.
Three numbers stand out. First, 22.7 percent of physical bunches are never detected in any view — for B4 it is 42 percent. No counter can directly count a bunch it never sees. Second, 158 B2 appearances are read as B3, so class confusion is a major error source. Third, 30 percent of detections are false positives, mostly with low confidence.
These diagnostics are not an additive error budget, but they clearly point to detection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We also checked whether this conclusion is fragile. It is not. The gap remains about 24 points when the best model is selected on validation data instead of the test set, about 25 points in matched five-by-five cross-validation, about 24 points with a separately trained YOLO11m detector, and about 23 points across four YOLO26 checkpoints.
On the right, we varied the detector's confidence threshold from 0.05 to 0.7. No threshold exceeds 77.48 percent, still far below the ground-truth reference of 98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 conclude, three takeaways. First, on this dataset, improving detector output quality matters more than choosing a different counter. Second, for the census, the priorities are better B3 and B4 detection and less B2-to-B3 confusion. Third, we recommend evaluating counters under both ground-truth and detector inputs, and reporting class, tree and total metrics together with signed bias.
Our study has limitations: one dataset from two estates, and ground truth is an empirical reference, not an upper bound for future methods. Next, we plan to compare explicit multi-view association with learned aggregation, and test on independent plantations.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Thank you for your attention. Our code and results are publicly available on GitHub.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chart" Target="/ppt/charts/chart4.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ULM-SawitMVC/Baseline-SawitMVC" TargetMode="External"/><Relationship Id="rId1" Type="http://schemas.openxmlformats.org/officeDocument/2006/relationships/image" Target="../media/image-10-1.jpg"/><Relationship Id="rId2"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1D"/>
        </a:solidFill>
      </p:bgPr>
    </p:bg>
    <p:spTree>
      <p:nvGrpSpPr>
        <p:cNvPr id="1" name=""/>
        <p:cNvGrpSpPr/>
        <p:nvPr/>
      </p:nvGrpSpPr>
      <p:grpSpPr>
        <a:xfrm>
          <a:off x="0" y="0"/>
          <a:ext cx="0" cy="0"/>
          <a:chOff x="0" y="0"/>
          <a:chExt cx="0" cy="0"/>
        </a:xfrm>
      </p:grpSpPr>
      <p:pic>
        <p:nvPicPr>
          <p:cNvPr id="2" name="Image 0" descr="/home/claude/img/side2.jpg">    </p:cNvPr>
          <p:cNvPicPr>
            <a:picLocks noChangeAspect="1"/>
          </p:cNvPicPr>
          <p:nvPr/>
        </p:nvPicPr>
        <p:blipFill>
          <a:blip r:embed="rId1"/>
          <a:srcRect l="0" r="0" t="0" b="0"/>
          <a:stretch/>
        </p:blipFill>
        <p:spPr>
          <a:xfrm>
            <a:off x="5120640" y="0"/>
            <a:ext cx="4023360" cy="5143500"/>
          </a:xfrm>
          <a:prstGeom prst="rect">
            <a:avLst/>
          </a:prstGeom>
        </p:spPr>
      </p:pic>
      <p:sp>
        <p:nvSpPr>
          <p:cNvPr id="3" name="Shape 0"/>
          <p:cNvSpPr/>
          <p:nvPr/>
        </p:nvSpPr>
        <p:spPr>
          <a:xfrm>
            <a:off x="5120640" y="0"/>
            <a:ext cx="4023360" cy="5143500"/>
          </a:xfrm>
          <a:prstGeom prst="rect">
            <a:avLst/>
          </a:prstGeom>
          <a:solidFill>
            <a:srgbClr val="12291D">
              <a:alpha val="30000"/>
            </a:srgbClr>
          </a:solidFill>
          <a:ln/>
        </p:spPr>
      </p:sp>
      <p:sp>
        <p:nvSpPr>
          <p:cNvPr id="4" name="Text 1"/>
          <p:cNvSpPr txBox="1"/>
          <p:nvPr/>
        </p:nvSpPr>
        <p:spPr>
          <a:xfrm>
            <a:off x="457200" y="411480"/>
            <a:ext cx="4572000" cy="457200"/>
          </a:xfrm>
          <a:prstGeom prst="rect">
            <a:avLst/>
          </a:prstGeom>
          <a:noFill/>
          <a:ln/>
        </p:spPr>
        <p:txBody>
          <a:bodyPr wrap="square" lIns="0" tIns="0" rIns="0" bIns="0" rtlCol="0" anchor="ctr"/>
          <a:lstStyle/>
          <a:p>
            <a:pPr indent="0" marL="0">
              <a:buNone/>
            </a:pPr>
            <a:r>
              <a:rPr lang="en-US" sz="1100" dirty="0">
                <a:solidFill>
                  <a:srgbClr val="A9C9A4"/>
                </a:solidFill>
                <a:latin typeface="Calibri" pitchFamily="34" charset="0"/>
                <a:ea typeface="Calibri" pitchFamily="34" charset="-122"/>
                <a:cs typeface="Calibri" pitchFamily="34" charset="-120"/>
              </a:rPr>
              <a:t>ICIC 2026  ·  The Tenth International Conference on Informatics and Computing</a:t>
            </a:r>
            <a:endParaRPr lang="en-US" sz="1100" dirty="0"/>
          </a:p>
        </p:txBody>
      </p:sp>
      <p:sp>
        <p:nvSpPr>
          <p:cNvPr id="5" name="Text 2"/>
          <p:cNvSpPr txBox="1"/>
          <p:nvPr/>
        </p:nvSpPr>
        <p:spPr>
          <a:xfrm>
            <a:off x="457200" y="1051560"/>
            <a:ext cx="4480560" cy="1920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Benchmarking Multi-View Tree-Level Oil Palm Bunch Counting Under a Fixed Detector</a:t>
            </a:r>
            <a:endParaRPr lang="en-US" sz="3000" dirty="0"/>
          </a:p>
        </p:txBody>
      </p:sp>
      <p:sp>
        <p:nvSpPr>
          <p:cNvPr id="6" name="Text 3"/>
          <p:cNvSpPr txBox="1"/>
          <p:nvPr/>
        </p:nvSpPr>
        <p:spPr>
          <a:xfrm>
            <a:off x="457200" y="3017520"/>
            <a:ext cx="4480560" cy="365760"/>
          </a:xfrm>
          <a:prstGeom prst="rect">
            <a:avLst/>
          </a:prstGeom>
          <a:noFill/>
          <a:ln/>
        </p:spPr>
        <p:txBody>
          <a:bodyPr wrap="square" lIns="0" tIns="0" rIns="0" bIns="0" rtlCol="0" anchor="ctr"/>
          <a:lstStyle/>
          <a:p>
            <a:pPr indent="0" marL="0">
              <a:buNone/>
            </a:pPr>
            <a:r>
              <a:rPr lang="en-US" sz="1500" i="1" dirty="0">
                <a:solidFill>
                  <a:srgbClr val="F2A36B"/>
                </a:solidFill>
                <a:latin typeface="Cambria" pitchFamily="34" charset="0"/>
                <a:ea typeface="Cambria" pitchFamily="34" charset="-122"/>
                <a:cs typeface="Cambria" pitchFamily="34" charset="-120"/>
              </a:rPr>
              <a:t>Is the bottleneck the counter — or the detector?</a:t>
            </a:r>
            <a:endParaRPr lang="en-US" sz="1500" dirty="0"/>
          </a:p>
        </p:txBody>
      </p:sp>
      <p:sp>
        <p:nvSpPr>
          <p:cNvPr id="7" name="Text 4"/>
          <p:cNvSpPr txBox="1"/>
          <p:nvPr/>
        </p:nvSpPr>
        <p:spPr>
          <a:xfrm>
            <a:off x="457200" y="3703320"/>
            <a:ext cx="4480560" cy="1005840"/>
          </a:xfrm>
          <a:prstGeom prst="rect">
            <a:avLst/>
          </a:prstGeom>
          <a:noFill/>
          <a:ln/>
        </p:spPr>
        <p:txBody>
          <a:bodyPr wrap="square" lIns="0" tIns="0" rIns="0" bIns="0" rtlCol="0" anchor="t"/>
          <a:lstStyle/>
          <a:p>
            <a:pPr indent="0" marL="0">
              <a:spcAft>
                <a:spcPts val="300"/>
              </a:spcAft>
              <a:buNone/>
            </a:pPr>
            <a:r>
              <a:rPr lang="en-US" sz="1100" b="1" dirty="0">
                <a:solidFill>
                  <a:srgbClr val="DCE8DE"/>
                </a:solidFill>
                <a:latin typeface="Calibri" pitchFamily="34" charset="0"/>
                <a:ea typeface="Calibri" pitchFamily="34" charset="-122"/>
                <a:cs typeface="Calibri" pitchFamily="34" charset="-120"/>
              </a:rPr>
              <a:t>Muhammad Zainal Muttaqin</a:t>
            </a:r>
            <a:endParaRPr lang="en-US" sz="1100" dirty="0"/>
          </a:p>
          <a:p>
            <a:pPr indent="0" marL="0">
              <a:spcAft>
                <a:spcPts val="300"/>
              </a:spcAft>
              <a:buNone/>
            </a:pPr>
            <a:r>
              <a:rPr lang="en-US" sz="1100" dirty="0">
                <a:solidFill>
                  <a:srgbClr val="DCE8DE"/>
                </a:solidFill>
                <a:latin typeface="Calibri" pitchFamily="34" charset="0"/>
                <a:ea typeface="Calibri" pitchFamily="34" charset="-122"/>
                <a:cs typeface="Calibri" pitchFamily="34" charset="-120"/>
              </a:rPr>
              <a:t>F. Indriani, S. W. Saputro, A. Rahmi, T. H. Saragih, Hartoni, D. Kartini, N. Said</a:t>
            </a:r>
            <a:endParaRPr lang="en-US" sz="1100" dirty="0"/>
          </a:p>
          <a:p>
            <a:pPr indent="0" marL="0">
              <a:spcAft>
                <a:spcPts val="300"/>
              </a:spcAft>
              <a:buNone/>
            </a:pPr>
            <a:r>
              <a:rPr lang="en-US" sz="1100" dirty="0">
                <a:solidFill>
                  <a:srgbClr val="DCE8DE"/>
                </a:solidFill>
                <a:latin typeface="Calibri" pitchFamily="34" charset="0"/>
                <a:ea typeface="Calibri" pitchFamily="34" charset="-122"/>
                <a:cs typeface="Calibri" pitchFamily="34" charset="-120"/>
              </a:rPr>
              <a:t>Lambung Mangkurat University, Banjarbaru, Indonesia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The problem: one bunch, many appearances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B62"/>
                </a:solidFill>
                <a:latin typeface="Calibri" pitchFamily="34" charset="0"/>
                <a:ea typeface="Calibri" pitchFamily="34" charset="-122"/>
                <a:cs typeface="Calibri" pitchFamily="34" charset="-120"/>
              </a:rPr>
              <a:t>Black Bunch Census (BBC) needs a per-tree count for each maturity class B1–B4</a:t>
            </a:r>
            <a:endParaRPr lang="en-US" sz="1400" dirty="0"/>
          </a:p>
        </p:txBody>
      </p:sp>
      <p:pic>
        <p:nvPicPr>
          <p:cNvPr id="4" name="Image 0" descr="/home/claude/img/side1.jpg">    </p:cNvPr>
          <p:cNvPicPr>
            <a:picLocks noChangeAspect="1"/>
          </p:cNvPicPr>
          <p:nvPr/>
        </p:nvPicPr>
        <p:blipFill>
          <a:blip r:embed="rId1"/>
          <a:srcRect l="0" r="0" t="0" b="0"/>
          <a:stretch/>
        </p:blipFill>
        <p:spPr>
          <a:xfrm>
            <a:off x="457200" y="1325880"/>
            <a:ext cx="1645920" cy="1645920"/>
          </a:xfrm>
          <a:prstGeom prst="rect">
            <a:avLst/>
          </a:prstGeom>
        </p:spPr>
      </p:pic>
      <p:sp>
        <p:nvSpPr>
          <p:cNvPr id="5" name="Text 2"/>
          <p:cNvSpPr txBox="1"/>
          <p:nvPr/>
        </p:nvSpPr>
        <p:spPr>
          <a:xfrm>
            <a:off x="457200" y="3017520"/>
            <a:ext cx="164592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View 1</a:t>
            </a:r>
            <a:endParaRPr lang="en-US" sz="1200" dirty="0"/>
          </a:p>
        </p:txBody>
      </p:sp>
      <p:pic>
        <p:nvPicPr>
          <p:cNvPr id="6" name="Image 1" descr="/home/claude/img/side2.jpg">    </p:cNvPr>
          <p:cNvPicPr>
            <a:picLocks noChangeAspect="1"/>
          </p:cNvPicPr>
          <p:nvPr/>
        </p:nvPicPr>
        <p:blipFill>
          <a:blip r:embed="rId2"/>
          <a:srcRect l="0" r="0" t="0" b="0"/>
          <a:stretch/>
        </p:blipFill>
        <p:spPr>
          <a:xfrm>
            <a:off x="2240280" y="1325880"/>
            <a:ext cx="1645920" cy="1645920"/>
          </a:xfrm>
          <a:prstGeom prst="rect">
            <a:avLst/>
          </a:prstGeom>
        </p:spPr>
      </p:pic>
      <p:sp>
        <p:nvSpPr>
          <p:cNvPr id="7" name="Text 3"/>
          <p:cNvSpPr txBox="1"/>
          <p:nvPr/>
        </p:nvSpPr>
        <p:spPr>
          <a:xfrm>
            <a:off x="2240280" y="3017520"/>
            <a:ext cx="164592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View 2</a:t>
            </a:r>
            <a:endParaRPr lang="en-US" sz="1200" dirty="0"/>
          </a:p>
        </p:txBody>
      </p:sp>
      <p:pic>
        <p:nvPicPr>
          <p:cNvPr id="8" name="Image 2" descr="/home/claude/img/side3.jpg">    </p:cNvPr>
          <p:cNvPicPr>
            <a:picLocks noChangeAspect="1"/>
          </p:cNvPicPr>
          <p:nvPr/>
        </p:nvPicPr>
        <p:blipFill>
          <a:blip r:embed="rId3"/>
          <a:srcRect l="0" r="0" t="0" b="0"/>
          <a:stretch/>
        </p:blipFill>
        <p:spPr>
          <a:xfrm>
            <a:off x="4023360" y="1325880"/>
            <a:ext cx="1645920" cy="1645920"/>
          </a:xfrm>
          <a:prstGeom prst="rect">
            <a:avLst/>
          </a:prstGeom>
        </p:spPr>
      </p:pic>
      <p:sp>
        <p:nvSpPr>
          <p:cNvPr id="9" name="Text 4"/>
          <p:cNvSpPr txBox="1"/>
          <p:nvPr/>
        </p:nvSpPr>
        <p:spPr>
          <a:xfrm>
            <a:off x="4023360" y="3017520"/>
            <a:ext cx="1645920" cy="27432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View 3</a:t>
            </a:r>
            <a:endParaRPr lang="en-US" sz="1200" dirty="0"/>
          </a:p>
        </p:txBody>
      </p:sp>
      <p:sp>
        <p:nvSpPr>
          <p:cNvPr id="10" name="Shape 5"/>
          <p:cNvSpPr/>
          <p:nvPr/>
        </p:nvSpPr>
        <p:spPr>
          <a:xfrm>
            <a:off x="457200" y="3429000"/>
            <a:ext cx="5212080" cy="594360"/>
          </a:xfrm>
          <a:prstGeom prst="roundRect">
            <a:avLst>
              <a:gd name="adj" fmla="val 12308"/>
            </a:avLst>
          </a:prstGeom>
          <a:solidFill>
            <a:srgbClr val="FBEDE5"/>
          </a:solidFill>
          <a:ln/>
        </p:spPr>
      </p:sp>
      <p:sp>
        <p:nvSpPr>
          <p:cNvPr id="11" name="Text 6"/>
          <p:cNvSpPr txBox="1"/>
          <p:nvPr/>
        </p:nvSpPr>
        <p:spPr>
          <a:xfrm>
            <a:off x="457200" y="3429000"/>
            <a:ext cx="5212080" cy="594360"/>
          </a:xfrm>
          <a:prstGeom prst="rect">
            <a:avLst/>
          </a:prstGeom>
          <a:noFill/>
          <a:ln/>
        </p:spPr>
        <p:txBody>
          <a:bodyPr wrap="square" rtlCol="0" anchor="ctr"/>
          <a:lstStyle/>
          <a:p>
            <a:pPr algn="ctr" indent="0" marL="0">
              <a:buNone/>
            </a:pPr>
            <a:r>
              <a:rPr lang="en-US" sz="1600" b="1" dirty="0">
                <a:solidFill>
                  <a:srgbClr val="C8511B"/>
                </a:solidFill>
                <a:latin typeface="Calibri" pitchFamily="34" charset="0"/>
                <a:ea typeface="Calibri" pitchFamily="34" charset="-122"/>
                <a:cs typeface="Calibri" pitchFamily="34" charset="-120"/>
              </a:rPr>
              <a:t>3 appearances</a:t>
            </a:r>
            <a:pPr algn="ctr" indent="0" marL="0">
              <a:buNone/>
            </a:pPr>
            <a:r>
              <a:rPr lang="en-US" sz="1600" dirty="0">
                <a:solidFill>
                  <a:srgbClr val="1E2B24"/>
                </a:solidFill>
                <a:latin typeface="Calibri" pitchFamily="34" charset="0"/>
                <a:ea typeface="Calibri" pitchFamily="34" charset="-122"/>
                <a:cs typeface="Calibri" pitchFamily="34" charset="-120"/>
              </a:rPr>
              <a:t>  →  only </a:t>
            </a:r>
            <a:pPr algn="ctr" indent="0" marL="0">
              <a:buNone/>
            </a:pPr>
            <a:r>
              <a:rPr lang="en-US" sz="1600" b="1" dirty="0">
                <a:solidFill>
                  <a:srgbClr val="1F4D36"/>
                </a:solidFill>
                <a:latin typeface="Calibri" pitchFamily="34" charset="0"/>
                <a:ea typeface="Calibri" pitchFamily="34" charset="-122"/>
                <a:cs typeface="Calibri" pitchFamily="34" charset="-120"/>
              </a:rPr>
              <a:t>1 bunch</a:t>
            </a:r>
            <a:pPr algn="ctr" indent="0" marL="0">
              <a:buNone/>
            </a:pPr>
            <a:r>
              <a:rPr lang="en-US" sz="1600" dirty="0">
                <a:solidFill>
                  <a:srgbClr val="1E2B24"/>
                </a:solidFill>
                <a:latin typeface="Calibri" pitchFamily="34" charset="0"/>
                <a:ea typeface="Calibri" pitchFamily="34" charset="-122"/>
                <a:cs typeface="Calibri" pitchFamily="34" charset="-120"/>
              </a:rPr>
              <a:t> in the tree-level count</a:t>
            </a:r>
            <a:endParaRPr lang="en-US" sz="1600" dirty="0"/>
          </a:p>
        </p:txBody>
      </p:sp>
      <p:sp>
        <p:nvSpPr>
          <p:cNvPr id="12" name="Shape 7"/>
          <p:cNvSpPr/>
          <p:nvPr/>
        </p:nvSpPr>
        <p:spPr>
          <a:xfrm>
            <a:off x="6035040" y="1325880"/>
            <a:ext cx="548640" cy="548640"/>
          </a:xfrm>
          <a:prstGeom prst="ellipse">
            <a:avLst/>
          </a:prstGeom>
          <a:solidFill>
            <a:srgbClr val="1F4D36"/>
          </a:solidFill>
          <a:ln w="12700">
            <a:solidFill>
              <a:srgbClr val="1F4D36"/>
            </a:solidFill>
            <a:prstDash val="solid"/>
          </a:ln>
        </p:spPr>
      </p:sp>
      <p:pic>
        <p:nvPicPr>
          <p:cNvPr id="13" name="Image 3" descr="preencoded.png">    </p:cNvPr>
          <p:cNvPicPr>
            <a:picLocks noChangeAspect="1"/>
          </p:cNvPicPr>
          <p:nvPr/>
        </p:nvPicPr>
        <p:blipFill>
          <a:blip r:embed="rId4"/>
          <a:stretch>
            <a:fillRect/>
          </a:stretch>
        </p:blipFill>
        <p:spPr>
          <a:xfrm>
            <a:off x="6172200" y="1463040"/>
            <a:ext cx="274320" cy="274320"/>
          </a:xfrm>
          <a:prstGeom prst="rect">
            <a:avLst/>
          </a:prstGeom>
        </p:spPr>
      </p:pic>
      <p:sp>
        <p:nvSpPr>
          <p:cNvPr id="14" name="Text 8"/>
          <p:cNvSpPr txBox="1"/>
          <p:nvPr/>
        </p:nvSpPr>
        <p:spPr>
          <a:xfrm>
            <a:off x="6720840" y="1298448"/>
            <a:ext cx="2011680" cy="292608"/>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Occlusion</a:t>
            </a:r>
            <a:endParaRPr lang="en-US" sz="1500" dirty="0"/>
          </a:p>
        </p:txBody>
      </p:sp>
      <p:sp>
        <p:nvSpPr>
          <p:cNvPr id="15" name="Text 9"/>
          <p:cNvSpPr txBox="1"/>
          <p:nvPr/>
        </p:nvSpPr>
        <p:spPr>
          <a:xfrm>
            <a:off x="6720840" y="1581912"/>
            <a:ext cx="2011680" cy="502920"/>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Fronds hide bunches, so 4–8 views per tree are captured</a:t>
            </a:r>
            <a:endParaRPr lang="en-US" sz="1150" dirty="0"/>
          </a:p>
        </p:txBody>
      </p:sp>
      <p:sp>
        <p:nvSpPr>
          <p:cNvPr id="16" name="Shape 10"/>
          <p:cNvSpPr/>
          <p:nvPr/>
        </p:nvSpPr>
        <p:spPr>
          <a:xfrm>
            <a:off x="6035040" y="2258568"/>
            <a:ext cx="548640" cy="548640"/>
          </a:xfrm>
          <a:prstGeom prst="ellipse">
            <a:avLst/>
          </a:prstGeom>
          <a:solidFill>
            <a:srgbClr val="1F4D36"/>
          </a:solidFill>
          <a:ln w="12700">
            <a:solidFill>
              <a:srgbClr val="1F4D36"/>
            </a:solidFill>
            <a:prstDash val="solid"/>
          </a:ln>
        </p:spPr>
      </p:sp>
      <p:pic>
        <p:nvPicPr>
          <p:cNvPr id="17" name="Image 4" descr="preencoded.png">    </p:cNvPr>
          <p:cNvPicPr>
            <a:picLocks noChangeAspect="1"/>
          </p:cNvPicPr>
          <p:nvPr/>
        </p:nvPicPr>
        <p:blipFill>
          <a:blip r:embed="rId5"/>
          <a:stretch>
            <a:fillRect/>
          </a:stretch>
        </p:blipFill>
        <p:spPr>
          <a:xfrm>
            <a:off x="6172200" y="2395728"/>
            <a:ext cx="274320" cy="274320"/>
          </a:xfrm>
          <a:prstGeom prst="rect">
            <a:avLst/>
          </a:prstGeom>
        </p:spPr>
      </p:pic>
      <p:sp>
        <p:nvSpPr>
          <p:cNvPr id="18" name="Text 11"/>
          <p:cNvSpPr txBox="1"/>
          <p:nvPr/>
        </p:nvSpPr>
        <p:spPr>
          <a:xfrm>
            <a:off x="6720840" y="2231136"/>
            <a:ext cx="2011680" cy="292608"/>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Duplication</a:t>
            </a:r>
            <a:endParaRPr lang="en-US" sz="1500" dirty="0"/>
          </a:p>
        </p:txBody>
      </p:sp>
      <p:sp>
        <p:nvSpPr>
          <p:cNvPr id="19" name="Text 12"/>
          <p:cNvSpPr txBox="1"/>
          <p:nvPr/>
        </p:nvSpPr>
        <p:spPr>
          <a:xfrm>
            <a:off x="6720840" y="2514600"/>
            <a:ext cx="2011680" cy="502920"/>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Summing detections counts the same bunch repeatedly</a:t>
            </a:r>
            <a:endParaRPr lang="en-US" sz="1150" dirty="0"/>
          </a:p>
        </p:txBody>
      </p:sp>
      <p:sp>
        <p:nvSpPr>
          <p:cNvPr id="20" name="Shape 13"/>
          <p:cNvSpPr/>
          <p:nvPr/>
        </p:nvSpPr>
        <p:spPr>
          <a:xfrm>
            <a:off x="6035040" y="3191256"/>
            <a:ext cx="548640" cy="548640"/>
          </a:xfrm>
          <a:prstGeom prst="ellipse">
            <a:avLst/>
          </a:prstGeom>
          <a:solidFill>
            <a:srgbClr val="C8511B"/>
          </a:solidFill>
          <a:ln w="12700">
            <a:solidFill>
              <a:srgbClr val="C8511B"/>
            </a:solidFill>
            <a:prstDash val="solid"/>
          </a:ln>
        </p:spPr>
      </p:sp>
      <p:pic>
        <p:nvPicPr>
          <p:cNvPr id="21" name="Image 5" descr="preencoded.png">    </p:cNvPr>
          <p:cNvPicPr>
            <a:picLocks noChangeAspect="1"/>
          </p:cNvPicPr>
          <p:nvPr/>
        </p:nvPicPr>
        <p:blipFill>
          <a:blip r:embed="rId6"/>
          <a:stretch>
            <a:fillRect/>
          </a:stretch>
        </p:blipFill>
        <p:spPr>
          <a:xfrm>
            <a:off x="6172200" y="3328416"/>
            <a:ext cx="274320" cy="274320"/>
          </a:xfrm>
          <a:prstGeom prst="rect">
            <a:avLst/>
          </a:prstGeom>
        </p:spPr>
      </p:pic>
      <p:sp>
        <p:nvSpPr>
          <p:cNvPr id="22" name="Text 14"/>
          <p:cNvSpPr txBox="1"/>
          <p:nvPr/>
        </p:nvSpPr>
        <p:spPr>
          <a:xfrm>
            <a:off x="6720840" y="3163824"/>
            <a:ext cx="2011680" cy="292608"/>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Open question</a:t>
            </a:r>
            <a:endParaRPr lang="en-US" sz="1500" dirty="0"/>
          </a:p>
        </p:txBody>
      </p:sp>
      <p:sp>
        <p:nvSpPr>
          <p:cNvPr id="23" name="Text 15"/>
          <p:cNvSpPr txBox="1"/>
          <p:nvPr/>
        </p:nvSpPr>
        <p:spPr>
          <a:xfrm>
            <a:off x="6720840" y="3447288"/>
            <a:ext cx="2011680" cy="502920"/>
          </a:xfrm>
          <a:prstGeom prst="rect">
            <a:avLst/>
          </a:prstGeom>
          <a:noFill/>
          <a:ln/>
        </p:spPr>
        <p:txBody>
          <a:bodyPr wrap="square" lIns="0" tIns="0" rIns="0" bIns="0" rtlCol="0" anchor="t"/>
          <a:lstStyle/>
          <a:p>
            <a:pPr indent="0" marL="0">
              <a:buNone/>
            </a:pPr>
            <a:r>
              <a:rPr lang="en-US" sz="1150" dirty="0">
                <a:solidFill>
                  <a:srgbClr val="5B6B62"/>
                </a:solidFill>
                <a:latin typeface="Calibri" pitchFamily="34" charset="0"/>
                <a:ea typeface="Calibri" pitchFamily="34" charset="-122"/>
                <a:cs typeface="Calibri" pitchFamily="34" charset="-120"/>
              </a:rPr>
              <a:t>Does error come from the counter or the detector?</a:t>
            </a:r>
            <a:endParaRPr lang="en-US" sz="1150" dirty="0"/>
          </a:p>
        </p:txBody>
      </p:sp>
      <p:sp>
        <p:nvSpPr>
          <p:cNvPr id="24" name="Text 16"/>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2</a:t>
            </a:r>
            <a:endParaRPr lang="en-US" sz="1000" dirty="0"/>
          </a:p>
        </p:txBody>
      </p:sp>
      <p:sp>
        <p:nvSpPr>
          <p:cNvPr id="25" name="Text 17"/>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E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SawitMVC dataset &amp; counting pipeline</a:t>
            </a:r>
            <a:endParaRPr lang="en-US" sz="2800" dirty="0"/>
          </a:p>
        </p:txBody>
      </p:sp>
      <p:sp>
        <p:nvSpPr>
          <p:cNvPr id="3" name="Shape 1"/>
          <p:cNvSpPr/>
          <p:nvPr/>
        </p:nvSpPr>
        <p:spPr>
          <a:xfrm>
            <a:off x="457200" y="960120"/>
            <a:ext cx="1874520" cy="1143000"/>
          </a:xfrm>
          <a:prstGeom prst="roundRect">
            <a:avLst>
              <a:gd name="adj" fmla="val 6400"/>
            </a:avLst>
          </a:prstGeom>
          <a:solidFill>
            <a:srgbClr val="FFFFFF"/>
          </a:solidFill>
          <a:ln/>
          <a:effectLst>
            <a:outerShdw sx="100000" sy="100000" kx="0" ky="0" algn="bl" rotWithShape="0" blurRad="76200" dist="25400" dir="5400000">
              <a:srgbClr val="000000">
                <a:alpha val="12000"/>
              </a:srgbClr>
            </a:outerShdw>
          </a:effectLst>
        </p:spPr>
      </p:sp>
      <p:sp>
        <p:nvSpPr>
          <p:cNvPr id="4" name="Text 2"/>
          <p:cNvSpPr txBox="1"/>
          <p:nvPr/>
        </p:nvSpPr>
        <p:spPr>
          <a:xfrm>
            <a:off x="457200" y="1051560"/>
            <a:ext cx="1874520" cy="640080"/>
          </a:xfrm>
          <a:prstGeom prst="rect">
            <a:avLst/>
          </a:prstGeom>
          <a:noFill/>
          <a:ln/>
        </p:spPr>
        <p:txBody>
          <a:bodyPr wrap="square" lIns="0" tIns="0" rIns="0" bIns="0" rtlCol="0" anchor="ctr"/>
          <a:lstStyle/>
          <a:p>
            <a:pPr algn="ctr" indent="0" marL="0">
              <a:buNone/>
            </a:pPr>
            <a:r>
              <a:rPr lang="en-US" sz="3400" b="1" dirty="0">
                <a:solidFill>
                  <a:srgbClr val="1F4D36"/>
                </a:solidFill>
                <a:latin typeface="Cambria" pitchFamily="34" charset="0"/>
                <a:ea typeface="Cambria" pitchFamily="34" charset="-122"/>
                <a:cs typeface="Cambria" pitchFamily="34" charset="-120"/>
              </a:rPr>
              <a:t>953</a:t>
            </a:r>
            <a:endParaRPr lang="en-US" sz="3400" dirty="0"/>
          </a:p>
        </p:txBody>
      </p:sp>
      <p:sp>
        <p:nvSpPr>
          <p:cNvPr id="5" name="Text 3"/>
          <p:cNvSpPr txBox="1"/>
          <p:nvPr/>
        </p:nvSpPr>
        <p:spPr>
          <a:xfrm>
            <a:off x="457200" y="1691640"/>
            <a:ext cx="1874520" cy="32004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trees</a:t>
            </a:r>
            <a:endParaRPr lang="en-US" sz="1200" dirty="0"/>
          </a:p>
        </p:txBody>
      </p:sp>
      <p:sp>
        <p:nvSpPr>
          <p:cNvPr id="6" name="Shape 4"/>
          <p:cNvSpPr/>
          <p:nvPr/>
        </p:nvSpPr>
        <p:spPr>
          <a:xfrm>
            <a:off x="2560320" y="960120"/>
            <a:ext cx="1874520" cy="1143000"/>
          </a:xfrm>
          <a:prstGeom prst="roundRect">
            <a:avLst>
              <a:gd name="adj" fmla="val 6400"/>
            </a:avLst>
          </a:prstGeom>
          <a:solidFill>
            <a:srgbClr val="FFFFFF"/>
          </a:solidFill>
          <a:ln/>
          <a:effectLst>
            <a:outerShdw sx="100000" sy="100000" kx="0" ky="0" algn="bl" rotWithShape="0" blurRad="76200" dist="25400" dir="5400000">
              <a:srgbClr val="000000">
                <a:alpha val="12000"/>
              </a:srgbClr>
            </a:outerShdw>
          </a:effectLst>
        </p:spPr>
      </p:sp>
      <p:sp>
        <p:nvSpPr>
          <p:cNvPr id="7" name="Text 5"/>
          <p:cNvSpPr txBox="1"/>
          <p:nvPr/>
        </p:nvSpPr>
        <p:spPr>
          <a:xfrm>
            <a:off x="2560320" y="1051560"/>
            <a:ext cx="1874520" cy="640080"/>
          </a:xfrm>
          <a:prstGeom prst="rect">
            <a:avLst/>
          </a:prstGeom>
          <a:noFill/>
          <a:ln/>
        </p:spPr>
        <p:txBody>
          <a:bodyPr wrap="square" lIns="0" tIns="0" rIns="0" bIns="0" rtlCol="0" anchor="ctr"/>
          <a:lstStyle/>
          <a:p>
            <a:pPr algn="ctr" indent="0" marL="0">
              <a:buNone/>
            </a:pPr>
            <a:r>
              <a:rPr lang="en-US" sz="3400" b="1" dirty="0">
                <a:solidFill>
                  <a:srgbClr val="1F4D36"/>
                </a:solidFill>
                <a:latin typeface="Cambria" pitchFamily="34" charset="0"/>
                <a:ea typeface="Cambria" pitchFamily="34" charset="-122"/>
                <a:cs typeface="Cambria" pitchFamily="34" charset="-120"/>
              </a:rPr>
              <a:t>3,992</a:t>
            </a:r>
            <a:endParaRPr lang="en-US" sz="3400" dirty="0"/>
          </a:p>
        </p:txBody>
      </p:sp>
      <p:sp>
        <p:nvSpPr>
          <p:cNvPr id="8" name="Text 6"/>
          <p:cNvSpPr txBox="1"/>
          <p:nvPr/>
        </p:nvSpPr>
        <p:spPr>
          <a:xfrm>
            <a:off x="2560320" y="1691640"/>
            <a:ext cx="1874520" cy="32004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images</a:t>
            </a:r>
            <a:endParaRPr lang="en-US" sz="1200" dirty="0"/>
          </a:p>
        </p:txBody>
      </p:sp>
      <p:sp>
        <p:nvSpPr>
          <p:cNvPr id="9" name="Shape 7"/>
          <p:cNvSpPr/>
          <p:nvPr/>
        </p:nvSpPr>
        <p:spPr>
          <a:xfrm>
            <a:off x="4663440" y="960120"/>
            <a:ext cx="1874520" cy="1143000"/>
          </a:xfrm>
          <a:prstGeom prst="roundRect">
            <a:avLst>
              <a:gd name="adj" fmla="val 6400"/>
            </a:avLst>
          </a:prstGeom>
          <a:solidFill>
            <a:srgbClr val="FFFFFF"/>
          </a:solidFill>
          <a:ln/>
          <a:effectLst>
            <a:outerShdw sx="100000" sy="100000" kx="0" ky="0" algn="bl" rotWithShape="0" blurRad="76200" dist="25400" dir="5400000">
              <a:srgbClr val="000000">
                <a:alpha val="12000"/>
              </a:srgbClr>
            </a:outerShdw>
          </a:effectLst>
        </p:spPr>
      </p:sp>
      <p:sp>
        <p:nvSpPr>
          <p:cNvPr id="10" name="Text 8"/>
          <p:cNvSpPr txBox="1"/>
          <p:nvPr/>
        </p:nvSpPr>
        <p:spPr>
          <a:xfrm>
            <a:off x="4663440" y="1051560"/>
            <a:ext cx="1874520" cy="640080"/>
          </a:xfrm>
          <a:prstGeom prst="rect">
            <a:avLst/>
          </a:prstGeom>
          <a:noFill/>
          <a:ln/>
        </p:spPr>
        <p:txBody>
          <a:bodyPr wrap="square" lIns="0" tIns="0" rIns="0" bIns="0" rtlCol="0" anchor="ctr"/>
          <a:lstStyle/>
          <a:p>
            <a:pPr algn="ctr" indent="0" marL="0">
              <a:buNone/>
            </a:pPr>
            <a:r>
              <a:rPr lang="en-US" sz="3400" b="1" dirty="0">
                <a:solidFill>
                  <a:srgbClr val="1F4D36"/>
                </a:solidFill>
                <a:latin typeface="Cambria" pitchFamily="34" charset="0"/>
                <a:ea typeface="Cambria" pitchFamily="34" charset="-122"/>
                <a:cs typeface="Cambria" pitchFamily="34" charset="-120"/>
              </a:rPr>
              <a:t>4</a:t>
            </a:r>
            <a:endParaRPr lang="en-US" sz="3400" dirty="0"/>
          </a:p>
        </p:txBody>
      </p:sp>
      <p:sp>
        <p:nvSpPr>
          <p:cNvPr id="11" name="Text 9"/>
          <p:cNvSpPr txBox="1"/>
          <p:nvPr/>
        </p:nvSpPr>
        <p:spPr>
          <a:xfrm>
            <a:off x="4663440" y="1691640"/>
            <a:ext cx="1874520" cy="32004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maturity classes</a:t>
            </a:r>
            <a:endParaRPr lang="en-US" sz="1200" dirty="0"/>
          </a:p>
        </p:txBody>
      </p:sp>
      <p:sp>
        <p:nvSpPr>
          <p:cNvPr id="12" name="Shape 10"/>
          <p:cNvSpPr/>
          <p:nvPr/>
        </p:nvSpPr>
        <p:spPr>
          <a:xfrm>
            <a:off x="6766560" y="960120"/>
            <a:ext cx="1874520" cy="1143000"/>
          </a:xfrm>
          <a:prstGeom prst="roundRect">
            <a:avLst>
              <a:gd name="adj" fmla="val 6400"/>
            </a:avLst>
          </a:prstGeom>
          <a:solidFill>
            <a:srgbClr val="FFFFFF"/>
          </a:solidFill>
          <a:ln/>
          <a:effectLst>
            <a:outerShdw sx="100000" sy="100000" kx="0" ky="0" algn="bl" rotWithShape="0" blurRad="76200" dist="25400" dir="5400000">
              <a:srgbClr val="000000">
                <a:alpha val="12000"/>
              </a:srgbClr>
            </a:outerShdw>
          </a:effectLst>
        </p:spPr>
      </p:sp>
      <p:sp>
        <p:nvSpPr>
          <p:cNvPr id="13" name="Text 11"/>
          <p:cNvSpPr txBox="1"/>
          <p:nvPr/>
        </p:nvSpPr>
        <p:spPr>
          <a:xfrm>
            <a:off x="6766560" y="1051560"/>
            <a:ext cx="1874520" cy="640080"/>
          </a:xfrm>
          <a:prstGeom prst="rect">
            <a:avLst/>
          </a:prstGeom>
          <a:noFill/>
          <a:ln/>
        </p:spPr>
        <p:txBody>
          <a:bodyPr wrap="square" lIns="0" tIns="0" rIns="0" bIns="0" rtlCol="0" anchor="ctr"/>
          <a:lstStyle/>
          <a:p>
            <a:pPr algn="ctr" indent="0" marL="0">
              <a:buNone/>
            </a:pPr>
            <a:r>
              <a:rPr lang="en-US" sz="2200" b="1" dirty="0">
                <a:solidFill>
                  <a:srgbClr val="C8511B"/>
                </a:solidFill>
                <a:latin typeface="Cambria" pitchFamily="34" charset="0"/>
                <a:ea typeface="Cambria" pitchFamily="34" charset="-122"/>
                <a:cs typeface="Cambria" pitchFamily="34" charset="-120"/>
              </a:rPr>
              <a:t>716/96/141</a:t>
            </a:r>
            <a:endParaRPr lang="en-US" sz="2200" dirty="0"/>
          </a:p>
        </p:txBody>
      </p:sp>
      <p:sp>
        <p:nvSpPr>
          <p:cNvPr id="14" name="Text 12"/>
          <p:cNvSpPr txBox="1"/>
          <p:nvPr/>
        </p:nvSpPr>
        <p:spPr>
          <a:xfrm>
            <a:off x="6766560" y="1691640"/>
            <a:ext cx="1874520" cy="320040"/>
          </a:xfrm>
          <a:prstGeom prst="rect">
            <a:avLst/>
          </a:prstGeom>
          <a:noFill/>
          <a:ln/>
        </p:spPr>
        <p:txBody>
          <a:bodyPr wrap="square" lIns="0" tIns="0" rIns="0" bIns="0" rtlCol="0" anchor="ctr"/>
          <a:lstStyle/>
          <a:p>
            <a:pPr algn="ctr" indent="0" marL="0">
              <a:buNone/>
            </a:pPr>
            <a:r>
              <a:rPr lang="en-US" sz="1200" dirty="0">
                <a:solidFill>
                  <a:srgbClr val="5B6B62"/>
                </a:solidFill>
                <a:latin typeface="Calibri" pitchFamily="34" charset="0"/>
                <a:ea typeface="Calibri" pitchFamily="34" charset="-122"/>
                <a:cs typeface="Calibri" pitchFamily="34" charset="-120"/>
              </a:rPr>
              <a:t>train/val/test trees</a:t>
            </a:r>
            <a:endParaRPr lang="en-US" sz="1200" dirty="0"/>
          </a:p>
        </p:txBody>
      </p:sp>
      <p:sp>
        <p:nvSpPr>
          <p:cNvPr id="15" name="Shape 13"/>
          <p:cNvSpPr/>
          <p:nvPr/>
        </p:nvSpPr>
        <p:spPr>
          <a:xfrm>
            <a:off x="914400" y="2514600"/>
            <a:ext cx="566928" cy="566928"/>
          </a:xfrm>
          <a:prstGeom prst="ellipse">
            <a:avLst/>
          </a:prstGeom>
          <a:solidFill>
            <a:srgbClr val="1F4D36"/>
          </a:solidFill>
          <a:ln w="12700">
            <a:solidFill>
              <a:srgbClr val="1F4D36"/>
            </a:solidFill>
            <a:prstDash val="solid"/>
          </a:ln>
        </p:spPr>
      </p:sp>
      <p:pic>
        <p:nvPicPr>
          <p:cNvPr id="16" name="Image 0" descr="preencoded.png">    </p:cNvPr>
          <p:cNvPicPr>
            <a:picLocks noChangeAspect="1"/>
          </p:cNvPicPr>
          <p:nvPr/>
        </p:nvPicPr>
        <p:blipFill>
          <a:blip r:embed="rId1"/>
          <a:stretch>
            <a:fillRect/>
          </a:stretch>
        </p:blipFill>
        <p:spPr>
          <a:xfrm>
            <a:off x="1056132" y="2656332"/>
            <a:ext cx="283464" cy="283464"/>
          </a:xfrm>
          <a:prstGeom prst="rect">
            <a:avLst/>
          </a:prstGeom>
        </p:spPr>
      </p:pic>
      <p:sp>
        <p:nvSpPr>
          <p:cNvPr id="17" name="Text 14"/>
          <p:cNvSpPr txBox="1"/>
          <p:nvPr/>
        </p:nvSpPr>
        <p:spPr>
          <a:xfrm>
            <a:off x="411480" y="3200400"/>
            <a:ext cx="1572768" cy="292608"/>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Multi-view images</a:t>
            </a:r>
            <a:endParaRPr lang="en-US" sz="1300" dirty="0"/>
          </a:p>
        </p:txBody>
      </p:sp>
      <p:sp>
        <p:nvSpPr>
          <p:cNvPr id="18" name="Text 15"/>
          <p:cNvSpPr txBox="1"/>
          <p:nvPr/>
        </p:nvSpPr>
        <p:spPr>
          <a:xfrm>
            <a:off x="411480" y="3493008"/>
            <a:ext cx="1572768" cy="50292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4–8 views / tree</a:t>
            </a:r>
            <a:endParaRPr lang="en-US" sz="1050" dirty="0"/>
          </a:p>
        </p:txBody>
      </p:sp>
      <p:sp>
        <p:nvSpPr>
          <p:cNvPr id="19" name="Shape 16"/>
          <p:cNvSpPr/>
          <p:nvPr/>
        </p:nvSpPr>
        <p:spPr>
          <a:xfrm>
            <a:off x="1737360" y="2706624"/>
            <a:ext cx="274320" cy="182880"/>
          </a:xfrm>
          <a:prstGeom prst="rightArrow">
            <a:avLst/>
          </a:prstGeom>
          <a:solidFill>
            <a:srgbClr val="A9BDB0"/>
          </a:solidFill>
          <a:ln/>
        </p:spPr>
      </p:sp>
      <p:sp>
        <p:nvSpPr>
          <p:cNvPr id="20" name="Shape 17"/>
          <p:cNvSpPr/>
          <p:nvPr/>
        </p:nvSpPr>
        <p:spPr>
          <a:xfrm>
            <a:off x="2615184" y="2514600"/>
            <a:ext cx="566928" cy="566928"/>
          </a:xfrm>
          <a:prstGeom prst="ellipse">
            <a:avLst/>
          </a:prstGeom>
          <a:solidFill>
            <a:srgbClr val="C8511B"/>
          </a:solidFill>
          <a:ln w="12700">
            <a:solidFill>
              <a:srgbClr val="C8511B"/>
            </a:solidFill>
            <a:prstDash val="solid"/>
          </a:ln>
        </p:spPr>
      </p:sp>
      <p:pic>
        <p:nvPicPr>
          <p:cNvPr id="21" name="Image 1" descr="preencoded.png">    </p:cNvPr>
          <p:cNvPicPr>
            <a:picLocks noChangeAspect="1"/>
          </p:cNvPicPr>
          <p:nvPr/>
        </p:nvPicPr>
        <p:blipFill>
          <a:blip r:embed="rId2"/>
          <a:stretch>
            <a:fillRect/>
          </a:stretch>
        </p:blipFill>
        <p:spPr>
          <a:xfrm>
            <a:off x="2756916" y="2656332"/>
            <a:ext cx="283464" cy="283464"/>
          </a:xfrm>
          <a:prstGeom prst="rect">
            <a:avLst/>
          </a:prstGeom>
        </p:spPr>
      </p:pic>
      <p:sp>
        <p:nvSpPr>
          <p:cNvPr id="22" name="Text 18"/>
          <p:cNvSpPr txBox="1"/>
          <p:nvPr/>
        </p:nvSpPr>
        <p:spPr>
          <a:xfrm>
            <a:off x="2112264" y="3200400"/>
            <a:ext cx="1572768" cy="292608"/>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Detections</a:t>
            </a:r>
            <a:endParaRPr lang="en-US" sz="1300" dirty="0"/>
          </a:p>
        </p:txBody>
      </p:sp>
      <p:sp>
        <p:nvSpPr>
          <p:cNvPr id="23" name="Text 19"/>
          <p:cNvSpPr txBox="1"/>
          <p:nvPr/>
        </p:nvSpPr>
        <p:spPr>
          <a:xfrm>
            <a:off x="2112264" y="3493008"/>
            <a:ext cx="1572768" cy="50292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GT boxes  vs  YOLO26m</a:t>
            </a:r>
            <a:endParaRPr lang="en-US" sz="1050" dirty="0"/>
          </a:p>
        </p:txBody>
      </p:sp>
      <p:sp>
        <p:nvSpPr>
          <p:cNvPr id="24" name="Shape 20"/>
          <p:cNvSpPr/>
          <p:nvPr/>
        </p:nvSpPr>
        <p:spPr>
          <a:xfrm>
            <a:off x="3438144" y="2706624"/>
            <a:ext cx="274320" cy="182880"/>
          </a:xfrm>
          <a:prstGeom prst="rightArrow">
            <a:avLst/>
          </a:prstGeom>
          <a:solidFill>
            <a:srgbClr val="A9BDB0"/>
          </a:solidFill>
          <a:ln/>
        </p:spPr>
      </p:sp>
      <p:sp>
        <p:nvSpPr>
          <p:cNvPr id="25" name="Shape 21"/>
          <p:cNvSpPr/>
          <p:nvPr/>
        </p:nvSpPr>
        <p:spPr>
          <a:xfrm>
            <a:off x="4315968" y="2514600"/>
            <a:ext cx="566928" cy="566928"/>
          </a:xfrm>
          <a:prstGeom prst="ellipse">
            <a:avLst/>
          </a:prstGeom>
          <a:solidFill>
            <a:srgbClr val="1F4D36"/>
          </a:solidFill>
          <a:ln w="12700">
            <a:solidFill>
              <a:srgbClr val="1F4D36"/>
            </a:solidFill>
            <a:prstDash val="solid"/>
          </a:ln>
        </p:spPr>
      </p:sp>
      <p:pic>
        <p:nvPicPr>
          <p:cNvPr id="26" name="Image 2" descr="preencoded.png">    </p:cNvPr>
          <p:cNvPicPr>
            <a:picLocks noChangeAspect="1"/>
          </p:cNvPicPr>
          <p:nvPr/>
        </p:nvPicPr>
        <p:blipFill>
          <a:blip r:embed="rId3"/>
          <a:stretch>
            <a:fillRect/>
          </a:stretch>
        </p:blipFill>
        <p:spPr>
          <a:xfrm>
            <a:off x="4457700" y="2656332"/>
            <a:ext cx="283464" cy="283464"/>
          </a:xfrm>
          <a:prstGeom prst="rect">
            <a:avLst/>
          </a:prstGeom>
        </p:spPr>
      </p:pic>
      <p:sp>
        <p:nvSpPr>
          <p:cNvPr id="27" name="Text 22"/>
          <p:cNvSpPr txBox="1"/>
          <p:nvPr/>
        </p:nvSpPr>
        <p:spPr>
          <a:xfrm>
            <a:off x="3813048" y="3200400"/>
            <a:ext cx="1572768" cy="292608"/>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Tree features</a:t>
            </a:r>
            <a:endParaRPr lang="en-US" sz="1300" dirty="0"/>
          </a:p>
        </p:txBody>
      </p:sp>
      <p:sp>
        <p:nvSpPr>
          <p:cNvPr id="28" name="Text 23"/>
          <p:cNvSpPr txBox="1"/>
          <p:nvPr/>
        </p:nvSpPr>
        <p:spPr>
          <a:xfrm>
            <a:off x="3813048" y="3493008"/>
            <a:ext cx="1572768" cy="50292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F0 (13-d) … Fall (67-d)</a:t>
            </a:r>
            <a:endParaRPr lang="en-US" sz="1050" dirty="0"/>
          </a:p>
        </p:txBody>
      </p:sp>
      <p:sp>
        <p:nvSpPr>
          <p:cNvPr id="29" name="Shape 24"/>
          <p:cNvSpPr/>
          <p:nvPr/>
        </p:nvSpPr>
        <p:spPr>
          <a:xfrm>
            <a:off x="5138928" y="2706624"/>
            <a:ext cx="274320" cy="182880"/>
          </a:xfrm>
          <a:prstGeom prst="rightArrow">
            <a:avLst/>
          </a:prstGeom>
          <a:solidFill>
            <a:srgbClr val="A9BDB0"/>
          </a:solidFill>
          <a:ln/>
        </p:spPr>
      </p:sp>
      <p:sp>
        <p:nvSpPr>
          <p:cNvPr id="30" name="Shape 25"/>
          <p:cNvSpPr/>
          <p:nvPr/>
        </p:nvSpPr>
        <p:spPr>
          <a:xfrm>
            <a:off x="6016752" y="2514600"/>
            <a:ext cx="566928" cy="566928"/>
          </a:xfrm>
          <a:prstGeom prst="ellipse">
            <a:avLst/>
          </a:prstGeom>
          <a:solidFill>
            <a:srgbClr val="1F4D36"/>
          </a:solidFill>
          <a:ln w="12700">
            <a:solidFill>
              <a:srgbClr val="1F4D36"/>
            </a:solidFill>
            <a:prstDash val="solid"/>
          </a:ln>
        </p:spPr>
      </p:sp>
      <p:pic>
        <p:nvPicPr>
          <p:cNvPr id="31" name="Image 3" descr="preencoded.png">    </p:cNvPr>
          <p:cNvPicPr>
            <a:picLocks noChangeAspect="1"/>
          </p:cNvPicPr>
          <p:nvPr/>
        </p:nvPicPr>
        <p:blipFill>
          <a:blip r:embed="rId4"/>
          <a:stretch>
            <a:fillRect/>
          </a:stretch>
        </p:blipFill>
        <p:spPr>
          <a:xfrm>
            <a:off x="6158484" y="2656332"/>
            <a:ext cx="283464" cy="283464"/>
          </a:xfrm>
          <a:prstGeom prst="rect">
            <a:avLst/>
          </a:prstGeom>
        </p:spPr>
      </p:pic>
      <p:sp>
        <p:nvSpPr>
          <p:cNvPr id="32" name="Text 26"/>
          <p:cNvSpPr txBox="1"/>
          <p:nvPr/>
        </p:nvSpPr>
        <p:spPr>
          <a:xfrm>
            <a:off x="5513832" y="3200400"/>
            <a:ext cx="1572768" cy="292608"/>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Regressor</a:t>
            </a:r>
            <a:endParaRPr lang="en-US" sz="1300" dirty="0"/>
          </a:p>
        </p:txBody>
      </p:sp>
      <p:sp>
        <p:nvSpPr>
          <p:cNvPr id="33" name="Text 27"/>
          <p:cNvSpPr txBox="1"/>
          <p:nvPr/>
        </p:nvSpPr>
        <p:spPr>
          <a:xfrm>
            <a:off x="5513832" y="3493008"/>
            <a:ext cx="1572768" cy="50292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Linear, Ridge, ElasticNet, SVM, RF</a:t>
            </a:r>
            <a:endParaRPr lang="en-US" sz="1050" dirty="0"/>
          </a:p>
        </p:txBody>
      </p:sp>
      <p:sp>
        <p:nvSpPr>
          <p:cNvPr id="34" name="Shape 28"/>
          <p:cNvSpPr/>
          <p:nvPr/>
        </p:nvSpPr>
        <p:spPr>
          <a:xfrm>
            <a:off x="6839712" y="2706624"/>
            <a:ext cx="274320" cy="182880"/>
          </a:xfrm>
          <a:prstGeom prst="rightArrow">
            <a:avLst/>
          </a:prstGeom>
          <a:solidFill>
            <a:srgbClr val="A9BDB0"/>
          </a:solidFill>
          <a:ln/>
        </p:spPr>
      </p:sp>
      <p:sp>
        <p:nvSpPr>
          <p:cNvPr id="35" name="Shape 29"/>
          <p:cNvSpPr/>
          <p:nvPr/>
        </p:nvSpPr>
        <p:spPr>
          <a:xfrm>
            <a:off x="7717536" y="2514600"/>
            <a:ext cx="566928" cy="566928"/>
          </a:xfrm>
          <a:prstGeom prst="ellipse">
            <a:avLst/>
          </a:prstGeom>
          <a:solidFill>
            <a:srgbClr val="1F4D36"/>
          </a:solidFill>
          <a:ln w="12700">
            <a:solidFill>
              <a:srgbClr val="1F4D36"/>
            </a:solidFill>
            <a:prstDash val="solid"/>
          </a:ln>
        </p:spPr>
      </p:sp>
      <p:pic>
        <p:nvPicPr>
          <p:cNvPr id="36" name="Image 4" descr="preencoded.png">    </p:cNvPr>
          <p:cNvPicPr>
            <a:picLocks noChangeAspect="1"/>
          </p:cNvPicPr>
          <p:nvPr/>
        </p:nvPicPr>
        <p:blipFill>
          <a:blip r:embed="rId5"/>
          <a:stretch>
            <a:fillRect/>
          </a:stretch>
        </p:blipFill>
        <p:spPr>
          <a:xfrm>
            <a:off x="7859268" y="2656332"/>
            <a:ext cx="283464" cy="283464"/>
          </a:xfrm>
          <a:prstGeom prst="rect">
            <a:avLst/>
          </a:prstGeom>
        </p:spPr>
      </p:pic>
      <p:sp>
        <p:nvSpPr>
          <p:cNvPr id="37" name="Text 30"/>
          <p:cNvSpPr txBox="1"/>
          <p:nvPr/>
        </p:nvSpPr>
        <p:spPr>
          <a:xfrm>
            <a:off x="7214616" y="3200400"/>
            <a:ext cx="1572768" cy="292608"/>
          </a:xfrm>
          <a:prstGeom prst="rect">
            <a:avLst/>
          </a:prstGeom>
          <a:noFill/>
          <a:ln/>
        </p:spPr>
        <p:txBody>
          <a:bodyPr wrap="square" lIns="0" tIns="0" rIns="0" bIns="0" rtlCol="0" anchor="ctr"/>
          <a:lstStyle/>
          <a:p>
            <a:pPr algn="ctr" indent="0" marL="0">
              <a:buNone/>
            </a:pPr>
            <a:r>
              <a:rPr lang="en-US" sz="1300" b="1" dirty="0">
                <a:solidFill>
                  <a:srgbClr val="1E2B24"/>
                </a:solidFill>
                <a:latin typeface="Calibri" pitchFamily="34" charset="0"/>
                <a:ea typeface="Calibri" pitchFamily="34" charset="-122"/>
                <a:cs typeface="Calibri" pitchFamily="34" charset="-120"/>
              </a:rPr>
              <a:t>Counts</a:t>
            </a:r>
            <a:endParaRPr lang="en-US" sz="1300" dirty="0"/>
          </a:p>
        </p:txBody>
      </p:sp>
      <p:sp>
        <p:nvSpPr>
          <p:cNvPr id="38" name="Text 31"/>
          <p:cNvSpPr txBox="1"/>
          <p:nvPr/>
        </p:nvSpPr>
        <p:spPr>
          <a:xfrm>
            <a:off x="7214616" y="3493008"/>
            <a:ext cx="1572768" cy="502920"/>
          </a:xfrm>
          <a:prstGeom prst="rect">
            <a:avLst/>
          </a:prstGeom>
          <a:noFill/>
          <a:ln/>
        </p:spPr>
        <p:txBody>
          <a:bodyPr wrap="square" lIns="0" tIns="0" rIns="0" bIns="0" rtlCol="0" anchor="t"/>
          <a:lstStyle/>
          <a:p>
            <a:pPr algn="ctr" indent="0" marL="0">
              <a:buNone/>
            </a:pPr>
            <a:r>
              <a:rPr lang="en-US" sz="1050" dirty="0">
                <a:solidFill>
                  <a:srgbClr val="5B6B62"/>
                </a:solidFill>
                <a:latin typeface="Calibri" pitchFamily="34" charset="0"/>
                <a:ea typeface="Calibri" pitchFamily="34" charset="-122"/>
                <a:cs typeface="Calibri" pitchFamily="34" charset="-120"/>
              </a:rPr>
              <a:t>[B1, B2, B3, B4]</a:t>
            </a:r>
            <a:endParaRPr lang="en-US" sz="1050" dirty="0"/>
          </a:p>
        </p:txBody>
      </p:sp>
      <p:sp>
        <p:nvSpPr>
          <p:cNvPr id="39" name="Text 32"/>
          <p:cNvSpPr txBox="1"/>
          <p:nvPr/>
        </p:nvSpPr>
        <p:spPr>
          <a:xfrm>
            <a:off x="457200" y="4114800"/>
            <a:ext cx="8229600" cy="502920"/>
          </a:xfrm>
          <a:prstGeom prst="rect">
            <a:avLst/>
          </a:prstGeom>
          <a:noFill/>
          <a:ln/>
        </p:spPr>
        <p:txBody>
          <a:bodyPr wrap="square" lIns="0" tIns="0" rIns="0" bIns="0" rtlCol="0" anchor="ctr"/>
          <a:lstStyle/>
          <a:p>
            <a:pPr indent="0" marL="0">
              <a:buNone/>
            </a:pPr>
            <a:r>
              <a:rPr lang="en-US" sz="1300" b="1" dirty="0">
                <a:solidFill>
                  <a:srgbClr val="C8511B"/>
                </a:solidFill>
                <a:latin typeface="Calibri" pitchFamily="34" charset="0"/>
                <a:ea typeface="Calibri" pitchFamily="34" charset="-122"/>
                <a:cs typeface="Calibri" pitchFamily="34" charset="-120"/>
              </a:rPr>
              <a:t>Key design: </a:t>
            </a:r>
            <a:pPr indent="0" marL="0">
              <a:buNone/>
            </a:pPr>
            <a:r>
              <a:rPr lang="en-US" sz="1300" dirty="0">
                <a:solidFill>
                  <a:srgbClr val="1E2B24"/>
                </a:solidFill>
                <a:latin typeface="Calibri" pitchFamily="34" charset="0"/>
                <a:ea typeface="Calibri" pitchFamily="34" charset="-122"/>
                <a:cs typeface="Calibri" pitchFamily="34" charset="-120"/>
              </a:rPr>
              <a:t>fit the same counters on ground-truth (GT) detections and on a frozen YOLO26m detector — the difference isolates the effect of input quality.</a:t>
            </a:r>
            <a:endParaRPr lang="en-US" sz="1300" dirty="0"/>
          </a:p>
        </p:txBody>
      </p:sp>
      <p:sp>
        <p:nvSpPr>
          <p:cNvPr id="40" name="Text 33"/>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3</a:t>
            </a:r>
            <a:endParaRPr lang="en-US" sz="1000" dirty="0"/>
          </a:p>
        </p:txBody>
      </p:sp>
      <p:sp>
        <p:nvSpPr>
          <p:cNvPr id="41" name="Text 34"/>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How we measure success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B62"/>
                </a:solidFill>
                <a:latin typeface="Calibri" pitchFamily="34" charset="0"/>
                <a:ea typeface="Calibri" pitchFamily="34" charset="-122"/>
                <a:cs typeface="Calibri" pitchFamily="34" charset="-120"/>
              </a:rPr>
              <a:t>Accuracy within ±1 bunch, plus MAE, RMSE and signed bias</a:t>
            </a:r>
            <a:endParaRPr lang="en-US" sz="1400" dirty="0"/>
          </a:p>
        </p:txBody>
      </p:sp>
      <p:sp>
        <p:nvSpPr>
          <p:cNvPr id="4" name="Shape 2"/>
          <p:cNvSpPr/>
          <p:nvPr/>
        </p:nvSpPr>
        <p:spPr>
          <a:xfrm>
            <a:off x="457200" y="1371600"/>
            <a:ext cx="2606040" cy="3017520"/>
          </a:xfrm>
          <a:prstGeom prst="roundRect">
            <a:avLst>
              <a:gd name="adj" fmla="val 3509"/>
            </a:avLst>
          </a:prstGeom>
          <a:solidFill>
            <a:srgbClr val="EEF4EF"/>
          </a:solidFill>
          <a:ln/>
        </p:spPr>
      </p:sp>
      <p:sp>
        <p:nvSpPr>
          <p:cNvPr id="5" name="Shape 3"/>
          <p:cNvSpPr/>
          <p:nvPr/>
        </p:nvSpPr>
        <p:spPr>
          <a:xfrm>
            <a:off x="731520" y="1600200"/>
            <a:ext cx="548640" cy="548640"/>
          </a:xfrm>
          <a:prstGeom prst="ellipse">
            <a:avLst/>
          </a:prstGeom>
          <a:solidFill>
            <a:srgbClr val="1F4D36"/>
          </a:solidFill>
          <a:ln w="12700">
            <a:solidFill>
              <a:srgbClr val="1F4D36"/>
            </a:solidFill>
            <a:prstDash val="solid"/>
          </a:ln>
        </p:spPr>
      </p:sp>
      <p:pic>
        <p:nvPicPr>
          <p:cNvPr id="6" name="Image 0" descr="preencoded.png">    </p:cNvPr>
          <p:cNvPicPr>
            <a:picLocks noChangeAspect="1"/>
          </p:cNvPicPr>
          <p:nvPr/>
        </p:nvPicPr>
        <p:blipFill>
          <a:blip r:embed="rId1"/>
          <a:stretch>
            <a:fillRect/>
          </a:stretch>
        </p:blipFill>
        <p:spPr>
          <a:xfrm>
            <a:off x="868680" y="1737360"/>
            <a:ext cx="274320" cy="274320"/>
          </a:xfrm>
          <a:prstGeom prst="rect">
            <a:avLst/>
          </a:prstGeom>
        </p:spPr>
      </p:pic>
      <p:sp>
        <p:nvSpPr>
          <p:cNvPr id="7" name="Text 4"/>
          <p:cNvSpPr txBox="1"/>
          <p:nvPr/>
        </p:nvSpPr>
        <p:spPr>
          <a:xfrm>
            <a:off x="731520" y="2286000"/>
            <a:ext cx="2103120" cy="457200"/>
          </a:xfrm>
          <a:prstGeom prst="rect">
            <a:avLst/>
          </a:prstGeom>
          <a:noFill/>
          <a:ln/>
        </p:spPr>
        <p:txBody>
          <a:bodyPr wrap="square" lIns="0" tIns="0" rIns="0" bIns="0" rtlCol="0" anchor="ctr"/>
          <a:lstStyle/>
          <a:p>
            <a:pPr indent="0" marL="0">
              <a:buNone/>
            </a:pPr>
            <a:r>
              <a:rPr lang="en-US" sz="2400" b="1" dirty="0">
                <a:solidFill>
                  <a:srgbClr val="1F4D36"/>
                </a:solidFill>
                <a:latin typeface="Cambria" pitchFamily="34" charset="0"/>
                <a:ea typeface="Cambria" pitchFamily="34" charset="-122"/>
                <a:cs typeface="Cambria" pitchFamily="34" charset="-120"/>
              </a:rPr>
              <a:t>Class ±1</a:t>
            </a:r>
            <a:endParaRPr lang="en-US" sz="2400" dirty="0"/>
          </a:p>
        </p:txBody>
      </p:sp>
      <p:sp>
        <p:nvSpPr>
          <p:cNvPr id="8" name="Text 5"/>
          <p:cNvSpPr txBox="1"/>
          <p:nvPr/>
        </p:nvSpPr>
        <p:spPr>
          <a:xfrm>
            <a:off x="731520" y="2788920"/>
            <a:ext cx="2103120" cy="731520"/>
          </a:xfrm>
          <a:prstGeom prst="rect">
            <a:avLst/>
          </a:prstGeom>
          <a:noFill/>
          <a:ln/>
        </p:spPr>
        <p:txBody>
          <a:bodyPr wrap="square" lIns="0" tIns="0" rIns="0" bIns="0" rtlCol="0" anchor="t"/>
          <a:lstStyle/>
          <a:p>
            <a:pPr indent="0" marL="0">
              <a:buNone/>
            </a:pPr>
            <a:r>
              <a:rPr lang="en-US" sz="1300" dirty="0">
                <a:solidFill>
                  <a:srgbClr val="1E2B24"/>
                </a:solidFill>
                <a:latin typeface="Calibri" pitchFamily="34" charset="0"/>
                <a:ea typeface="Calibri" pitchFamily="34" charset="-122"/>
                <a:cs typeface="Calibri" pitchFamily="34" charset="-120"/>
              </a:rPr>
              <a:t>Each class count is judged separately.</a:t>
            </a:r>
            <a:endParaRPr lang="en-US" sz="1300" dirty="0"/>
          </a:p>
        </p:txBody>
      </p:sp>
      <p:sp>
        <p:nvSpPr>
          <p:cNvPr id="9" name="Text 6"/>
          <p:cNvSpPr txBox="1"/>
          <p:nvPr/>
        </p:nvSpPr>
        <p:spPr>
          <a:xfrm>
            <a:off x="731520" y="3657600"/>
            <a:ext cx="2103120" cy="45720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Is B3 count within ±1?</a:t>
            </a:r>
            <a:endParaRPr lang="en-US" sz="1200" dirty="0"/>
          </a:p>
        </p:txBody>
      </p:sp>
      <p:sp>
        <p:nvSpPr>
          <p:cNvPr id="10" name="Shape 7"/>
          <p:cNvSpPr/>
          <p:nvPr/>
        </p:nvSpPr>
        <p:spPr>
          <a:xfrm>
            <a:off x="3246120" y="1371600"/>
            <a:ext cx="2606040" cy="3017520"/>
          </a:xfrm>
          <a:prstGeom prst="roundRect">
            <a:avLst>
              <a:gd name="adj" fmla="val 3509"/>
            </a:avLst>
          </a:prstGeom>
          <a:solidFill>
            <a:srgbClr val="EEF4EF"/>
          </a:solidFill>
          <a:ln/>
        </p:spPr>
      </p:sp>
      <p:sp>
        <p:nvSpPr>
          <p:cNvPr id="11" name="Shape 8"/>
          <p:cNvSpPr/>
          <p:nvPr/>
        </p:nvSpPr>
        <p:spPr>
          <a:xfrm>
            <a:off x="3520440" y="1600200"/>
            <a:ext cx="548640" cy="548640"/>
          </a:xfrm>
          <a:prstGeom prst="ellipse">
            <a:avLst/>
          </a:prstGeom>
          <a:solidFill>
            <a:srgbClr val="C8511B"/>
          </a:solidFill>
          <a:ln w="12700">
            <a:solidFill>
              <a:srgbClr val="C8511B"/>
            </a:solidFill>
            <a:prstDash val="solid"/>
          </a:ln>
        </p:spPr>
      </p:sp>
      <p:pic>
        <p:nvPicPr>
          <p:cNvPr id="12" name="Image 1" descr="preencoded.png">    </p:cNvPr>
          <p:cNvPicPr>
            <a:picLocks noChangeAspect="1"/>
          </p:cNvPicPr>
          <p:nvPr/>
        </p:nvPicPr>
        <p:blipFill>
          <a:blip r:embed="rId2"/>
          <a:stretch>
            <a:fillRect/>
          </a:stretch>
        </p:blipFill>
        <p:spPr>
          <a:xfrm>
            <a:off x="3657600" y="1737360"/>
            <a:ext cx="274320" cy="274320"/>
          </a:xfrm>
          <a:prstGeom prst="rect">
            <a:avLst/>
          </a:prstGeom>
        </p:spPr>
      </p:pic>
      <p:sp>
        <p:nvSpPr>
          <p:cNvPr id="13" name="Text 9"/>
          <p:cNvSpPr txBox="1"/>
          <p:nvPr/>
        </p:nvSpPr>
        <p:spPr>
          <a:xfrm>
            <a:off x="3520440" y="2286000"/>
            <a:ext cx="2103120" cy="457200"/>
          </a:xfrm>
          <a:prstGeom prst="rect">
            <a:avLst/>
          </a:prstGeom>
          <a:noFill/>
          <a:ln/>
        </p:spPr>
        <p:txBody>
          <a:bodyPr wrap="square" lIns="0" tIns="0" rIns="0" bIns="0" rtlCol="0" anchor="ctr"/>
          <a:lstStyle/>
          <a:p>
            <a:pPr indent="0" marL="0">
              <a:buNone/>
            </a:pPr>
            <a:r>
              <a:rPr lang="en-US" sz="2400" b="1" dirty="0">
                <a:solidFill>
                  <a:srgbClr val="C8511B"/>
                </a:solidFill>
                <a:latin typeface="Cambria" pitchFamily="34" charset="0"/>
                <a:ea typeface="Cambria" pitchFamily="34" charset="-122"/>
                <a:cs typeface="Cambria" pitchFamily="34" charset="-120"/>
              </a:rPr>
              <a:t>Tree ±1</a:t>
            </a:r>
            <a:endParaRPr lang="en-US" sz="2400" dirty="0"/>
          </a:p>
        </p:txBody>
      </p:sp>
      <p:sp>
        <p:nvSpPr>
          <p:cNvPr id="14" name="Text 10"/>
          <p:cNvSpPr txBox="1"/>
          <p:nvPr/>
        </p:nvSpPr>
        <p:spPr>
          <a:xfrm>
            <a:off x="3520440" y="2788920"/>
            <a:ext cx="2103120" cy="731520"/>
          </a:xfrm>
          <a:prstGeom prst="rect">
            <a:avLst/>
          </a:prstGeom>
          <a:noFill/>
          <a:ln/>
        </p:spPr>
        <p:txBody>
          <a:bodyPr wrap="square" lIns="0" tIns="0" rIns="0" bIns="0" rtlCol="0" anchor="t"/>
          <a:lstStyle/>
          <a:p>
            <a:pPr indent="0" marL="0">
              <a:buNone/>
            </a:pPr>
            <a:r>
              <a:rPr lang="en-US" sz="1300" dirty="0">
                <a:solidFill>
                  <a:srgbClr val="1E2B24"/>
                </a:solidFill>
                <a:latin typeface="Calibri" pitchFamily="34" charset="0"/>
                <a:ea typeface="Calibri" pitchFamily="34" charset="-122"/>
                <a:cs typeface="Calibri" pitchFamily="34" charset="-120"/>
              </a:rPr>
              <a:t>All four class counts must be within ±1 at the same time.</a:t>
            </a:r>
            <a:endParaRPr lang="en-US" sz="1300" dirty="0"/>
          </a:p>
        </p:txBody>
      </p:sp>
      <p:sp>
        <p:nvSpPr>
          <p:cNvPr id="15" name="Text 11"/>
          <p:cNvSpPr txBox="1"/>
          <p:nvPr/>
        </p:nvSpPr>
        <p:spPr>
          <a:xfrm>
            <a:off x="3520440" y="3657600"/>
            <a:ext cx="2103120" cy="457200"/>
          </a:xfrm>
          <a:prstGeom prst="rect">
            <a:avLst/>
          </a:prstGeom>
          <a:noFill/>
          <a:ln/>
        </p:spPr>
        <p:txBody>
          <a:bodyPr wrap="square" lIns="0" tIns="0" rIns="0" bIns="0" rtlCol="0" anchor="ctr"/>
          <a:lstStyle/>
          <a:p>
            <a:pPr indent="0" marL="0">
              <a:buNone/>
            </a:pPr>
            <a:r>
              <a:rPr lang="en-US" sz="1200" i="1" dirty="0">
                <a:solidFill>
                  <a:srgbClr val="5B6B62"/>
                </a:solidFill>
                <a:latin typeface="Calibri" pitchFamily="34" charset="0"/>
                <a:ea typeface="Calibri" pitchFamily="34" charset="-122"/>
                <a:cs typeface="Calibri" pitchFamily="34" charset="-120"/>
              </a:rPr>
              <a:t>B1 ✓  B2 ✓  B3 ✓  B4 ✓</a:t>
            </a:r>
            <a:endParaRPr lang="en-US" sz="1200" dirty="0"/>
          </a:p>
        </p:txBody>
      </p:sp>
      <p:sp>
        <p:nvSpPr>
          <p:cNvPr id="16" name="Text 12"/>
          <p:cNvSpPr txBox="1"/>
          <p:nvPr/>
        </p:nvSpPr>
        <p:spPr>
          <a:xfrm>
            <a:off x="6263640" y="1371600"/>
            <a:ext cx="2468880" cy="365760"/>
          </a:xfrm>
          <a:prstGeom prst="rect">
            <a:avLst/>
          </a:prstGeom>
          <a:noFill/>
          <a:ln/>
        </p:spPr>
        <p:txBody>
          <a:bodyPr wrap="square" lIns="0" tIns="0" rIns="0" bIns="0" rtlCol="0" anchor="ctr"/>
          <a:lstStyle/>
          <a:p>
            <a:pPr indent="0" marL="0">
              <a:buNone/>
            </a:pPr>
            <a:r>
              <a:rPr lang="en-US" sz="1600" b="1" dirty="0">
                <a:solidFill>
                  <a:srgbClr val="1E2B24"/>
                </a:solidFill>
                <a:latin typeface="Calibri" pitchFamily="34" charset="0"/>
                <a:ea typeface="Calibri" pitchFamily="34" charset="-122"/>
                <a:cs typeface="Calibri" pitchFamily="34" charset="-120"/>
              </a:rPr>
              <a:t>Compared settings</a:t>
            </a:r>
            <a:endParaRPr lang="en-US" sz="1600" dirty="0"/>
          </a:p>
        </p:txBody>
      </p:sp>
      <p:sp>
        <p:nvSpPr>
          <p:cNvPr id="17" name="Text 13"/>
          <p:cNvSpPr txBox="1"/>
          <p:nvPr/>
        </p:nvSpPr>
        <p:spPr>
          <a:xfrm>
            <a:off x="6263640" y="1783080"/>
            <a:ext cx="2514600" cy="26517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E2B24"/>
                </a:solidFill>
                <a:latin typeface="Calibri" pitchFamily="34" charset="0"/>
                <a:ea typeface="Calibri" pitchFamily="34" charset="-122"/>
                <a:cs typeface="Calibri" pitchFamily="34" charset="-120"/>
              </a:rPr>
              <a:t>2 heuristic baselines (naive sum, global divisor)</a:t>
            </a:r>
            <a:endParaRPr lang="en-US" sz="1250" dirty="0"/>
          </a:p>
          <a:p>
            <a:pPr marL="342900" indent="-342900">
              <a:spcAft>
                <a:spcPts val="800"/>
              </a:spcAft>
              <a:buSzPct val="100000"/>
              <a:buChar char="•"/>
            </a:pPr>
            <a:r>
              <a:rPr lang="en-US" sz="1250" dirty="0">
                <a:solidFill>
                  <a:srgbClr val="1E2B24"/>
                </a:solidFill>
                <a:latin typeface="Calibri" pitchFamily="34" charset="0"/>
                <a:ea typeface="Calibri" pitchFamily="34" charset="-122"/>
                <a:cs typeface="Calibri" pitchFamily="34" charset="-120"/>
              </a:rPr>
              <a:t>5 regression counters</a:t>
            </a:r>
            <a:endParaRPr lang="en-US" sz="1250" dirty="0"/>
          </a:p>
          <a:p>
            <a:pPr marL="342900" indent="-342900">
              <a:spcAft>
                <a:spcPts val="800"/>
              </a:spcAft>
              <a:buSzPct val="100000"/>
              <a:buChar char="•"/>
            </a:pPr>
            <a:r>
              <a:rPr lang="en-US" sz="1250" dirty="0">
                <a:solidFill>
                  <a:srgbClr val="1E2B24"/>
                </a:solidFill>
                <a:latin typeface="Calibri" pitchFamily="34" charset="0"/>
                <a:ea typeface="Calibri" pitchFamily="34" charset="-122"/>
                <a:cs typeface="Calibri" pitchFamily="34" charset="-120"/>
              </a:rPr>
              <a:t>8 feature sets (confidence, spatial, distribution)</a:t>
            </a:r>
            <a:endParaRPr lang="en-US" sz="1250" dirty="0"/>
          </a:p>
          <a:p>
            <a:pPr marL="342900" indent="-342900">
              <a:spcAft>
                <a:spcPts val="800"/>
              </a:spcAft>
              <a:buSzPct val="100000"/>
              <a:buChar char="•"/>
            </a:pPr>
            <a:r>
              <a:rPr lang="en-US" sz="1250" dirty="0">
                <a:solidFill>
                  <a:srgbClr val="1E2B24"/>
                </a:solidFill>
                <a:latin typeface="Calibri" pitchFamily="34" charset="0"/>
                <a:ea typeface="Calibri" pitchFamily="34" charset="-122"/>
                <a:cs typeface="Calibri" pitchFamily="34" charset="-120"/>
              </a:rPr>
              <a:t>Bootstrap CIs, paired permutation tests + Holm correction</a:t>
            </a:r>
            <a:endParaRPr lang="en-US" sz="1250" dirty="0"/>
          </a:p>
          <a:p>
            <a:pPr marL="342900" indent="-342900">
              <a:spcAft>
                <a:spcPts val="800"/>
              </a:spcAft>
              <a:buSzPct val="100000"/>
              <a:buChar char="•"/>
            </a:pPr>
            <a:r>
              <a:rPr lang="en-US" sz="1250" dirty="0">
                <a:solidFill>
                  <a:srgbClr val="1E2B24"/>
                </a:solidFill>
                <a:latin typeface="Calibri" pitchFamily="34" charset="0"/>
                <a:ea typeface="Calibri" pitchFamily="34" charset="-122"/>
                <a:cs typeface="Calibri" pitchFamily="34" charset="-120"/>
              </a:rPr>
              <a:t>5×5 CV, 2 detector families, 11 thresholds</a:t>
            </a:r>
            <a:endParaRPr lang="en-US" sz="1250" dirty="0"/>
          </a:p>
        </p:txBody>
      </p:sp>
      <p:sp>
        <p:nvSpPr>
          <p:cNvPr id="18" name="Text 14"/>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4</a:t>
            </a:r>
            <a:endParaRPr lang="en-US" sz="1000" dirty="0"/>
          </a:p>
        </p:txBody>
      </p:sp>
      <p:sp>
        <p:nvSpPr>
          <p:cNvPr id="19" name="Text 15"/>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Counters differ little — inputs differ a lot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B62"/>
                </a:solidFill>
                <a:latin typeface="Calibri" pitchFamily="34" charset="0"/>
                <a:ea typeface="Calibri" pitchFamily="34" charset="-122"/>
                <a:cs typeface="Calibri" pitchFamily="34" charset="-120"/>
              </a:rPr>
              <a:t>Class ±1 accuracy (%) on 141 test trees, baseline features F0</a:t>
            </a:r>
            <a:endParaRPr lang="en-US" sz="1400" dirty="0"/>
          </a:p>
        </p:txBody>
      </p:sp>
      <p:graphicFrame>
        <p:nvGraphicFramePr>
          <p:cNvPr id="4" name="Chart 0" descr=""/>
          <p:cNvGraphicFramePr/>
          <p:nvPr/>
        </p:nvGraphicFramePr>
        <p:xfrm>
          <a:off x="365760" y="1188720"/>
          <a:ext cx="566928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1325880"/>
            <a:ext cx="2468880" cy="1463040"/>
          </a:xfrm>
          <a:prstGeom prst="roundRect">
            <a:avLst>
              <a:gd name="adj" fmla="val 6250"/>
            </a:avLst>
          </a:prstGeom>
          <a:solidFill>
            <a:srgbClr val="EEF4EF"/>
          </a:solidFill>
          <a:ln/>
        </p:spPr>
      </p:sp>
      <p:sp>
        <p:nvSpPr>
          <p:cNvPr id="6" name="Text 3"/>
          <p:cNvSpPr txBox="1"/>
          <p:nvPr/>
        </p:nvSpPr>
        <p:spPr>
          <a:xfrm>
            <a:off x="6492240" y="1435608"/>
            <a:ext cx="2194560" cy="594360"/>
          </a:xfrm>
          <a:prstGeom prst="rect">
            <a:avLst/>
          </a:prstGeom>
          <a:noFill/>
          <a:ln/>
        </p:spPr>
        <p:txBody>
          <a:bodyPr wrap="square" lIns="0" tIns="0" rIns="0" bIns="0" rtlCol="0" anchor="ctr"/>
          <a:lstStyle/>
          <a:p>
            <a:pPr indent="0" marL="0">
              <a:buNone/>
            </a:pPr>
            <a:r>
              <a:rPr lang="en-US" sz="3200" b="1" dirty="0">
                <a:solidFill>
                  <a:srgbClr val="1F4D36"/>
                </a:solidFill>
                <a:latin typeface="Cambria" pitchFamily="34" charset="0"/>
                <a:ea typeface="Cambria" pitchFamily="34" charset="-122"/>
                <a:cs typeface="Cambria" pitchFamily="34" charset="-120"/>
              </a:rPr>
              <a:t>3.19 pp</a:t>
            </a:r>
            <a:endParaRPr lang="en-US" sz="3200" dirty="0"/>
          </a:p>
        </p:txBody>
      </p:sp>
      <p:sp>
        <p:nvSpPr>
          <p:cNvPr id="7" name="Text 4"/>
          <p:cNvSpPr txBox="1"/>
          <p:nvPr/>
        </p:nvSpPr>
        <p:spPr>
          <a:xfrm>
            <a:off x="6492240" y="2039112"/>
            <a:ext cx="2148840" cy="685800"/>
          </a:xfrm>
          <a:prstGeom prst="rect">
            <a:avLst/>
          </a:prstGeom>
          <a:noFill/>
          <a:ln/>
        </p:spPr>
        <p:txBody>
          <a:bodyPr wrap="square" lIns="0" tIns="0" rIns="0" bIns="0" rtlCol="0" anchor="t"/>
          <a:lstStyle/>
          <a:p>
            <a:pPr indent="0" marL="0">
              <a:buNone/>
            </a:pPr>
            <a:r>
              <a:rPr lang="en-US" sz="1150" dirty="0">
                <a:solidFill>
                  <a:srgbClr val="1E2B24"/>
                </a:solidFill>
                <a:latin typeface="Calibri" pitchFamily="34" charset="0"/>
                <a:ea typeface="Calibri" pitchFamily="34" charset="-122"/>
                <a:cs typeface="Calibri" pitchFamily="34" charset="-120"/>
              </a:rPr>
              <a:t>spread among 5 counters with detector inputs — no pair significant after Holm</a:t>
            </a:r>
            <a:endParaRPr lang="en-US" sz="1150" dirty="0"/>
          </a:p>
        </p:txBody>
      </p:sp>
      <p:sp>
        <p:nvSpPr>
          <p:cNvPr id="8" name="Shape 5"/>
          <p:cNvSpPr/>
          <p:nvPr/>
        </p:nvSpPr>
        <p:spPr>
          <a:xfrm>
            <a:off x="6309360" y="2971800"/>
            <a:ext cx="2468880" cy="1463040"/>
          </a:xfrm>
          <a:prstGeom prst="roundRect">
            <a:avLst>
              <a:gd name="adj" fmla="val 6250"/>
            </a:avLst>
          </a:prstGeom>
          <a:solidFill>
            <a:srgbClr val="FBEDE5"/>
          </a:solidFill>
          <a:ln/>
        </p:spPr>
      </p:sp>
      <p:sp>
        <p:nvSpPr>
          <p:cNvPr id="9" name="Text 6"/>
          <p:cNvSpPr txBox="1"/>
          <p:nvPr/>
        </p:nvSpPr>
        <p:spPr>
          <a:xfrm>
            <a:off x="6492240" y="3081528"/>
            <a:ext cx="2194560" cy="594360"/>
          </a:xfrm>
          <a:prstGeom prst="rect">
            <a:avLst/>
          </a:prstGeom>
          <a:noFill/>
          <a:ln/>
        </p:spPr>
        <p:txBody>
          <a:bodyPr wrap="square" lIns="0" tIns="0" rIns="0" bIns="0" rtlCol="0" anchor="ctr"/>
          <a:lstStyle/>
          <a:p>
            <a:pPr indent="0" marL="0">
              <a:buNone/>
            </a:pPr>
            <a:r>
              <a:rPr lang="en-US" sz="3200" b="1" dirty="0">
                <a:solidFill>
                  <a:srgbClr val="C8511B"/>
                </a:solidFill>
                <a:latin typeface="Cambria" pitchFamily="34" charset="0"/>
                <a:ea typeface="Cambria" pitchFamily="34" charset="-122"/>
                <a:cs typeface="Cambria" pitchFamily="34" charset="-120"/>
              </a:rPr>
              <a:t>≈ 21.6 pp</a:t>
            </a:r>
            <a:endParaRPr lang="en-US" sz="3200" dirty="0"/>
          </a:p>
        </p:txBody>
      </p:sp>
      <p:sp>
        <p:nvSpPr>
          <p:cNvPr id="10" name="Text 7"/>
          <p:cNvSpPr txBox="1"/>
          <p:nvPr/>
        </p:nvSpPr>
        <p:spPr>
          <a:xfrm>
            <a:off x="6492240" y="3685032"/>
            <a:ext cx="2148840" cy="685800"/>
          </a:xfrm>
          <a:prstGeom prst="rect">
            <a:avLst/>
          </a:prstGeom>
          <a:noFill/>
          <a:ln/>
        </p:spPr>
        <p:txBody>
          <a:bodyPr wrap="square" lIns="0" tIns="0" rIns="0" bIns="0" rtlCol="0" anchor="t"/>
          <a:lstStyle/>
          <a:p>
            <a:pPr indent="0" marL="0">
              <a:buNone/>
            </a:pPr>
            <a:r>
              <a:rPr lang="en-US" sz="1150" dirty="0">
                <a:solidFill>
                  <a:srgbClr val="1E2B24"/>
                </a:solidFill>
                <a:latin typeface="Calibri" pitchFamily="34" charset="0"/>
                <a:ea typeface="Calibri" pitchFamily="34" charset="-122"/>
                <a:cs typeface="Calibri" pitchFamily="34" charset="-120"/>
              </a:rPr>
              <a:t>lost by the same counter when GT boxes are replaced by YOLO26m</a:t>
            </a:r>
            <a:endParaRPr lang="en-US" sz="1150" dirty="0"/>
          </a:p>
        </p:txBody>
      </p:sp>
      <p:sp>
        <p:nvSpPr>
          <p:cNvPr id="11" name="Text 8"/>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5</a:t>
            </a:r>
            <a:endParaRPr lang="en-US" sz="1000" dirty="0"/>
          </a:p>
        </p:txBody>
      </p:sp>
      <p:sp>
        <p:nvSpPr>
          <p:cNvPr id="12" name="Text 9"/>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91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ground-truth vs detector gap</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A9C9A4"/>
                </a:solidFill>
                <a:latin typeface="Calibri" pitchFamily="34" charset="0"/>
                <a:ea typeface="Calibri" pitchFamily="34" charset="-122"/>
                <a:cs typeface="Calibri" pitchFamily="34" charset="-120"/>
              </a:rPr>
              <a:t>Best observed configurations: GT ElasticNet+F0 vs fixed Ridge+Fall</a:t>
            </a:r>
            <a:endParaRPr lang="en-US" sz="1400" dirty="0"/>
          </a:p>
        </p:txBody>
      </p:sp>
      <p:sp>
        <p:nvSpPr>
          <p:cNvPr id="4" name="Text 2"/>
          <p:cNvSpPr txBox="1"/>
          <p:nvPr/>
        </p:nvSpPr>
        <p:spPr>
          <a:xfrm>
            <a:off x="457200" y="1325880"/>
            <a:ext cx="3657600" cy="320040"/>
          </a:xfrm>
          <a:prstGeom prst="rect">
            <a:avLst/>
          </a:prstGeom>
          <a:noFill/>
          <a:ln/>
        </p:spPr>
        <p:txBody>
          <a:bodyPr wrap="square" lIns="0" tIns="0" rIns="0" bIns="0" rtlCol="0" anchor="ctr"/>
          <a:lstStyle/>
          <a:p>
            <a:pPr indent="0" marL="0">
              <a:buNone/>
            </a:pPr>
            <a:r>
              <a:rPr lang="en-US" sz="1400" b="1" dirty="0">
                <a:solidFill>
                  <a:srgbClr val="A9C9A4"/>
                </a:solidFill>
                <a:latin typeface="Calibri" pitchFamily="34" charset="0"/>
                <a:ea typeface="Calibri" pitchFamily="34" charset="-122"/>
                <a:cs typeface="Calibri" pitchFamily="34" charset="-120"/>
              </a:rPr>
              <a:t>Class ±1</a:t>
            </a:r>
            <a:endParaRPr lang="en-US" sz="1400" dirty="0"/>
          </a:p>
        </p:txBody>
      </p:sp>
      <p:sp>
        <p:nvSpPr>
          <p:cNvPr id="5" name="Text 3"/>
          <p:cNvSpPr txBox="1"/>
          <p:nvPr/>
        </p:nvSpPr>
        <p:spPr>
          <a:xfrm>
            <a:off x="457200" y="1645920"/>
            <a:ext cx="182880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98.05%</a:t>
            </a:r>
            <a:endParaRPr lang="en-US" sz="3800" dirty="0"/>
          </a:p>
        </p:txBody>
      </p:sp>
      <p:sp>
        <p:nvSpPr>
          <p:cNvPr id="6" name="Text 4"/>
          <p:cNvSpPr txBox="1"/>
          <p:nvPr/>
        </p:nvSpPr>
        <p:spPr>
          <a:xfrm>
            <a:off x="2194560" y="1645920"/>
            <a:ext cx="457200" cy="685800"/>
          </a:xfrm>
          <a:prstGeom prst="rect">
            <a:avLst/>
          </a:prstGeom>
          <a:noFill/>
          <a:ln/>
        </p:spPr>
        <p:txBody>
          <a:bodyPr wrap="square" lIns="0" tIns="0" rIns="0" bIns="0" rtlCol="0" anchor="ctr"/>
          <a:lstStyle/>
          <a:p>
            <a:pPr algn="ctr" indent="0" marL="0">
              <a:buNone/>
            </a:pPr>
            <a:r>
              <a:rPr lang="en-US" sz="2800" dirty="0">
                <a:solidFill>
                  <a:srgbClr val="A9C9A4"/>
                </a:solidFill>
                <a:latin typeface="Calibri" pitchFamily="34" charset="0"/>
                <a:ea typeface="Calibri" pitchFamily="34" charset="-122"/>
                <a:cs typeface="Calibri" pitchFamily="34" charset="-120"/>
              </a:rPr>
              <a:t>→</a:t>
            </a:r>
            <a:endParaRPr lang="en-US" sz="2800" dirty="0"/>
          </a:p>
        </p:txBody>
      </p:sp>
      <p:sp>
        <p:nvSpPr>
          <p:cNvPr id="7" name="Text 5"/>
          <p:cNvSpPr txBox="1"/>
          <p:nvPr/>
        </p:nvSpPr>
        <p:spPr>
          <a:xfrm>
            <a:off x="2651760" y="1645920"/>
            <a:ext cx="1828800" cy="685800"/>
          </a:xfrm>
          <a:prstGeom prst="rect">
            <a:avLst/>
          </a:prstGeom>
          <a:noFill/>
          <a:ln/>
        </p:spPr>
        <p:txBody>
          <a:bodyPr wrap="square" lIns="0" tIns="0" rIns="0" bIns="0" rtlCol="0" anchor="ctr"/>
          <a:lstStyle/>
          <a:p>
            <a:pPr indent="0" marL="0">
              <a:buNone/>
            </a:pPr>
            <a:r>
              <a:rPr lang="en-US" sz="3800" b="1" dirty="0">
                <a:solidFill>
                  <a:srgbClr val="F2A36B"/>
                </a:solidFill>
                <a:latin typeface="Cambria" pitchFamily="34" charset="0"/>
                <a:ea typeface="Cambria" pitchFamily="34" charset="-122"/>
                <a:cs typeface="Cambria" pitchFamily="34" charset="-120"/>
              </a:rPr>
              <a:t>77.48%</a:t>
            </a:r>
            <a:endParaRPr lang="en-US" sz="3800" dirty="0"/>
          </a:p>
        </p:txBody>
      </p:sp>
      <p:sp>
        <p:nvSpPr>
          <p:cNvPr id="8" name="Text 6"/>
          <p:cNvSpPr txBox="1"/>
          <p:nvPr/>
        </p:nvSpPr>
        <p:spPr>
          <a:xfrm>
            <a:off x="457200" y="2331720"/>
            <a:ext cx="4023360" cy="274320"/>
          </a:xfrm>
          <a:prstGeom prst="rect">
            <a:avLst/>
          </a:prstGeom>
          <a:noFill/>
          <a:ln/>
        </p:spPr>
        <p:txBody>
          <a:bodyPr wrap="square" lIns="0" tIns="0" rIns="0" bIns="0" rtlCol="0" anchor="ctr"/>
          <a:lstStyle/>
          <a:p>
            <a:pPr indent="0" marL="0">
              <a:buNone/>
            </a:pPr>
            <a:r>
              <a:rPr lang="en-US" sz="1200" dirty="0">
                <a:solidFill>
                  <a:srgbClr val="DCE8DE"/>
                </a:solidFill>
                <a:latin typeface="Calibri" pitchFamily="34" charset="0"/>
                <a:ea typeface="Calibri" pitchFamily="34" charset="-122"/>
                <a:cs typeface="Calibri" pitchFamily="34" charset="-120"/>
              </a:rPr>
              <a:t>−20.57 pp  (95% CI 17.20–23.94)</a:t>
            </a:r>
            <a:endParaRPr lang="en-US" sz="1200" dirty="0"/>
          </a:p>
        </p:txBody>
      </p:sp>
      <p:sp>
        <p:nvSpPr>
          <p:cNvPr id="9" name="Text 7"/>
          <p:cNvSpPr txBox="1"/>
          <p:nvPr/>
        </p:nvSpPr>
        <p:spPr>
          <a:xfrm>
            <a:off x="457200" y="2971800"/>
            <a:ext cx="3657600" cy="320040"/>
          </a:xfrm>
          <a:prstGeom prst="rect">
            <a:avLst/>
          </a:prstGeom>
          <a:noFill/>
          <a:ln/>
        </p:spPr>
        <p:txBody>
          <a:bodyPr wrap="square" lIns="0" tIns="0" rIns="0" bIns="0" rtlCol="0" anchor="ctr"/>
          <a:lstStyle/>
          <a:p>
            <a:pPr indent="0" marL="0">
              <a:buNone/>
            </a:pPr>
            <a:r>
              <a:rPr lang="en-US" sz="1400" b="1" dirty="0">
                <a:solidFill>
                  <a:srgbClr val="A9C9A4"/>
                </a:solidFill>
                <a:latin typeface="Calibri" pitchFamily="34" charset="0"/>
                <a:ea typeface="Calibri" pitchFamily="34" charset="-122"/>
                <a:cs typeface="Calibri" pitchFamily="34" charset="-120"/>
              </a:rPr>
              <a:t>Tree ±1</a:t>
            </a:r>
            <a:endParaRPr lang="en-US" sz="1400" dirty="0"/>
          </a:p>
        </p:txBody>
      </p:sp>
      <p:sp>
        <p:nvSpPr>
          <p:cNvPr id="10" name="Text 8"/>
          <p:cNvSpPr txBox="1"/>
          <p:nvPr/>
        </p:nvSpPr>
        <p:spPr>
          <a:xfrm>
            <a:off x="457200" y="3291840"/>
            <a:ext cx="182880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92.20%</a:t>
            </a:r>
            <a:endParaRPr lang="en-US" sz="3800" dirty="0"/>
          </a:p>
        </p:txBody>
      </p:sp>
      <p:sp>
        <p:nvSpPr>
          <p:cNvPr id="11" name="Text 9"/>
          <p:cNvSpPr txBox="1"/>
          <p:nvPr/>
        </p:nvSpPr>
        <p:spPr>
          <a:xfrm>
            <a:off x="2194560" y="3291840"/>
            <a:ext cx="457200" cy="685800"/>
          </a:xfrm>
          <a:prstGeom prst="rect">
            <a:avLst/>
          </a:prstGeom>
          <a:noFill/>
          <a:ln/>
        </p:spPr>
        <p:txBody>
          <a:bodyPr wrap="square" lIns="0" tIns="0" rIns="0" bIns="0" rtlCol="0" anchor="ctr"/>
          <a:lstStyle/>
          <a:p>
            <a:pPr algn="ctr" indent="0" marL="0">
              <a:buNone/>
            </a:pPr>
            <a:r>
              <a:rPr lang="en-US" sz="2800" dirty="0">
                <a:solidFill>
                  <a:srgbClr val="A9C9A4"/>
                </a:solidFill>
                <a:latin typeface="Calibri" pitchFamily="34" charset="0"/>
                <a:ea typeface="Calibri" pitchFamily="34" charset="-122"/>
                <a:cs typeface="Calibri" pitchFamily="34" charset="-120"/>
              </a:rPr>
              <a:t>→</a:t>
            </a:r>
            <a:endParaRPr lang="en-US" sz="2800" dirty="0"/>
          </a:p>
        </p:txBody>
      </p:sp>
      <p:sp>
        <p:nvSpPr>
          <p:cNvPr id="12" name="Text 10"/>
          <p:cNvSpPr txBox="1"/>
          <p:nvPr/>
        </p:nvSpPr>
        <p:spPr>
          <a:xfrm>
            <a:off x="2651760" y="3291840"/>
            <a:ext cx="1828800" cy="685800"/>
          </a:xfrm>
          <a:prstGeom prst="rect">
            <a:avLst/>
          </a:prstGeom>
          <a:noFill/>
          <a:ln/>
        </p:spPr>
        <p:txBody>
          <a:bodyPr wrap="square" lIns="0" tIns="0" rIns="0" bIns="0" rtlCol="0" anchor="ctr"/>
          <a:lstStyle/>
          <a:p>
            <a:pPr indent="0" marL="0">
              <a:buNone/>
            </a:pPr>
            <a:r>
              <a:rPr lang="en-US" sz="3800" b="1" dirty="0">
                <a:solidFill>
                  <a:srgbClr val="F2A36B"/>
                </a:solidFill>
                <a:latin typeface="Cambria" pitchFamily="34" charset="0"/>
                <a:ea typeface="Cambria" pitchFamily="34" charset="-122"/>
                <a:cs typeface="Cambria" pitchFamily="34" charset="-120"/>
              </a:rPr>
              <a:t>32.62%</a:t>
            </a:r>
            <a:endParaRPr lang="en-US" sz="3800" dirty="0"/>
          </a:p>
        </p:txBody>
      </p:sp>
      <p:sp>
        <p:nvSpPr>
          <p:cNvPr id="13" name="Text 11"/>
          <p:cNvSpPr txBox="1"/>
          <p:nvPr/>
        </p:nvSpPr>
        <p:spPr>
          <a:xfrm>
            <a:off x="457200" y="3977640"/>
            <a:ext cx="4023360" cy="274320"/>
          </a:xfrm>
          <a:prstGeom prst="rect">
            <a:avLst/>
          </a:prstGeom>
          <a:noFill/>
          <a:ln/>
        </p:spPr>
        <p:txBody>
          <a:bodyPr wrap="square" lIns="0" tIns="0" rIns="0" bIns="0" rtlCol="0" anchor="ctr"/>
          <a:lstStyle/>
          <a:p>
            <a:pPr indent="0" marL="0">
              <a:buNone/>
            </a:pPr>
            <a:r>
              <a:rPr lang="en-US" sz="1200" dirty="0">
                <a:solidFill>
                  <a:srgbClr val="DCE8DE"/>
                </a:solidFill>
                <a:latin typeface="Calibri" pitchFamily="34" charset="0"/>
                <a:ea typeface="Calibri" pitchFamily="34" charset="-122"/>
                <a:cs typeface="Calibri" pitchFamily="34" charset="-120"/>
              </a:rPr>
              <a:t>−59.57 pp</a:t>
            </a:r>
            <a:endParaRPr lang="en-US" sz="1200" dirty="0"/>
          </a:p>
        </p:txBody>
      </p:sp>
      <p:graphicFrame>
        <p:nvGraphicFramePr>
          <p:cNvPr id="14" name="Chart 0" descr=""/>
          <p:cNvGraphicFramePr/>
          <p:nvPr/>
        </p:nvGraphicFramePr>
        <p:xfrm>
          <a:off x="4754880" y="1188720"/>
          <a:ext cx="4023360" cy="283464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754880" y="4114800"/>
            <a:ext cx="4023360" cy="548640"/>
          </a:xfrm>
          <a:prstGeom prst="rect">
            <a:avLst/>
          </a:prstGeom>
          <a:noFill/>
          <a:ln/>
        </p:spPr>
        <p:txBody>
          <a:bodyPr wrap="square" lIns="0" tIns="0" rIns="0" bIns="0" rtlCol="0" anchor="t"/>
          <a:lstStyle/>
          <a:p>
            <a:pPr indent="0" marL="0">
              <a:buNone/>
            </a:pPr>
            <a:r>
              <a:rPr lang="en-US" sz="1200" b="1" dirty="0">
                <a:solidFill>
                  <a:srgbClr val="F2A36B"/>
                </a:solidFill>
                <a:latin typeface="Calibri" pitchFamily="34" charset="0"/>
                <a:ea typeface="Calibri" pitchFamily="34" charset="-122"/>
                <a:cs typeface="Calibri" pitchFamily="34" charset="-120"/>
              </a:rPr>
              <a:t>Richer features do not close it: </a:t>
            </a:r>
            <a:pPr indent="0" marL="0">
              <a:buNone/>
            </a:pPr>
            <a:r>
              <a:rPr lang="en-US" sz="1200" dirty="0">
                <a:solidFill>
                  <a:srgbClr val="FFFFFF"/>
                </a:solidFill>
                <a:latin typeface="Calibri" pitchFamily="34" charset="0"/>
                <a:ea typeface="Calibri" pitchFamily="34" charset="-122"/>
                <a:cs typeface="Calibri" pitchFamily="34" charset="-120"/>
              </a:rPr>
              <a:t>Fall adds only +1.42 pp over F0 (not significant, pH = 1).</a:t>
            </a:r>
            <a:endParaRPr lang="en-US" sz="1200" dirty="0"/>
          </a:p>
        </p:txBody>
      </p:sp>
      <p:sp>
        <p:nvSpPr>
          <p:cNvPr id="16" name="Text 13"/>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A9C9A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Where does the detector lose bunches?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B62"/>
                </a:solidFill>
                <a:latin typeface="Calibri" pitchFamily="34" charset="0"/>
                <a:ea typeface="Calibri" pitchFamily="34" charset="-122"/>
                <a:cs typeface="Calibri" pitchFamily="34" charset="-120"/>
              </a:rPr>
              <a:t>Matching every test detection to annotations (IoU ≥ 0.5)</a:t>
            </a:r>
            <a:endParaRPr lang="en-US" sz="1400" dirty="0"/>
          </a:p>
        </p:txBody>
      </p:sp>
      <p:graphicFrame>
        <p:nvGraphicFramePr>
          <p:cNvPr id="4" name="Chart 0" descr=""/>
          <p:cNvGraphicFramePr/>
          <p:nvPr/>
        </p:nvGraphicFramePr>
        <p:xfrm>
          <a:off x="274320" y="1188720"/>
          <a:ext cx="310896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657600" y="1234440"/>
            <a:ext cx="5120640" cy="987552"/>
          </a:xfrm>
          <a:prstGeom prst="roundRect">
            <a:avLst>
              <a:gd name="adj" fmla="val 7407"/>
            </a:avLst>
          </a:prstGeom>
          <a:solidFill>
            <a:srgbClr val="EEF4EF"/>
          </a:solidFill>
          <a:ln/>
        </p:spPr>
      </p:sp>
      <p:sp>
        <p:nvSpPr>
          <p:cNvPr id="6" name="Text 3"/>
          <p:cNvSpPr txBox="1"/>
          <p:nvPr/>
        </p:nvSpPr>
        <p:spPr>
          <a:xfrm>
            <a:off x="3794760" y="1234440"/>
            <a:ext cx="1417320" cy="987552"/>
          </a:xfrm>
          <a:prstGeom prst="rect">
            <a:avLst/>
          </a:prstGeom>
          <a:noFill/>
          <a:ln/>
        </p:spPr>
        <p:txBody>
          <a:bodyPr wrap="square" lIns="0" tIns="0" rIns="0" bIns="0" rtlCol="0" anchor="ctr"/>
          <a:lstStyle/>
          <a:p>
            <a:pPr indent="0" marL="0">
              <a:buNone/>
            </a:pPr>
            <a:r>
              <a:rPr lang="en-US" sz="2800" b="1" dirty="0">
                <a:solidFill>
                  <a:srgbClr val="9E2A2B"/>
                </a:solidFill>
                <a:latin typeface="Cambria" pitchFamily="34" charset="0"/>
                <a:ea typeface="Cambria" pitchFamily="34" charset="-122"/>
                <a:cs typeface="Cambria" pitchFamily="34" charset="-120"/>
              </a:rPr>
              <a:t>22.7%</a:t>
            </a:r>
            <a:endParaRPr lang="en-US" sz="2800" dirty="0"/>
          </a:p>
        </p:txBody>
      </p:sp>
      <p:sp>
        <p:nvSpPr>
          <p:cNvPr id="7" name="Text 4"/>
          <p:cNvSpPr txBox="1"/>
          <p:nvPr/>
        </p:nvSpPr>
        <p:spPr>
          <a:xfrm>
            <a:off x="5257800" y="1325880"/>
            <a:ext cx="3383280" cy="475488"/>
          </a:xfrm>
          <a:prstGeom prst="rect">
            <a:avLst/>
          </a:prstGeom>
          <a:noFill/>
          <a:ln/>
        </p:spPr>
        <p:txBody>
          <a:bodyPr wrap="square" lIns="0" tIns="0" rIns="0" bIns="0" rtlCol="0" anchor="b"/>
          <a:lstStyle/>
          <a:p>
            <a:pPr indent="0" marL="0">
              <a:buNone/>
            </a:pPr>
            <a:r>
              <a:rPr lang="en-US" sz="1350" b="1" dirty="0">
                <a:solidFill>
                  <a:srgbClr val="1E2B24"/>
                </a:solidFill>
                <a:latin typeface="Calibri" pitchFamily="34" charset="0"/>
                <a:ea typeface="Calibri" pitchFamily="34" charset="-122"/>
                <a:cs typeface="Calibri" pitchFamily="34" charset="-120"/>
              </a:rPr>
              <a:t>of physical bunches are never detected in any view</a:t>
            </a:r>
            <a:endParaRPr lang="en-US" sz="1350" dirty="0"/>
          </a:p>
        </p:txBody>
      </p:sp>
      <p:sp>
        <p:nvSpPr>
          <p:cNvPr id="8" name="Text 5"/>
          <p:cNvSpPr txBox="1"/>
          <p:nvPr/>
        </p:nvSpPr>
        <p:spPr>
          <a:xfrm>
            <a:off x="5257800" y="1837944"/>
            <a:ext cx="3383280" cy="274320"/>
          </a:xfrm>
          <a:prstGeom prst="rect">
            <a:avLst/>
          </a:prstGeom>
          <a:noFill/>
          <a:ln/>
        </p:spPr>
        <p:txBody>
          <a:bodyPr wrap="square" lIns="0" tIns="0" rIns="0" bIns="0" rtlCol="0" anchor="ctr"/>
          <a:lstStyle/>
          <a:p>
            <a:pPr indent="0" marL="0">
              <a:buNone/>
            </a:pPr>
            <a:r>
              <a:rPr lang="en-US" sz="1150" dirty="0">
                <a:solidFill>
                  <a:srgbClr val="5B6B62"/>
                </a:solidFill>
                <a:latin typeface="Calibri" pitchFamily="34" charset="0"/>
                <a:ea typeface="Calibri" pitchFamily="34" charset="-122"/>
                <a:cs typeface="Calibri" pitchFamily="34" charset="-120"/>
              </a:rPr>
              <a:t>Up to 42.3% for B4</a:t>
            </a:r>
            <a:endParaRPr lang="en-US" sz="1150" dirty="0"/>
          </a:p>
        </p:txBody>
      </p:sp>
      <p:sp>
        <p:nvSpPr>
          <p:cNvPr id="9" name="Shape 6"/>
          <p:cNvSpPr/>
          <p:nvPr/>
        </p:nvSpPr>
        <p:spPr>
          <a:xfrm>
            <a:off x="3657600" y="2377440"/>
            <a:ext cx="5120640" cy="987552"/>
          </a:xfrm>
          <a:prstGeom prst="roundRect">
            <a:avLst>
              <a:gd name="adj" fmla="val 7407"/>
            </a:avLst>
          </a:prstGeom>
          <a:solidFill>
            <a:srgbClr val="EEF4EF"/>
          </a:solidFill>
          <a:ln/>
        </p:spPr>
      </p:sp>
      <p:sp>
        <p:nvSpPr>
          <p:cNvPr id="10" name="Text 7"/>
          <p:cNvSpPr txBox="1"/>
          <p:nvPr/>
        </p:nvSpPr>
        <p:spPr>
          <a:xfrm>
            <a:off x="3794760" y="2377440"/>
            <a:ext cx="1417320" cy="987552"/>
          </a:xfrm>
          <a:prstGeom prst="rect">
            <a:avLst/>
          </a:prstGeom>
          <a:noFill/>
          <a:ln/>
        </p:spPr>
        <p:txBody>
          <a:bodyPr wrap="square" lIns="0" tIns="0" rIns="0" bIns="0" rtlCol="0" anchor="ctr"/>
          <a:lstStyle/>
          <a:p>
            <a:pPr indent="0" marL="0">
              <a:buNone/>
            </a:pPr>
            <a:r>
              <a:rPr lang="en-US" sz="2800" b="1" dirty="0">
                <a:solidFill>
                  <a:srgbClr val="E9A23B"/>
                </a:solidFill>
                <a:latin typeface="Cambria" pitchFamily="34" charset="0"/>
                <a:ea typeface="Cambria" pitchFamily="34" charset="-122"/>
                <a:cs typeface="Cambria" pitchFamily="34" charset="-120"/>
              </a:rPr>
              <a:t>158</a:t>
            </a:r>
            <a:endParaRPr lang="en-US" sz="2800" dirty="0"/>
          </a:p>
        </p:txBody>
      </p:sp>
      <p:sp>
        <p:nvSpPr>
          <p:cNvPr id="11" name="Text 8"/>
          <p:cNvSpPr txBox="1"/>
          <p:nvPr/>
        </p:nvSpPr>
        <p:spPr>
          <a:xfrm>
            <a:off x="5257800" y="2468880"/>
            <a:ext cx="3383280" cy="475488"/>
          </a:xfrm>
          <a:prstGeom prst="rect">
            <a:avLst/>
          </a:prstGeom>
          <a:noFill/>
          <a:ln/>
        </p:spPr>
        <p:txBody>
          <a:bodyPr wrap="square" lIns="0" tIns="0" rIns="0" bIns="0" rtlCol="0" anchor="b"/>
          <a:lstStyle/>
          <a:p>
            <a:pPr indent="0" marL="0">
              <a:buNone/>
            </a:pPr>
            <a:r>
              <a:rPr lang="en-US" sz="1350" b="1" dirty="0">
                <a:solidFill>
                  <a:srgbClr val="1E2B24"/>
                </a:solidFill>
                <a:latin typeface="Calibri" pitchFamily="34" charset="0"/>
                <a:ea typeface="Calibri" pitchFamily="34" charset="-122"/>
                <a:cs typeface="Calibri" pitchFamily="34" charset="-120"/>
              </a:rPr>
              <a:t>B2 appearances classified as B3</a:t>
            </a:r>
            <a:endParaRPr lang="en-US" sz="1350" dirty="0"/>
          </a:p>
        </p:txBody>
      </p:sp>
      <p:sp>
        <p:nvSpPr>
          <p:cNvPr id="12" name="Text 9"/>
          <p:cNvSpPr txBox="1"/>
          <p:nvPr/>
        </p:nvSpPr>
        <p:spPr>
          <a:xfrm>
            <a:off x="5257800" y="2980944"/>
            <a:ext cx="3383280" cy="274320"/>
          </a:xfrm>
          <a:prstGeom prst="rect">
            <a:avLst/>
          </a:prstGeom>
          <a:noFill/>
          <a:ln/>
        </p:spPr>
        <p:txBody>
          <a:bodyPr wrap="square" lIns="0" tIns="0" rIns="0" bIns="0" rtlCol="0" anchor="ctr"/>
          <a:lstStyle/>
          <a:p>
            <a:pPr indent="0" marL="0">
              <a:buNone/>
            </a:pPr>
            <a:r>
              <a:rPr lang="en-US" sz="1150" dirty="0">
                <a:solidFill>
                  <a:srgbClr val="5B6B62"/>
                </a:solidFill>
                <a:latin typeface="Calibri" pitchFamily="34" charset="0"/>
                <a:ea typeface="Calibri" pitchFamily="34" charset="-122"/>
                <a:cs typeface="Calibri" pitchFamily="34" charset="-120"/>
              </a:rPr>
              <a:t>B2 loses more to confusion than to misses</a:t>
            </a:r>
            <a:endParaRPr lang="en-US" sz="1150" dirty="0"/>
          </a:p>
        </p:txBody>
      </p:sp>
      <p:sp>
        <p:nvSpPr>
          <p:cNvPr id="13" name="Shape 10"/>
          <p:cNvSpPr/>
          <p:nvPr/>
        </p:nvSpPr>
        <p:spPr>
          <a:xfrm>
            <a:off x="3657600" y="3520440"/>
            <a:ext cx="5120640" cy="987552"/>
          </a:xfrm>
          <a:prstGeom prst="roundRect">
            <a:avLst>
              <a:gd name="adj" fmla="val 7407"/>
            </a:avLst>
          </a:prstGeom>
          <a:solidFill>
            <a:srgbClr val="EEF4EF"/>
          </a:solidFill>
          <a:ln/>
        </p:spPr>
      </p:sp>
      <p:sp>
        <p:nvSpPr>
          <p:cNvPr id="14" name="Text 11"/>
          <p:cNvSpPr txBox="1"/>
          <p:nvPr/>
        </p:nvSpPr>
        <p:spPr>
          <a:xfrm>
            <a:off x="3794760" y="3520440"/>
            <a:ext cx="1417320" cy="987552"/>
          </a:xfrm>
          <a:prstGeom prst="rect">
            <a:avLst/>
          </a:prstGeom>
          <a:noFill/>
          <a:ln/>
        </p:spPr>
        <p:txBody>
          <a:bodyPr wrap="square" lIns="0" tIns="0" rIns="0" bIns="0" rtlCol="0" anchor="ctr"/>
          <a:lstStyle/>
          <a:p>
            <a:pPr indent="0" marL="0">
              <a:buNone/>
            </a:pPr>
            <a:r>
              <a:rPr lang="en-US" sz="2800" b="1" dirty="0">
                <a:solidFill>
                  <a:srgbClr val="C8511B"/>
                </a:solidFill>
                <a:latin typeface="Cambria" pitchFamily="34" charset="0"/>
                <a:ea typeface="Cambria" pitchFamily="34" charset="-122"/>
                <a:cs typeface="Cambria" pitchFamily="34" charset="-120"/>
              </a:rPr>
              <a:t>30.0%</a:t>
            </a:r>
            <a:endParaRPr lang="en-US" sz="2800" dirty="0"/>
          </a:p>
        </p:txBody>
      </p:sp>
      <p:sp>
        <p:nvSpPr>
          <p:cNvPr id="15" name="Text 12"/>
          <p:cNvSpPr txBox="1"/>
          <p:nvPr/>
        </p:nvSpPr>
        <p:spPr>
          <a:xfrm>
            <a:off x="5257800" y="3611880"/>
            <a:ext cx="3383280" cy="475488"/>
          </a:xfrm>
          <a:prstGeom prst="rect">
            <a:avLst/>
          </a:prstGeom>
          <a:noFill/>
          <a:ln/>
        </p:spPr>
        <p:txBody>
          <a:bodyPr wrap="square" lIns="0" tIns="0" rIns="0" bIns="0" rtlCol="0" anchor="b"/>
          <a:lstStyle/>
          <a:p>
            <a:pPr indent="0" marL="0">
              <a:buNone/>
            </a:pPr>
            <a:r>
              <a:rPr lang="en-US" sz="1350" b="1" dirty="0">
                <a:solidFill>
                  <a:srgbClr val="1E2B24"/>
                </a:solidFill>
                <a:latin typeface="Calibri" pitchFamily="34" charset="0"/>
                <a:ea typeface="Calibri" pitchFamily="34" charset="-122"/>
                <a:cs typeface="Calibri" pitchFamily="34" charset="-120"/>
              </a:rPr>
              <a:t>of detections match no annotation (false positives)</a:t>
            </a:r>
            <a:endParaRPr lang="en-US" sz="1350" dirty="0"/>
          </a:p>
        </p:txBody>
      </p:sp>
      <p:sp>
        <p:nvSpPr>
          <p:cNvPr id="16" name="Text 13"/>
          <p:cNvSpPr txBox="1"/>
          <p:nvPr/>
        </p:nvSpPr>
        <p:spPr>
          <a:xfrm>
            <a:off x="5257800" y="4123944"/>
            <a:ext cx="3383280" cy="274320"/>
          </a:xfrm>
          <a:prstGeom prst="rect">
            <a:avLst/>
          </a:prstGeom>
          <a:noFill/>
          <a:ln/>
        </p:spPr>
        <p:txBody>
          <a:bodyPr wrap="square" lIns="0" tIns="0" rIns="0" bIns="0" rtlCol="0" anchor="ctr"/>
          <a:lstStyle/>
          <a:p>
            <a:pPr indent="0" marL="0">
              <a:buNone/>
            </a:pPr>
            <a:r>
              <a:rPr lang="en-US" sz="1150" dirty="0">
                <a:solidFill>
                  <a:srgbClr val="5B6B62"/>
                </a:solidFill>
                <a:latin typeface="Calibri" pitchFamily="34" charset="0"/>
                <a:ea typeface="Calibri" pitchFamily="34" charset="-122"/>
                <a:cs typeface="Calibri" pitchFamily="34" charset="-120"/>
              </a:rPr>
              <a:t>Mean confidence 0.337 vs 0.487 matched</a:t>
            </a:r>
            <a:endParaRPr lang="en-US" sz="1150" dirty="0"/>
          </a:p>
        </p:txBody>
      </p:sp>
      <p:sp>
        <p:nvSpPr>
          <p:cNvPr id="17" name="Text 14"/>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7</a:t>
            </a:r>
            <a:endParaRPr lang="en-US" sz="1000" dirty="0"/>
          </a:p>
        </p:txBody>
      </p:sp>
      <p:sp>
        <p:nvSpPr>
          <p:cNvPr id="18" name="Text 15"/>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4E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The gap is robust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B62"/>
                </a:solidFill>
                <a:latin typeface="Calibri" pitchFamily="34" charset="0"/>
                <a:ea typeface="Calibri" pitchFamily="34" charset="-122"/>
                <a:cs typeface="Calibri" pitchFamily="34" charset="-120"/>
              </a:rPr>
              <a:t>Class ±1 gap between GT and detector inputs across sensitivity checks</a:t>
            </a:r>
            <a:endParaRPr lang="en-US" sz="1400" dirty="0"/>
          </a:p>
        </p:txBody>
      </p:sp>
      <p:sp>
        <p:nvSpPr>
          <p:cNvPr id="4" name="Shape 2"/>
          <p:cNvSpPr/>
          <p:nvPr/>
        </p:nvSpPr>
        <p:spPr>
          <a:xfrm>
            <a:off x="457200" y="1280160"/>
            <a:ext cx="2148840" cy="1508760"/>
          </a:xfrm>
          <a:prstGeom prst="roundRect">
            <a:avLst>
              <a:gd name="adj" fmla="val 6061"/>
            </a:avLst>
          </a:prstGeom>
          <a:solidFill>
            <a:srgbClr val="FFFFFF"/>
          </a:solidFill>
          <a:ln/>
          <a:effectLst>
            <a:outerShdw sx="100000" sy="100000" kx="0" ky="0" algn="bl" rotWithShape="0" blurRad="76200" dist="25400" dir="5400000">
              <a:srgbClr val="000000">
                <a:alpha val="12000"/>
              </a:srgbClr>
            </a:outerShdw>
          </a:effectLst>
        </p:spPr>
      </p:sp>
      <p:sp>
        <p:nvSpPr>
          <p:cNvPr id="5" name="Shape 3"/>
          <p:cNvSpPr/>
          <p:nvPr/>
        </p:nvSpPr>
        <p:spPr>
          <a:xfrm>
            <a:off x="640080" y="1463040"/>
            <a:ext cx="438912" cy="438912"/>
          </a:xfrm>
          <a:prstGeom prst="ellipse">
            <a:avLst/>
          </a:prstGeom>
          <a:solidFill>
            <a:srgbClr val="1F4D36"/>
          </a:solidFill>
          <a:ln w="12700">
            <a:solidFill>
              <a:srgbClr val="1F4D36"/>
            </a:solidFill>
            <a:prstDash val="solid"/>
          </a:ln>
        </p:spPr>
      </p:sp>
      <p:pic>
        <p:nvPicPr>
          <p:cNvPr id="6" name="Image 0" descr="preencoded.png">    </p:cNvPr>
          <p:cNvPicPr>
            <a:picLocks noChangeAspect="1"/>
          </p:cNvPicPr>
          <p:nvPr/>
        </p:nvPicPr>
        <p:blipFill>
          <a:blip r:embed="rId1"/>
          <a:stretch>
            <a:fillRect/>
          </a:stretch>
        </p:blipFill>
        <p:spPr>
          <a:xfrm>
            <a:off x="749808" y="1572768"/>
            <a:ext cx="219456" cy="219456"/>
          </a:xfrm>
          <a:prstGeom prst="rect">
            <a:avLst/>
          </a:prstGeom>
        </p:spPr>
      </p:pic>
      <p:sp>
        <p:nvSpPr>
          <p:cNvPr id="7" name="Text 4"/>
          <p:cNvSpPr txBox="1"/>
          <p:nvPr/>
        </p:nvSpPr>
        <p:spPr>
          <a:xfrm>
            <a:off x="640080" y="1938528"/>
            <a:ext cx="1828800" cy="457200"/>
          </a:xfrm>
          <a:prstGeom prst="rect">
            <a:avLst/>
          </a:prstGeom>
          <a:noFill/>
          <a:ln/>
        </p:spPr>
        <p:txBody>
          <a:bodyPr wrap="square" lIns="0" tIns="0" rIns="0" bIns="0" rtlCol="0" anchor="ctr"/>
          <a:lstStyle/>
          <a:p>
            <a:pPr indent="0" marL="0">
              <a:buNone/>
            </a:pPr>
            <a:r>
              <a:rPr lang="en-US" sz="2400" b="1" dirty="0">
                <a:solidFill>
                  <a:srgbClr val="C8511B"/>
                </a:solidFill>
                <a:latin typeface="Cambria" pitchFamily="34" charset="0"/>
                <a:ea typeface="Cambria" pitchFamily="34" charset="-122"/>
                <a:cs typeface="Cambria" pitchFamily="34" charset="-120"/>
              </a:rPr>
              <a:t>23.58 pp</a:t>
            </a:r>
            <a:endParaRPr lang="en-US" sz="2400" dirty="0"/>
          </a:p>
        </p:txBody>
      </p:sp>
      <p:sp>
        <p:nvSpPr>
          <p:cNvPr id="8" name="Text 5"/>
          <p:cNvSpPr txBox="1"/>
          <p:nvPr/>
        </p:nvSpPr>
        <p:spPr>
          <a:xfrm>
            <a:off x="640080" y="2359152"/>
            <a:ext cx="1874520" cy="365760"/>
          </a:xfrm>
          <a:prstGeom prst="rect">
            <a:avLst/>
          </a:prstGeom>
          <a:noFill/>
          <a:ln/>
        </p:spPr>
        <p:txBody>
          <a:bodyPr wrap="square" lIns="0" tIns="0" rIns="0" bIns="0" rtlCol="0" anchor="t"/>
          <a:lstStyle/>
          <a:p>
            <a:pPr indent="0" marL="0">
              <a:buNone/>
            </a:pPr>
            <a:r>
              <a:rPr lang="en-US" sz="1100" dirty="0">
                <a:solidFill>
                  <a:srgbClr val="1E2B24"/>
                </a:solidFill>
                <a:latin typeface="Calibri" pitchFamily="34" charset="0"/>
                <a:ea typeface="Calibri" pitchFamily="34" charset="-122"/>
                <a:cs typeface="Calibri" pitchFamily="34" charset="-120"/>
              </a:rPr>
              <a:t>Validation-based selection</a:t>
            </a:r>
            <a:endParaRPr lang="en-US" sz="1100" dirty="0"/>
          </a:p>
        </p:txBody>
      </p:sp>
      <p:sp>
        <p:nvSpPr>
          <p:cNvPr id="9" name="Shape 6"/>
          <p:cNvSpPr/>
          <p:nvPr/>
        </p:nvSpPr>
        <p:spPr>
          <a:xfrm>
            <a:off x="2788920" y="1280160"/>
            <a:ext cx="2148840" cy="1508760"/>
          </a:xfrm>
          <a:prstGeom prst="roundRect">
            <a:avLst>
              <a:gd name="adj" fmla="val 6061"/>
            </a:avLst>
          </a:prstGeom>
          <a:solidFill>
            <a:srgbClr val="FFFFFF"/>
          </a:solidFill>
          <a:ln/>
          <a:effectLst>
            <a:outerShdw sx="100000" sy="100000" kx="0" ky="0" algn="bl" rotWithShape="0" blurRad="76200" dist="25400" dir="5400000">
              <a:srgbClr val="000000">
                <a:alpha val="12000"/>
              </a:srgbClr>
            </a:outerShdw>
          </a:effectLst>
        </p:spPr>
      </p:sp>
      <p:sp>
        <p:nvSpPr>
          <p:cNvPr id="10" name="Shape 7"/>
          <p:cNvSpPr/>
          <p:nvPr/>
        </p:nvSpPr>
        <p:spPr>
          <a:xfrm>
            <a:off x="2971800" y="1463040"/>
            <a:ext cx="438912" cy="438912"/>
          </a:xfrm>
          <a:prstGeom prst="ellipse">
            <a:avLst/>
          </a:prstGeom>
          <a:solidFill>
            <a:srgbClr val="1F4D36"/>
          </a:solidFill>
          <a:ln w="12700">
            <a:solidFill>
              <a:srgbClr val="1F4D36"/>
            </a:solidFill>
            <a:prstDash val="solid"/>
          </a:ln>
        </p:spPr>
      </p:sp>
      <p:pic>
        <p:nvPicPr>
          <p:cNvPr id="11" name="Image 1" descr="preencoded.png">    </p:cNvPr>
          <p:cNvPicPr>
            <a:picLocks noChangeAspect="1"/>
          </p:cNvPicPr>
          <p:nvPr/>
        </p:nvPicPr>
        <p:blipFill>
          <a:blip r:embed="rId2"/>
          <a:stretch>
            <a:fillRect/>
          </a:stretch>
        </p:blipFill>
        <p:spPr>
          <a:xfrm>
            <a:off x="3081528" y="1572768"/>
            <a:ext cx="219456" cy="219456"/>
          </a:xfrm>
          <a:prstGeom prst="rect">
            <a:avLst/>
          </a:prstGeom>
        </p:spPr>
      </p:pic>
      <p:sp>
        <p:nvSpPr>
          <p:cNvPr id="12" name="Text 8"/>
          <p:cNvSpPr txBox="1"/>
          <p:nvPr/>
        </p:nvSpPr>
        <p:spPr>
          <a:xfrm>
            <a:off x="2971800" y="1938528"/>
            <a:ext cx="1828800" cy="457200"/>
          </a:xfrm>
          <a:prstGeom prst="rect">
            <a:avLst/>
          </a:prstGeom>
          <a:noFill/>
          <a:ln/>
        </p:spPr>
        <p:txBody>
          <a:bodyPr wrap="square" lIns="0" tIns="0" rIns="0" bIns="0" rtlCol="0" anchor="ctr"/>
          <a:lstStyle/>
          <a:p>
            <a:pPr indent="0" marL="0">
              <a:buNone/>
            </a:pPr>
            <a:r>
              <a:rPr lang="en-US" sz="2400" b="1" dirty="0">
                <a:solidFill>
                  <a:srgbClr val="C8511B"/>
                </a:solidFill>
                <a:latin typeface="Cambria" pitchFamily="34" charset="0"/>
                <a:ea typeface="Cambria" pitchFamily="34" charset="-122"/>
                <a:cs typeface="Cambria" pitchFamily="34" charset="-120"/>
              </a:rPr>
              <a:t>25.03 pp</a:t>
            </a:r>
            <a:endParaRPr lang="en-US" sz="2400" dirty="0"/>
          </a:p>
        </p:txBody>
      </p:sp>
      <p:sp>
        <p:nvSpPr>
          <p:cNvPr id="13" name="Text 9"/>
          <p:cNvSpPr txBox="1"/>
          <p:nvPr/>
        </p:nvSpPr>
        <p:spPr>
          <a:xfrm>
            <a:off x="2971800" y="2359152"/>
            <a:ext cx="1874520" cy="365760"/>
          </a:xfrm>
          <a:prstGeom prst="rect">
            <a:avLst/>
          </a:prstGeom>
          <a:noFill/>
          <a:ln/>
        </p:spPr>
        <p:txBody>
          <a:bodyPr wrap="square" lIns="0" tIns="0" rIns="0" bIns="0" rtlCol="0" anchor="t"/>
          <a:lstStyle/>
          <a:p>
            <a:pPr indent="0" marL="0">
              <a:buNone/>
            </a:pPr>
            <a:r>
              <a:rPr lang="en-US" sz="1100" dirty="0">
                <a:solidFill>
                  <a:srgbClr val="1E2B24"/>
                </a:solidFill>
                <a:latin typeface="Calibri" pitchFamily="34" charset="0"/>
                <a:ea typeface="Calibri" pitchFamily="34" charset="-122"/>
                <a:cs typeface="Calibri" pitchFamily="34" charset="-120"/>
              </a:rPr>
              <a:t>Matched 5×5 cross-validation</a:t>
            </a:r>
            <a:endParaRPr lang="en-US" sz="1100" dirty="0"/>
          </a:p>
        </p:txBody>
      </p:sp>
      <p:sp>
        <p:nvSpPr>
          <p:cNvPr id="14" name="Shape 10"/>
          <p:cNvSpPr/>
          <p:nvPr/>
        </p:nvSpPr>
        <p:spPr>
          <a:xfrm>
            <a:off x="457200" y="2971800"/>
            <a:ext cx="2148840" cy="1508760"/>
          </a:xfrm>
          <a:prstGeom prst="roundRect">
            <a:avLst>
              <a:gd name="adj" fmla="val 6061"/>
            </a:avLst>
          </a:prstGeom>
          <a:solidFill>
            <a:srgbClr val="FFFFFF"/>
          </a:solidFill>
          <a:ln/>
          <a:effectLst>
            <a:outerShdw sx="100000" sy="100000" kx="0" ky="0" algn="bl" rotWithShape="0" blurRad="76200" dist="25400" dir="5400000">
              <a:srgbClr val="000000">
                <a:alpha val="12000"/>
              </a:srgbClr>
            </a:outerShdw>
          </a:effectLst>
        </p:spPr>
      </p:sp>
      <p:sp>
        <p:nvSpPr>
          <p:cNvPr id="15" name="Shape 11"/>
          <p:cNvSpPr/>
          <p:nvPr/>
        </p:nvSpPr>
        <p:spPr>
          <a:xfrm>
            <a:off x="640080" y="3154680"/>
            <a:ext cx="438912" cy="438912"/>
          </a:xfrm>
          <a:prstGeom prst="ellipse">
            <a:avLst/>
          </a:prstGeom>
          <a:solidFill>
            <a:srgbClr val="1F4D36"/>
          </a:solidFill>
          <a:ln w="12700">
            <a:solidFill>
              <a:srgbClr val="1F4D36"/>
            </a:solidFill>
            <a:prstDash val="solid"/>
          </a:ln>
        </p:spPr>
      </p:sp>
      <p:pic>
        <p:nvPicPr>
          <p:cNvPr id="16" name="Image 2" descr="preencoded.png">    </p:cNvPr>
          <p:cNvPicPr>
            <a:picLocks noChangeAspect="1"/>
          </p:cNvPicPr>
          <p:nvPr/>
        </p:nvPicPr>
        <p:blipFill>
          <a:blip r:embed="rId3"/>
          <a:stretch>
            <a:fillRect/>
          </a:stretch>
        </p:blipFill>
        <p:spPr>
          <a:xfrm>
            <a:off x="749808" y="3264408"/>
            <a:ext cx="219456" cy="219456"/>
          </a:xfrm>
          <a:prstGeom prst="rect">
            <a:avLst/>
          </a:prstGeom>
        </p:spPr>
      </p:pic>
      <p:sp>
        <p:nvSpPr>
          <p:cNvPr id="17" name="Text 12"/>
          <p:cNvSpPr txBox="1"/>
          <p:nvPr/>
        </p:nvSpPr>
        <p:spPr>
          <a:xfrm>
            <a:off x="640080" y="3630168"/>
            <a:ext cx="1828800" cy="457200"/>
          </a:xfrm>
          <a:prstGeom prst="rect">
            <a:avLst/>
          </a:prstGeom>
          <a:noFill/>
          <a:ln/>
        </p:spPr>
        <p:txBody>
          <a:bodyPr wrap="square" lIns="0" tIns="0" rIns="0" bIns="0" rtlCol="0" anchor="ctr"/>
          <a:lstStyle/>
          <a:p>
            <a:pPr indent="0" marL="0">
              <a:buNone/>
            </a:pPr>
            <a:r>
              <a:rPr lang="en-US" sz="2400" b="1" dirty="0">
                <a:solidFill>
                  <a:srgbClr val="C8511B"/>
                </a:solidFill>
                <a:latin typeface="Cambria" pitchFamily="34" charset="0"/>
                <a:ea typeface="Cambria" pitchFamily="34" charset="-122"/>
                <a:cs typeface="Cambria" pitchFamily="34" charset="-120"/>
              </a:rPr>
              <a:t>23.94 pp</a:t>
            </a:r>
            <a:endParaRPr lang="en-US" sz="2400" dirty="0"/>
          </a:p>
        </p:txBody>
      </p:sp>
      <p:sp>
        <p:nvSpPr>
          <p:cNvPr id="18" name="Text 13"/>
          <p:cNvSpPr txBox="1"/>
          <p:nvPr/>
        </p:nvSpPr>
        <p:spPr>
          <a:xfrm>
            <a:off x="640080" y="4050792"/>
            <a:ext cx="1874520" cy="365760"/>
          </a:xfrm>
          <a:prstGeom prst="rect">
            <a:avLst/>
          </a:prstGeom>
          <a:noFill/>
          <a:ln/>
        </p:spPr>
        <p:txBody>
          <a:bodyPr wrap="square" lIns="0" tIns="0" rIns="0" bIns="0" rtlCol="0" anchor="t"/>
          <a:lstStyle/>
          <a:p>
            <a:pPr indent="0" marL="0">
              <a:buNone/>
            </a:pPr>
            <a:r>
              <a:rPr lang="en-US" sz="1100" dirty="0">
                <a:solidFill>
                  <a:srgbClr val="1E2B24"/>
                </a:solidFill>
                <a:latin typeface="Calibri" pitchFamily="34" charset="0"/>
                <a:ea typeface="Calibri" pitchFamily="34" charset="-122"/>
                <a:cs typeface="Calibri" pitchFamily="34" charset="-120"/>
              </a:rPr>
              <a:t>Other detector: YOLO11m</a:t>
            </a:r>
            <a:endParaRPr lang="en-US" sz="1100" dirty="0"/>
          </a:p>
        </p:txBody>
      </p:sp>
      <p:sp>
        <p:nvSpPr>
          <p:cNvPr id="19" name="Shape 14"/>
          <p:cNvSpPr/>
          <p:nvPr/>
        </p:nvSpPr>
        <p:spPr>
          <a:xfrm>
            <a:off x="2788920" y="2971800"/>
            <a:ext cx="2148840" cy="1508760"/>
          </a:xfrm>
          <a:prstGeom prst="roundRect">
            <a:avLst>
              <a:gd name="adj" fmla="val 6061"/>
            </a:avLst>
          </a:prstGeom>
          <a:solidFill>
            <a:srgbClr val="FFFFFF"/>
          </a:solidFill>
          <a:ln/>
          <a:effectLst>
            <a:outerShdw sx="100000" sy="100000" kx="0" ky="0" algn="bl" rotWithShape="0" blurRad="76200" dist="25400" dir="5400000">
              <a:srgbClr val="000000">
                <a:alpha val="12000"/>
              </a:srgbClr>
            </a:outerShdw>
          </a:effectLst>
        </p:spPr>
      </p:sp>
      <p:sp>
        <p:nvSpPr>
          <p:cNvPr id="20" name="Shape 15"/>
          <p:cNvSpPr/>
          <p:nvPr/>
        </p:nvSpPr>
        <p:spPr>
          <a:xfrm>
            <a:off x="2971800" y="3154680"/>
            <a:ext cx="438912" cy="438912"/>
          </a:xfrm>
          <a:prstGeom prst="ellipse">
            <a:avLst/>
          </a:prstGeom>
          <a:solidFill>
            <a:srgbClr val="1F4D36"/>
          </a:solidFill>
          <a:ln w="12700">
            <a:solidFill>
              <a:srgbClr val="1F4D36"/>
            </a:solidFill>
            <a:prstDash val="solid"/>
          </a:ln>
        </p:spPr>
      </p:sp>
      <p:pic>
        <p:nvPicPr>
          <p:cNvPr id="21" name="Image 3" descr="preencoded.png">    </p:cNvPr>
          <p:cNvPicPr>
            <a:picLocks noChangeAspect="1"/>
          </p:cNvPicPr>
          <p:nvPr/>
        </p:nvPicPr>
        <p:blipFill>
          <a:blip r:embed="rId4"/>
          <a:stretch>
            <a:fillRect/>
          </a:stretch>
        </p:blipFill>
        <p:spPr>
          <a:xfrm>
            <a:off x="3081528" y="3264408"/>
            <a:ext cx="219456" cy="219456"/>
          </a:xfrm>
          <a:prstGeom prst="rect">
            <a:avLst/>
          </a:prstGeom>
        </p:spPr>
      </p:pic>
      <p:sp>
        <p:nvSpPr>
          <p:cNvPr id="22" name="Text 16"/>
          <p:cNvSpPr txBox="1"/>
          <p:nvPr/>
        </p:nvSpPr>
        <p:spPr>
          <a:xfrm>
            <a:off x="2971800" y="3630168"/>
            <a:ext cx="1828800" cy="457200"/>
          </a:xfrm>
          <a:prstGeom prst="rect">
            <a:avLst/>
          </a:prstGeom>
          <a:noFill/>
          <a:ln/>
        </p:spPr>
        <p:txBody>
          <a:bodyPr wrap="square" lIns="0" tIns="0" rIns="0" bIns="0" rtlCol="0" anchor="ctr"/>
          <a:lstStyle/>
          <a:p>
            <a:pPr indent="0" marL="0">
              <a:buNone/>
            </a:pPr>
            <a:r>
              <a:rPr lang="en-US" sz="2400" b="1" dirty="0">
                <a:solidFill>
                  <a:srgbClr val="C8511B"/>
                </a:solidFill>
                <a:latin typeface="Cambria" pitchFamily="34" charset="0"/>
                <a:ea typeface="Cambria" pitchFamily="34" charset="-122"/>
                <a:cs typeface="Cambria" pitchFamily="34" charset="-120"/>
              </a:rPr>
              <a:t>23.44 pp</a:t>
            </a:r>
            <a:endParaRPr lang="en-US" sz="2400" dirty="0"/>
          </a:p>
        </p:txBody>
      </p:sp>
      <p:sp>
        <p:nvSpPr>
          <p:cNvPr id="23" name="Text 17"/>
          <p:cNvSpPr txBox="1"/>
          <p:nvPr/>
        </p:nvSpPr>
        <p:spPr>
          <a:xfrm>
            <a:off x="2971800" y="4050792"/>
            <a:ext cx="1874520" cy="365760"/>
          </a:xfrm>
          <a:prstGeom prst="rect">
            <a:avLst/>
          </a:prstGeom>
          <a:noFill/>
          <a:ln/>
        </p:spPr>
        <p:txBody>
          <a:bodyPr wrap="square" lIns="0" tIns="0" rIns="0" bIns="0" rtlCol="0" anchor="t"/>
          <a:lstStyle/>
          <a:p>
            <a:pPr indent="0" marL="0">
              <a:buNone/>
            </a:pPr>
            <a:r>
              <a:rPr lang="en-US" sz="1100" dirty="0">
                <a:solidFill>
                  <a:srgbClr val="1E2B24"/>
                </a:solidFill>
                <a:latin typeface="Calibri" pitchFamily="34" charset="0"/>
                <a:ea typeface="Calibri" pitchFamily="34" charset="-122"/>
                <a:cs typeface="Calibri" pitchFamily="34" charset="-120"/>
              </a:rPr>
              <a:t>4 YOLO26 checkpoints</a:t>
            </a:r>
            <a:endParaRPr lang="en-US" sz="1100" dirty="0"/>
          </a:p>
        </p:txBody>
      </p:sp>
      <p:graphicFrame>
        <p:nvGraphicFramePr>
          <p:cNvPr id="24" name="Chart 0" descr=""/>
          <p:cNvGraphicFramePr/>
          <p:nvPr/>
        </p:nvGraphicFramePr>
        <p:xfrm>
          <a:off x="5257800" y="1188720"/>
          <a:ext cx="3611880" cy="3429000"/>
        </p:xfrm>
        <a:graphic xmlns:a="http://schemas.openxmlformats.org/drawingml/2006/main">
          <a:graphicData uri="http://schemas.openxmlformats.org/drawingml/2006/chart">
            <c:chart xmlns:c="http://schemas.openxmlformats.org/drawingml/2006/chart" r:id="rId5"/>
          </a:graphicData>
        </a:graphic>
      </p:graphicFrame>
      <p:sp>
        <p:nvSpPr>
          <p:cNvPr id="25" name="Text 18"/>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8</a:t>
            </a:r>
            <a:endParaRPr lang="en-US" sz="1000" dirty="0"/>
          </a:p>
        </p:txBody>
      </p:sp>
      <p:sp>
        <p:nvSpPr>
          <p:cNvPr id="26" name="Text 19"/>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B24"/>
                </a:solidFill>
                <a:latin typeface="Cambria" pitchFamily="34" charset="0"/>
                <a:ea typeface="Cambria" pitchFamily="34" charset="-122"/>
                <a:cs typeface="Cambria" pitchFamily="34" charset="-120"/>
              </a:rPr>
              <a:t>Takeaways</a:t>
            </a:r>
            <a:endParaRPr lang="en-US" sz="2800" dirty="0"/>
          </a:p>
        </p:txBody>
      </p:sp>
      <p:sp>
        <p:nvSpPr>
          <p:cNvPr id="3" name="Shape 1"/>
          <p:cNvSpPr/>
          <p:nvPr/>
        </p:nvSpPr>
        <p:spPr>
          <a:xfrm>
            <a:off x="457200" y="1051560"/>
            <a:ext cx="566928" cy="566928"/>
          </a:xfrm>
          <a:prstGeom prst="ellipse">
            <a:avLst/>
          </a:prstGeom>
          <a:solidFill>
            <a:srgbClr val="1F4D36"/>
          </a:solidFill>
          <a:ln w="12700">
            <a:solidFill>
              <a:srgbClr val="1F4D36"/>
            </a:solidFill>
            <a:prstDash val="solid"/>
          </a:ln>
        </p:spPr>
      </p:sp>
      <p:pic>
        <p:nvPicPr>
          <p:cNvPr id="4" name="Image 0" descr="preencoded.png">    </p:cNvPr>
          <p:cNvPicPr>
            <a:picLocks noChangeAspect="1"/>
          </p:cNvPicPr>
          <p:nvPr/>
        </p:nvPicPr>
        <p:blipFill>
          <a:blip r:embed="rId1"/>
          <a:stretch>
            <a:fillRect/>
          </a:stretch>
        </p:blipFill>
        <p:spPr>
          <a:xfrm>
            <a:off x="598932" y="1193292"/>
            <a:ext cx="283464" cy="283464"/>
          </a:xfrm>
          <a:prstGeom prst="rect">
            <a:avLst/>
          </a:prstGeom>
        </p:spPr>
      </p:pic>
      <p:sp>
        <p:nvSpPr>
          <p:cNvPr id="5" name="Text 2"/>
          <p:cNvSpPr txBox="1"/>
          <p:nvPr/>
        </p:nvSpPr>
        <p:spPr>
          <a:xfrm>
            <a:off x="1188720" y="1033272"/>
            <a:ext cx="3931920" cy="320040"/>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Detector quality is the priority</a:t>
            </a:r>
            <a:endParaRPr lang="en-US" sz="1500" dirty="0"/>
          </a:p>
        </p:txBody>
      </p:sp>
      <p:sp>
        <p:nvSpPr>
          <p:cNvPr id="6" name="Text 3"/>
          <p:cNvSpPr txBox="1"/>
          <p:nvPr/>
        </p:nvSpPr>
        <p:spPr>
          <a:xfrm>
            <a:off x="1188720" y="1353312"/>
            <a:ext cx="3931920" cy="502920"/>
          </a:xfrm>
          <a:prstGeom prst="rect">
            <a:avLst/>
          </a:prstGeom>
          <a:noFill/>
          <a:ln/>
        </p:spPr>
        <p:txBody>
          <a:bodyPr wrap="square" lIns="0" tIns="0" rIns="0" bIns="0" rtlCol="0" anchor="t"/>
          <a:lstStyle/>
          <a:p>
            <a:pPr indent="0" marL="0">
              <a:buNone/>
            </a:pPr>
            <a:r>
              <a:rPr lang="en-US" sz="1200" dirty="0">
                <a:solidFill>
                  <a:srgbClr val="5B6B62"/>
                </a:solidFill>
                <a:latin typeface="Calibri" pitchFamily="34" charset="0"/>
                <a:ea typeface="Calibri" pitchFamily="34" charset="-122"/>
                <a:cs typeface="Calibri" pitchFamily="34" charset="-120"/>
              </a:rPr>
              <a:t>On SawitMVC, improving detector outputs matters more than choosing a counter.</a:t>
            </a:r>
            <a:endParaRPr lang="en-US" sz="1200" dirty="0"/>
          </a:p>
        </p:txBody>
      </p:sp>
      <p:sp>
        <p:nvSpPr>
          <p:cNvPr id="7" name="Shape 4"/>
          <p:cNvSpPr/>
          <p:nvPr/>
        </p:nvSpPr>
        <p:spPr>
          <a:xfrm>
            <a:off x="457200" y="2057400"/>
            <a:ext cx="566928" cy="566928"/>
          </a:xfrm>
          <a:prstGeom prst="ellipse">
            <a:avLst/>
          </a:prstGeom>
          <a:solidFill>
            <a:srgbClr val="1F4D36"/>
          </a:solidFill>
          <a:ln w="12700">
            <a:solidFill>
              <a:srgbClr val="1F4D36"/>
            </a:solidFill>
            <a:prstDash val="solid"/>
          </a:ln>
        </p:spPr>
      </p:sp>
      <p:pic>
        <p:nvPicPr>
          <p:cNvPr id="8" name="Image 1" descr="preencoded.png">    </p:cNvPr>
          <p:cNvPicPr>
            <a:picLocks noChangeAspect="1"/>
          </p:cNvPicPr>
          <p:nvPr/>
        </p:nvPicPr>
        <p:blipFill>
          <a:blip r:embed="rId2"/>
          <a:stretch>
            <a:fillRect/>
          </a:stretch>
        </p:blipFill>
        <p:spPr>
          <a:xfrm>
            <a:off x="598932" y="2199132"/>
            <a:ext cx="283464" cy="283464"/>
          </a:xfrm>
          <a:prstGeom prst="rect">
            <a:avLst/>
          </a:prstGeom>
        </p:spPr>
      </p:pic>
      <p:sp>
        <p:nvSpPr>
          <p:cNvPr id="9" name="Text 5"/>
          <p:cNvSpPr txBox="1"/>
          <p:nvPr/>
        </p:nvSpPr>
        <p:spPr>
          <a:xfrm>
            <a:off x="1188720" y="2039112"/>
            <a:ext cx="3931920" cy="320040"/>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Target B3/B4 detection and B2→B3 confusion</a:t>
            </a:r>
            <a:endParaRPr lang="en-US" sz="1500" dirty="0"/>
          </a:p>
        </p:txBody>
      </p:sp>
      <p:sp>
        <p:nvSpPr>
          <p:cNvPr id="10" name="Text 6"/>
          <p:cNvSpPr txBox="1"/>
          <p:nvPr/>
        </p:nvSpPr>
        <p:spPr>
          <a:xfrm>
            <a:off x="1188720" y="2359152"/>
            <a:ext cx="3931920" cy="502920"/>
          </a:xfrm>
          <a:prstGeom prst="rect">
            <a:avLst/>
          </a:prstGeom>
          <a:noFill/>
          <a:ln/>
        </p:spPr>
        <p:txBody>
          <a:bodyPr wrap="square" lIns="0" tIns="0" rIns="0" bIns="0" rtlCol="0" anchor="t"/>
          <a:lstStyle/>
          <a:p>
            <a:pPr indent="0" marL="0">
              <a:buNone/>
            </a:pPr>
            <a:r>
              <a:rPr lang="en-US" sz="1200" dirty="0">
                <a:solidFill>
                  <a:srgbClr val="5B6B62"/>
                </a:solidFill>
                <a:latin typeface="Calibri" pitchFamily="34" charset="0"/>
                <a:ea typeface="Calibri" pitchFamily="34" charset="-122"/>
                <a:cs typeface="Calibri" pitchFamily="34" charset="-120"/>
              </a:rPr>
              <a:t>These classes drive the tree-level census error.</a:t>
            </a:r>
            <a:endParaRPr lang="en-US" sz="1200" dirty="0"/>
          </a:p>
        </p:txBody>
      </p:sp>
      <p:sp>
        <p:nvSpPr>
          <p:cNvPr id="11" name="Shape 7"/>
          <p:cNvSpPr/>
          <p:nvPr/>
        </p:nvSpPr>
        <p:spPr>
          <a:xfrm>
            <a:off x="457200" y="3063240"/>
            <a:ext cx="566928" cy="566928"/>
          </a:xfrm>
          <a:prstGeom prst="ellipse">
            <a:avLst/>
          </a:prstGeom>
          <a:solidFill>
            <a:srgbClr val="1F4D36"/>
          </a:solidFill>
          <a:ln w="12700">
            <a:solidFill>
              <a:srgbClr val="1F4D36"/>
            </a:solidFill>
            <a:prstDash val="solid"/>
          </a:ln>
        </p:spPr>
      </p:sp>
      <p:pic>
        <p:nvPicPr>
          <p:cNvPr id="12" name="Image 2" descr="preencoded.png">    </p:cNvPr>
          <p:cNvPicPr>
            <a:picLocks noChangeAspect="1"/>
          </p:cNvPicPr>
          <p:nvPr/>
        </p:nvPicPr>
        <p:blipFill>
          <a:blip r:embed="rId3"/>
          <a:stretch>
            <a:fillRect/>
          </a:stretch>
        </p:blipFill>
        <p:spPr>
          <a:xfrm>
            <a:off x="598932" y="3204972"/>
            <a:ext cx="283464" cy="283464"/>
          </a:xfrm>
          <a:prstGeom prst="rect">
            <a:avLst/>
          </a:prstGeom>
        </p:spPr>
      </p:pic>
      <p:sp>
        <p:nvSpPr>
          <p:cNvPr id="13" name="Text 8"/>
          <p:cNvSpPr txBox="1"/>
          <p:nvPr/>
        </p:nvSpPr>
        <p:spPr>
          <a:xfrm>
            <a:off x="1188720" y="3044952"/>
            <a:ext cx="3931920" cy="320040"/>
          </a:xfrm>
          <a:prstGeom prst="rect">
            <a:avLst/>
          </a:prstGeom>
          <a:noFill/>
          <a:ln/>
        </p:spPr>
        <p:txBody>
          <a:bodyPr wrap="square" lIns="0" tIns="0" rIns="0" bIns="0" rtlCol="0" anchor="ctr"/>
          <a:lstStyle/>
          <a:p>
            <a:pPr indent="0" marL="0">
              <a:buNone/>
            </a:pPr>
            <a:r>
              <a:rPr lang="en-US" sz="1500" b="1" dirty="0">
                <a:solidFill>
                  <a:srgbClr val="1E2B24"/>
                </a:solidFill>
                <a:latin typeface="Calibri" pitchFamily="34" charset="0"/>
                <a:ea typeface="Calibri" pitchFamily="34" charset="-122"/>
                <a:cs typeface="Calibri" pitchFamily="34" charset="-120"/>
              </a:rPr>
              <a:t>Evaluate counters under GT and detector inputs</a:t>
            </a:r>
            <a:endParaRPr lang="en-US" sz="1500" dirty="0"/>
          </a:p>
        </p:txBody>
      </p:sp>
      <p:sp>
        <p:nvSpPr>
          <p:cNvPr id="14" name="Text 9"/>
          <p:cNvSpPr txBox="1"/>
          <p:nvPr/>
        </p:nvSpPr>
        <p:spPr>
          <a:xfrm>
            <a:off x="1188720" y="3364992"/>
            <a:ext cx="3931920" cy="502920"/>
          </a:xfrm>
          <a:prstGeom prst="rect">
            <a:avLst/>
          </a:prstGeom>
          <a:noFill/>
          <a:ln/>
        </p:spPr>
        <p:txBody>
          <a:bodyPr wrap="square" lIns="0" tIns="0" rIns="0" bIns="0" rtlCol="0" anchor="t"/>
          <a:lstStyle/>
          <a:p>
            <a:pPr indent="0" marL="0">
              <a:buNone/>
            </a:pPr>
            <a:r>
              <a:rPr lang="en-US" sz="1200" dirty="0">
                <a:solidFill>
                  <a:srgbClr val="5B6B62"/>
                </a:solidFill>
                <a:latin typeface="Calibri" pitchFamily="34" charset="0"/>
                <a:ea typeface="Calibri" pitchFamily="34" charset="-122"/>
                <a:cs typeface="Calibri" pitchFamily="34" charset="-120"/>
              </a:rPr>
              <a:t>Report class, tree and total metrics plus signed bias.</a:t>
            </a:r>
            <a:endParaRPr lang="en-US" sz="1200" dirty="0"/>
          </a:p>
        </p:txBody>
      </p:sp>
      <p:sp>
        <p:nvSpPr>
          <p:cNvPr id="15" name="Shape 10"/>
          <p:cNvSpPr/>
          <p:nvPr/>
        </p:nvSpPr>
        <p:spPr>
          <a:xfrm>
            <a:off x="5486400" y="1005840"/>
            <a:ext cx="3291840" cy="3108960"/>
          </a:xfrm>
          <a:prstGeom prst="roundRect">
            <a:avLst>
              <a:gd name="adj" fmla="val 2941"/>
            </a:avLst>
          </a:prstGeom>
          <a:solidFill>
            <a:srgbClr val="EEF4EF"/>
          </a:solidFill>
          <a:ln/>
        </p:spPr>
      </p:sp>
      <p:sp>
        <p:nvSpPr>
          <p:cNvPr id="16" name="Text 11"/>
          <p:cNvSpPr txBox="1"/>
          <p:nvPr/>
        </p:nvSpPr>
        <p:spPr>
          <a:xfrm>
            <a:off x="5715000" y="1188720"/>
            <a:ext cx="2834640" cy="365760"/>
          </a:xfrm>
          <a:prstGeom prst="rect">
            <a:avLst/>
          </a:prstGeom>
          <a:noFill/>
          <a:ln/>
        </p:spPr>
        <p:txBody>
          <a:bodyPr wrap="square" lIns="0" tIns="0" rIns="0" bIns="0" rtlCol="0" anchor="ctr"/>
          <a:lstStyle/>
          <a:p>
            <a:pPr indent="0" marL="0">
              <a:buNone/>
            </a:pPr>
            <a:r>
              <a:rPr lang="en-US" sz="1500" b="1" dirty="0">
                <a:solidFill>
                  <a:srgbClr val="1F4D36"/>
                </a:solidFill>
                <a:latin typeface="Calibri" pitchFamily="34" charset="0"/>
                <a:ea typeface="Calibri" pitchFamily="34" charset="-122"/>
                <a:cs typeface="Calibri" pitchFamily="34" charset="-120"/>
              </a:rPr>
              <a:t>Future work</a:t>
            </a:r>
            <a:endParaRPr lang="en-US" sz="1500" dirty="0"/>
          </a:p>
        </p:txBody>
      </p:sp>
      <p:sp>
        <p:nvSpPr>
          <p:cNvPr id="17" name="Text 12"/>
          <p:cNvSpPr txBox="1"/>
          <p:nvPr/>
        </p:nvSpPr>
        <p:spPr>
          <a:xfrm>
            <a:off x="5715000" y="1554480"/>
            <a:ext cx="28803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B24"/>
                </a:solidFill>
                <a:latin typeface="Calibri" pitchFamily="34" charset="0"/>
                <a:ea typeface="Calibri" pitchFamily="34" charset="-122"/>
                <a:cs typeface="Calibri" pitchFamily="34" charset="-120"/>
              </a:rPr>
              <a:t>Explicit multi-view association vs learned aggregation</a:t>
            </a:r>
            <a:endParaRPr lang="en-US" sz="1200" dirty="0"/>
          </a:p>
          <a:p>
            <a:pPr marL="342900" indent="-342900">
              <a:spcAft>
                <a:spcPts val="600"/>
              </a:spcAft>
              <a:buSzPct val="100000"/>
              <a:buChar char="•"/>
            </a:pPr>
            <a:r>
              <a:rPr lang="en-US" sz="1200" dirty="0">
                <a:solidFill>
                  <a:srgbClr val="1E2B24"/>
                </a:solidFill>
                <a:latin typeface="Calibri" pitchFamily="34" charset="0"/>
                <a:ea typeface="Calibri" pitchFamily="34" charset="-122"/>
                <a:cs typeface="Calibri" pitchFamily="34" charset="-120"/>
              </a:rPr>
              <a:t>Broader and repeated detector training</a:t>
            </a:r>
            <a:endParaRPr lang="en-US" sz="1200" dirty="0"/>
          </a:p>
          <a:p>
            <a:pPr marL="342900" indent="-342900">
              <a:spcAft>
                <a:spcPts val="600"/>
              </a:spcAft>
              <a:buSzPct val="100000"/>
              <a:buChar char="•"/>
            </a:pPr>
            <a:r>
              <a:rPr lang="en-US" sz="1200" dirty="0">
                <a:solidFill>
                  <a:srgbClr val="1E2B24"/>
                </a:solidFill>
                <a:latin typeface="Calibri" pitchFamily="34" charset="0"/>
                <a:ea typeface="Calibri" pitchFamily="34" charset="-122"/>
                <a:cs typeface="Calibri" pitchFamily="34" charset="-120"/>
              </a:rPr>
              <a:t>Independent plantations and measured camera pitch</a:t>
            </a:r>
            <a:endParaRPr lang="en-US" sz="1200" dirty="0"/>
          </a:p>
        </p:txBody>
      </p:sp>
      <p:sp>
        <p:nvSpPr>
          <p:cNvPr id="18" name="Text 13"/>
          <p:cNvSpPr txBox="1"/>
          <p:nvPr/>
        </p:nvSpPr>
        <p:spPr>
          <a:xfrm>
            <a:off x="5715000" y="3063240"/>
            <a:ext cx="2834640" cy="320040"/>
          </a:xfrm>
          <a:prstGeom prst="rect">
            <a:avLst/>
          </a:prstGeom>
          <a:noFill/>
          <a:ln/>
        </p:spPr>
        <p:txBody>
          <a:bodyPr wrap="square" lIns="0" tIns="0" rIns="0" bIns="0" rtlCol="0" anchor="ctr"/>
          <a:lstStyle/>
          <a:p>
            <a:pPr indent="0" marL="0">
              <a:buNone/>
            </a:pPr>
            <a:r>
              <a:rPr lang="en-US" sz="1300" b="1" dirty="0">
                <a:solidFill>
                  <a:srgbClr val="C8511B"/>
                </a:solidFill>
                <a:latin typeface="Calibri" pitchFamily="34" charset="0"/>
                <a:ea typeface="Calibri" pitchFamily="34" charset="-122"/>
                <a:cs typeface="Calibri" pitchFamily="34" charset="-120"/>
              </a:rPr>
              <a:t>Limitations</a:t>
            </a:r>
            <a:endParaRPr lang="en-US" sz="1300" dirty="0"/>
          </a:p>
        </p:txBody>
      </p:sp>
      <p:sp>
        <p:nvSpPr>
          <p:cNvPr id="19" name="Text 14"/>
          <p:cNvSpPr txBox="1"/>
          <p:nvPr/>
        </p:nvSpPr>
        <p:spPr>
          <a:xfrm>
            <a:off x="5715000" y="3383280"/>
            <a:ext cx="2880360" cy="868680"/>
          </a:xfrm>
          <a:prstGeom prst="rect">
            <a:avLst/>
          </a:prstGeom>
          <a:noFill/>
          <a:ln/>
        </p:spPr>
        <p:txBody>
          <a:bodyPr wrap="square" lIns="0" tIns="0" rIns="0" bIns="0" rtlCol="0" anchor="t"/>
          <a:lstStyle/>
          <a:p>
            <a:pPr indent="0" marL="0">
              <a:buNone/>
            </a:pPr>
            <a:r>
              <a:rPr lang="en-US" sz="1100" dirty="0">
                <a:solidFill>
                  <a:srgbClr val="5B6B62"/>
                </a:solidFill>
                <a:latin typeface="Calibri" pitchFamily="34" charset="0"/>
                <a:ea typeface="Calibri" pitchFamily="34" charset="-122"/>
                <a:cs typeface="Calibri" pitchFamily="34" charset="-120"/>
              </a:rPr>
              <a:t>One dataset, two estates; GT is an empirical reference, not an upper bound on future counters.</a:t>
            </a:r>
            <a:endParaRPr lang="en-US" sz="1100" dirty="0"/>
          </a:p>
        </p:txBody>
      </p:sp>
      <p:sp>
        <p:nvSpPr>
          <p:cNvPr id="20" name="Text 15"/>
          <p:cNvSpPr txBox="1"/>
          <p:nvPr/>
        </p:nvSpPr>
        <p:spPr>
          <a:xfrm>
            <a:off x="8412480" y="4754880"/>
            <a:ext cx="365760" cy="228600"/>
          </a:xfrm>
          <a:prstGeom prst="rect">
            <a:avLst/>
          </a:prstGeom>
          <a:noFill/>
          <a:ln/>
        </p:spPr>
        <p:txBody>
          <a:bodyPr wrap="square" lIns="0" tIns="0" rIns="0" bIns="0" rtlCol="0" anchor="ctr"/>
          <a:lstStyle/>
          <a:p>
            <a:pPr algn="r" indent="0" marL="0">
              <a:buNone/>
            </a:pPr>
            <a:r>
              <a:rPr lang="en-US" sz="1000" dirty="0">
                <a:solidFill>
                  <a:srgbClr val="5B6B62"/>
                </a:solidFill>
                <a:latin typeface="Calibri" pitchFamily="34" charset="0"/>
                <a:ea typeface="Calibri" pitchFamily="34" charset="-122"/>
                <a:cs typeface="Calibri" pitchFamily="34" charset="-120"/>
              </a:rPr>
              <a:t>9</a:t>
            </a:r>
            <a:endParaRPr lang="en-US" sz="1000" dirty="0"/>
          </a:p>
        </p:txBody>
      </p:sp>
      <p:sp>
        <p:nvSpPr>
          <p:cNvPr id="21" name="Text 16"/>
          <p:cNvSpPr txBox="1"/>
          <p:nvPr/>
        </p:nvSpPr>
        <p:spPr>
          <a:xfrm>
            <a:off x="457200" y="4754880"/>
            <a:ext cx="1828800" cy="228600"/>
          </a:xfrm>
          <a:prstGeom prst="rect">
            <a:avLst/>
          </a:prstGeom>
          <a:noFill/>
          <a:ln/>
        </p:spPr>
        <p:txBody>
          <a:bodyPr wrap="square" lIns="0" tIns="0" rIns="0" bIns="0" rtlCol="0" anchor="ctr"/>
          <a:lstStyle/>
          <a:p>
            <a:pPr indent="0" marL="0">
              <a:buNone/>
            </a:pPr>
            <a:r>
              <a:rPr lang="en-US" sz="1000" dirty="0">
                <a:solidFill>
                  <a:srgbClr val="5B6B62"/>
                </a:solidFill>
                <a:latin typeface="Calibri" pitchFamily="34" charset="0"/>
                <a:ea typeface="Calibri" pitchFamily="34" charset="-122"/>
                <a:cs typeface="Calibri" pitchFamily="34" charset="-120"/>
              </a:rPr>
              <a:t>ICIC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91D"/>
        </a:solidFill>
      </p:bgPr>
    </p:bg>
    <p:spTree>
      <p:nvGrpSpPr>
        <p:cNvPr id="1" name=""/>
        <p:cNvGrpSpPr/>
        <p:nvPr/>
      </p:nvGrpSpPr>
      <p:grpSpPr>
        <a:xfrm>
          <a:off x="0" y="0"/>
          <a:ext cx="0" cy="0"/>
          <a:chOff x="0" y="0"/>
          <a:chExt cx="0" cy="0"/>
        </a:xfrm>
      </p:grpSpPr>
      <p:pic>
        <p:nvPicPr>
          <p:cNvPr id="2" name="Image 0" descr="/home/claude/img/side3.jpg">    </p:cNvPr>
          <p:cNvPicPr>
            <a:picLocks noChangeAspect="1"/>
          </p:cNvPicPr>
          <p:nvPr/>
        </p:nvPicPr>
        <p:blipFill>
          <a:blip r:embed="rId1"/>
          <a:srcRect l="0" r="0" t="0" b="0"/>
          <a:stretch/>
        </p:blipFill>
        <p:spPr>
          <a:xfrm>
            <a:off x="0" y="0"/>
            <a:ext cx="3657600" cy="5143500"/>
          </a:xfrm>
          <a:prstGeom prst="rect">
            <a:avLst/>
          </a:prstGeom>
        </p:spPr>
      </p:pic>
      <p:sp>
        <p:nvSpPr>
          <p:cNvPr id="3" name="Shape 0"/>
          <p:cNvSpPr/>
          <p:nvPr/>
        </p:nvSpPr>
        <p:spPr>
          <a:xfrm>
            <a:off x="0" y="0"/>
            <a:ext cx="3657600" cy="5143500"/>
          </a:xfrm>
          <a:prstGeom prst="rect">
            <a:avLst/>
          </a:prstGeom>
          <a:solidFill>
            <a:srgbClr val="12291D">
              <a:alpha val="30000"/>
            </a:srgbClr>
          </a:solidFill>
          <a:ln/>
        </p:spPr>
      </p:sp>
      <p:sp>
        <p:nvSpPr>
          <p:cNvPr id="4" name="Text 1"/>
          <p:cNvSpPr txBox="1"/>
          <p:nvPr/>
        </p:nvSpPr>
        <p:spPr>
          <a:xfrm>
            <a:off x="4206240" y="1188720"/>
            <a:ext cx="45720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2"/>
          <p:cNvSpPr txBox="1"/>
          <p:nvPr/>
        </p:nvSpPr>
        <p:spPr>
          <a:xfrm>
            <a:off x="4206240" y="2011680"/>
            <a:ext cx="4572000" cy="411480"/>
          </a:xfrm>
          <a:prstGeom prst="rect">
            <a:avLst/>
          </a:prstGeom>
          <a:noFill/>
          <a:ln/>
        </p:spPr>
        <p:txBody>
          <a:bodyPr wrap="square" lIns="0" tIns="0" rIns="0" bIns="0" rtlCol="0" anchor="ctr"/>
          <a:lstStyle/>
          <a:p>
            <a:pPr indent="0" marL="0">
              <a:buNone/>
            </a:pPr>
            <a:r>
              <a:rPr lang="en-US" sz="1600" i="1" dirty="0">
                <a:solidFill>
                  <a:srgbClr val="F2A36B"/>
                </a:solidFill>
                <a:latin typeface="Cambria" pitchFamily="34" charset="0"/>
                <a:ea typeface="Cambria" pitchFamily="34" charset="-122"/>
                <a:cs typeface="Cambria" pitchFamily="34" charset="-120"/>
              </a:rPr>
              <a:t>Questions &amp; discussion are welcome</a:t>
            </a:r>
            <a:endParaRPr lang="en-US" sz="1600" dirty="0"/>
          </a:p>
        </p:txBody>
      </p:sp>
      <p:pic>
        <p:nvPicPr>
          <p:cNvPr id="6" name="Image 1" descr="preencoded.png">    </p:cNvPr>
          <p:cNvPicPr>
            <a:picLocks noChangeAspect="1"/>
          </p:cNvPicPr>
          <p:nvPr/>
        </p:nvPicPr>
        <p:blipFill>
          <a:blip r:embed="rId2"/>
          <a:stretch>
            <a:fillRect/>
          </a:stretch>
        </p:blipFill>
        <p:spPr>
          <a:xfrm>
            <a:off x="4206240" y="2880360"/>
            <a:ext cx="292608" cy="292608"/>
          </a:xfrm>
          <a:prstGeom prst="rect">
            <a:avLst/>
          </a:prstGeom>
        </p:spPr>
      </p:pic>
      <p:sp>
        <p:nvSpPr>
          <p:cNvPr id="7" name="Text 3">
            <a:hlinkClick r:id="rId3" tooltip=""/>
          </p:cNvPr>
          <p:cNvSpPr txBox="1"/>
          <p:nvPr/>
        </p:nvSpPr>
        <p:spPr>
          <a:xfrm>
            <a:off x="4617720" y="2834640"/>
            <a:ext cx="4206240" cy="384048"/>
          </a:xfrm>
          <a:prstGeom prst="rect">
            <a:avLst/>
          </a:prstGeom>
          <a:noFill/>
          <a:ln/>
        </p:spPr>
        <p:txBody>
          <a:bodyPr wrap="square" lIns="0" tIns="0" rIns="0" bIns="0" rtlCol="0" anchor="ctr"/>
          <a:lstStyle/>
          <a:p>
            <a:pPr indent="0" marL="0">
              <a:buNone/>
            </a:pPr>
            <a:r>
              <a:rPr lang="en-US" sz="13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github.com/ULM-SawitMVC/Baseline-SawitMVC</a:t>
            </a:r>
            <a:endParaRPr lang="en-US" sz="1300" dirty="0"/>
          </a:p>
        </p:txBody>
      </p:sp>
      <p:pic>
        <p:nvPicPr>
          <p:cNvPr id="8" name="Image 2" descr="preencoded.png">    </p:cNvPr>
          <p:cNvPicPr>
            <a:picLocks noChangeAspect="1"/>
          </p:cNvPicPr>
          <p:nvPr/>
        </p:nvPicPr>
        <p:blipFill>
          <a:blip r:embed="rId4"/>
          <a:stretch>
            <a:fillRect/>
          </a:stretch>
        </p:blipFill>
        <p:spPr>
          <a:xfrm>
            <a:off x="4206240" y="3383280"/>
            <a:ext cx="292608" cy="292608"/>
          </a:xfrm>
          <a:prstGeom prst="rect">
            <a:avLst/>
          </a:prstGeom>
        </p:spPr>
      </p:pic>
      <p:sp>
        <p:nvSpPr>
          <p:cNvPr id="9" name="Text 4"/>
          <p:cNvSpPr txBox="1"/>
          <p:nvPr/>
        </p:nvSpPr>
        <p:spPr>
          <a:xfrm>
            <a:off x="4617720" y="3337560"/>
            <a:ext cx="420624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mz.muttaqin1@gmail.com</a:t>
            </a:r>
            <a:endParaRPr lang="en-US" sz="1300" dirty="0"/>
          </a:p>
        </p:txBody>
      </p:sp>
      <p:sp>
        <p:nvSpPr>
          <p:cNvPr id="10" name="Text 5"/>
          <p:cNvSpPr txBox="1"/>
          <p:nvPr/>
        </p:nvSpPr>
        <p:spPr>
          <a:xfrm>
            <a:off x="4206240" y="4206240"/>
            <a:ext cx="4572000" cy="320040"/>
          </a:xfrm>
          <a:prstGeom prst="rect">
            <a:avLst/>
          </a:prstGeom>
          <a:noFill/>
          <a:ln/>
        </p:spPr>
        <p:txBody>
          <a:bodyPr wrap="square" lIns="0" tIns="0" rIns="0" bIns="0" rtlCol="0" anchor="ctr"/>
          <a:lstStyle/>
          <a:p>
            <a:pPr indent="0" marL="0">
              <a:buNone/>
            </a:pPr>
            <a:r>
              <a:rPr lang="en-US" sz="1100" dirty="0">
                <a:solidFill>
                  <a:srgbClr val="A9C9A4"/>
                </a:solidFill>
                <a:latin typeface="Calibri" pitchFamily="34" charset="0"/>
                <a:ea typeface="Calibri" pitchFamily="34" charset="-122"/>
                <a:cs typeface="Calibri" pitchFamily="34" charset="-120"/>
              </a:rPr>
              <a:t>Lambung Mangkurat University · Banjarbaru, Indonesia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Multi-View Oil Palm Bunch Counting</dc:title>
  <dc:subject>PptxGenJS Presentation</dc:subject>
  <dc:creator>Muhammad Zainal Muttaqin</dc:creator>
  <cp:lastModifiedBy>Muhammad Zainal Muttaqin</cp:lastModifiedBy>
  <cp:revision>1</cp:revision>
  <dcterms:created xsi:type="dcterms:W3CDTF">2026-09-15T20:10:49Z</dcterms:created>
  <dcterms:modified xsi:type="dcterms:W3CDTF">2026-09-15T20:10:49Z</dcterms:modified>
</cp:coreProperties>
</file>