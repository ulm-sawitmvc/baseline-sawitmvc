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GT detections</c:v>
                </c:pt>
              </c:strCache>
            </c:strRef>
          </c:tx>
          <c:spPr>
            <a:solidFill>
              <a:srgbClr val="1F4D36"/>
            </a:solidFill>
            <a:effectLst/>
          </c:spPr>
          <c:invertIfNegative val="0"/>
          <c:dLbls>
            <c:numFmt formatCode="0.0" sourceLinked="0"/>
            <c:txPr>
              <a:bodyPr/>
              <a:lstStyle/>
              <a:p>
                <a:pPr>
                  <a:defRPr b="0" i="0" strike="noStrike" sz="800" u="none">
                    <a:solidFill>
                      <a:srgbClr val="1E2B24"/>
                    </a:solidFill>
                    <a:latin typeface="Arial"/>
                  </a:defRPr>
                </a:pPr>
              </a:p>
            </c:txPr>
            <c:showLegendKey val="0"/>
            <c:showVal val="1"/>
            <c:showCatName val="0"/>
            <c:showSerName val="0"/>
            <c:showPercent val="0"/>
            <c:showBubbleSize val="0"/>
            <c:showLeaderLines val="0"/>
          </c:dLbls>
          <c:cat>
            <c:multiLvlStrRef>
              <c:f>Sheet1!$A$2:$A$8</c:f>
              <c:multiLvlStrCache>
                <c:ptCount val="7"/>
                <c:lvl>
                  <c:pt idx="0">
                    <c:v>Naive sum</c:v>
                  </c:pt>
                  <c:pt idx="1">
                    <c:v>Global divisor</c:v>
                  </c:pt>
                  <c:pt idx="2">
                    <c:v>ElasticNet</c:v>
                  </c:pt>
                  <c:pt idx="3">
                    <c:v>SVM</c:v>
                  </c:pt>
                  <c:pt idx="4">
                    <c:v>Ridge</c:v>
                  </c:pt>
                  <c:pt idx="5">
                    <c:v>Linear reg.</c:v>
                  </c:pt>
                  <c:pt idx="6">
                    <c:v>Random forest</c:v>
                  </c:pt>
                </c:lvl>
              </c:multiLvlStrCache>
            </c:multiLvlStrRef>
          </c:cat>
          <c:val>
            <c:numRef>
              <c:f>Sheet1!$B$2:$B$8</c:f>
              <c:numCache>
                <c:formatCode>General</c:formatCode>
                <c:ptCount val="7"/>
                <c:pt idx="0">
                  <c:v>50</c:v>
                </c:pt>
                <c:pt idx="1">
                  <c:v>95.57</c:v>
                </c:pt>
                <c:pt idx="2">
                  <c:v>98.05</c:v>
                </c:pt>
                <c:pt idx="3">
                  <c:v>97.87</c:v>
                </c:pt>
                <c:pt idx="4">
                  <c:v>97.7</c:v>
                </c:pt>
                <c:pt idx="5">
                  <c:v>97.52</c:v>
                </c:pt>
                <c:pt idx="6">
                  <c:v>95.92</c:v>
                </c:pt>
              </c:numCache>
            </c:numRef>
          </c:val>
        </c:ser>
        <c:ser>
          <c:idx val="1"/>
          <c:order val="1"/>
          <c:tx>
            <c:strRef>
              <c:f>Sheet1!$C$1</c:f>
              <c:strCache>
                <c:ptCount val="1"/>
                <c:pt idx="0">
                  <c:v>Fixed YOLO26m</c:v>
                </c:pt>
              </c:strCache>
            </c:strRef>
          </c:tx>
          <c:spPr>
            <a:solidFill>
              <a:srgbClr val="C8511B"/>
            </a:solidFill>
            <a:effectLst/>
          </c:spPr>
          <c:invertIfNegative val="0"/>
          <c:dLbls>
            <c:numFmt formatCode="0.0" sourceLinked="0"/>
            <c:txPr>
              <a:bodyPr/>
              <a:lstStyle/>
              <a:p>
                <a:pPr>
                  <a:defRPr b="0" i="0" strike="noStrike" sz="800" u="none">
                    <a:solidFill>
                      <a:srgbClr val="1E2B24"/>
                    </a:solidFill>
                    <a:latin typeface="Arial"/>
                  </a:defRPr>
                </a:pPr>
              </a:p>
            </c:txPr>
            <c:showLegendKey val="0"/>
            <c:showVal val="1"/>
            <c:showCatName val="0"/>
            <c:showSerName val="0"/>
            <c:showPercent val="0"/>
            <c:showBubbleSize val="0"/>
            <c:showLeaderLines val="0"/>
          </c:dLbls>
          <c:cat>
            <c:multiLvlStrRef>
              <c:f>Sheet1!$A$2:$A$8</c:f>
              <c:multiLvlStrCache>
                <c:ptCount val="7"/>
                <c:lvl>
                  <c:pt idx="0">
                    <c:v>Naive sum</c:v>
                  </c:pt>
                  <c:pt idx="1">
                    <c:v>Global divisor</c:v>
                  </c:pt>
                  <c:pt idx="2">
                    <c:v>ElasticNet</c:v>
                  </c:pt>
                  <c:pt idx="3">
                    <c:v>SVM</c:v>
                  </c:pt>
                  <c:pt idx="4">
                    <c:v>Ridge</c:v>
                  </c:pt>
                  <c:pt idx="5">
                    <c:v>Linear reg.</c:v>
                  </c:pt>
                  <c:pt idx="6">
                    <c:v>Random forest</c:v>
                  </c:pt>
                </c:lvl>
              </c:multiLvlStrCache>
            </c:multiLvlStrRef>
          </c:cat>
          <c:val>
            <c:numRef>
              <c:f>Sheet1!$C$2:$C$8</c:f>
              <c:numCache>
                <c:formatCode>General</c:formatCode>
                <c:ptCount val="7"/>
                <c:pt idx="0">
                  <c:v>50.71</c:v>
                </c:pt>
                <c:pt idx="1">
                  <c:v>70.21</c:v>
                </c:pt>
                <c:pt idx="2">
                  <c:v>76.42</c:v>
                </c:pt>
                <c:pt idx="3">
                  <c:v>74.82</c:v>
                </c:pt>
                <c:pt idx="4">
                  <c:v>76.06</c:v>
                </c:pt>
                <c:pt idx="5">
                  <c:v>75.71</c:v>
                </c:pt>
                <c:pt idx="6">
                  <c:v>73.23</c:v>
                </c:pt>
              </c:numCache>
            </c:numRef>
          </c:val>
        </c:ser>
        <c:dLbls>
          <c:numFmt formatCode="0.0" sourceLinked="0"/>
          <c:txPr>
            <a:bodyPr/>
            <a:lstStyle/>
            <a:p>
              <a:pPr>
                <a:defRPr b="0" i="0" strike="noStrike" sz="800" u="none">
                  <a:solidFill>
                    <a:srgbClr val="1E2B24"/>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B62"/>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E2B24"/>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FFFFF"/>
                </a:solidFill>
                <a:latin typeface="Arial"/>
              </a:defRPr>
            </a:pPr>
            <a:r>
              <a:rPr sz="1200" b="0" i="0" u="none" strike="noStrike">
                <a:solidFill>
                  <a:srgbClr val="FFFFFF"/>
                </a:solidFill>
                <a:latin typeface="Arial"/>
              </a:rPr>
              <a:t>Per-class accuracy ±1 (%)</a:t>
            </a:r>
          </a:p>
        </c:rich>
      </c:tx>
      <c:layout/>
      <c:overlay val="0"/>
    </c:title>
    <c:autoTitleDeleted val="0"/>
    <c:plotArea>
      <c:layout/>
      <c:barChart>
        <c:barDir val="col"/>
        <c:grouping val="clustered"/>
        <c:varyColors val="0"/>
        <c:ser>
          <c:idx val="0"/>
          <c:order val="0"/>
          <c:tx>
            <c:strRef>
              <c:f>Sheet1!$B$1</c:f>
              <c:strCache>
                <c:ptCount val="1"/>
                <c:pt idx="0">
                  <c:v>GT</c:v>
                </c:pt>
              </c:strCache>
            </c:strRef>
          </c:tx>
          <c:spPr>
            <a:solidFill>
              <a:srgbClr val="A9C9A4"/>
            </a:solidFill>
            <a:effectLst/>
          </c:spPr>
          <c:invertIfNegative val="0"/>
          <c:dLbls>
            <c:numFmt formatCode="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B1</c:v>
                  </c:pt>
                  <c:pt idx="1">
                    <c:v>B2</c:v>
                  </c:pt>
                  <c:pt idx="2">
                    <c:v>B3</c:v>
                  </c:pt>
                  <c:pt idx="3">
                    <c:v>B4</c:v>
                  </c:pt>
                </c:lvl>
              </c:multiLvlStrCache>
            </c:multiLvlStrRef>
          </c:cat>
          <c:val>
            <c:numRef>
              <c:f>Sheet1!$B$2:$B$5</c:f>
              <c:numCache>
                <c:formatCode>General</c:formatCode>
                <c:ptCount val="4"/>
                <c:pt idx="0">
                  <c:v>100</c:v>
                </c:pt>
                <c:pt idx="1">
                  <c:v>99.29</c:v>
                </c:pt>
                <c:pt idx="2">
                  <c:v>93.62</c:v>
                </c:pt>
                <c:pt idx="3">
                  <c:v>99.29</c:v>
                </c:pt>
              </c:numCache>
            </c:numRef>
          </c:val>
        </c:ser>
        <c:ser>
          <c:idx val="1"/>
          <c:order val="1"/>
          <c:tx>
            <c:strRef>
              <c:f>Sheet1!$C$1</c:f>
              <c:strCache>
                <c:ptCount val="1"/>
                <c:pt idx="0">
                  <c:v>Fixed detector</c:v>
                </c:pt>
              </c:strCache>
            </c:strRef>
          </c:tx>
          <c:spPr>
            <a:solidFill>
              <a:srgbClr val="F2A36B"/>
            </a:solidFill>
            <a:effectLst/>
          </c:spPr>
          <c:invertIfNegative val="0"/>
          <c:dLbls>
            <c:numFmt formatCode="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B1</c:v>
                  </c:pt>
                  <c:pt idx="1">
                    <c:v>B2</c:v>
                  </c:pt>
                  <c:pt idx="2">
                    <c:v>B3</c:v>
                  </c:pt>
                  <c:pt idx="3">
                    <c:v>B4</c:v>
                  </c:pt>
                </c:lvl>
              </c:multiLvlStrCache>
            </c:multiLvlStrRef>
          </c:cat>
          <c:val>
            <c:numRef>
              <c:f>Sheet1!$C$2:$C$5</c:f>
              <c:numCache>
                <c:formatCode>General</c:formatCode>
                <c:ptCount val="4"/>
                <c:pt idx="0">
                  <c:v>97.16</c:v>
                </c:pt>
                <c:pt idx="1">
                  <c:v>82.98</c:v>
                </c:pt>
                <c:pt idx="2">
                  <c:v>57.45</c:v>
                </c:pt>
                <c:pt idx="3">
                  <c:v>72.34</c:v>
                </c:pt>
              </c:numCache>
            </c:numRef>
          </c:val>
        </c:ser>
        <c:dLbls>
          <c:numFmt formatCode="0.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FFFFFF"/>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B24"/>
                </a:solidFill>
                <a:latin typeface="Arial"/>
              </a:defRPr>
            </a:pPr>
            <a:r>
              <a:rPr sz="1200" b="0" i="0" u="none" strike="noStrike">
                <a:solidFill>
                  <a:srgbClr val="1E2B24"/>
                </a:solidFill>
                <a:latin typeface="Arial"/>
              </a:rPr>
              <a:t>2,612 GT appearances</a:t>
            </a:r>
          </a:p>
        </c:rich>
      </c:tx>
      <c:layout/>
      <c:overlay val="0"/>
    </c:title>
    <c:autoTitleDeleted val="0"/>
    <c:plotArea>
      <c:layout/>
      <c:doughnutChart>
        <c:varyColors val="1"/>
        <c:ser>
          <c:idx val="0"/>
          <c:order val="0"/>
          <c:tx>
            <c:strRef>
              <c:f>Sheet1!$B$1</c:f>
              <c:strCache>
                <c:ptCount val="1"/>
                <c:pt idx="0">
                  <c:v>Appearances</c:v>
                </c:pt>
              </c:strCache>
            </c:strRef>
          </c:tx>
          <c:spPr>
            <a:solidFill>
              <a:schemeClr val="accent1"/>
            </a:solidFill>
            <a:ln w="9525" cap="flat">
              <a:solidFill>
                <a:srgbClr val="F9F9F9"/>
              </a:solidFill>
              <a:prstDash val="solid"/>
              <a:round/>
            </a:ln>
            <a:effectLst/>
          </c:spPr>
          <c:dPt>
            <c:idx val="0"/>
            <c:bubble3D val="0"/>
            <c:spPr>
              <a:solidFill>
                <a:srgbClr val="1F4D36"/>
              </a:solidFill>
              <a:effectLst/>
            </c:spPr>
          </c:dPt>
          <c:dPt>
            <c:idx val="1"/>
            <c:bubble3D val="0"/>
            <c:spPr>
              <a:solidFill>
                <a:srgbClr val="9E2A2B"/>
              </a:solidFill>
              <a:effectLst/>
            </c:spPr>
          </c:dPt>
          <c:dPt>
            <c:idx val="2"/>
            <c:bubble3D val="0"/>
            <c:spPr>
              <a:solidFill>
                <a:srgbClr val="E9A23B"/>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Found &amp; correct class</c:v>
                </c:pt>
                <c:pt idx="1">
                  <c:v>Missed</c:v>
                </c:pt>
                <c:pt idx="2">
                  <c:v>Wrong class</c:v>
                </c:pt>
              </c:strCache>
            </c:strRef>
          </c:cat>
          <c:val>
            <c:numRef>
              <c:f>Sheet1!$B$2:$B$4</c:f>
              <c:numCache>
                <c:ptCount val="3"/>
                <c:pt idx="0">
                  <c:v>1252</c:v>
                </c:pt>
                <c:pt idx="1">
                  <c:v>964</c:v>
                </c:pt>
                <c:pt idx="2">
                  <c:v>396</c:v>
                </c:pt>
              </c:numCache>
            </c:numRef>
          </c:val>
        </c:ser>
        <c:firstSliceAng val="0"/>
        <c:holeSize val="58"/>
      </c:doughnutChart>
      <c:spPr>
        <a:noFill/>
        <a:ln>
          <a:noFill/>
        </a:ln>
        <a:effectLst/>
      </c:spPr>
    </c:plotArea>
    <c:legend>
      <c:legendPos val="b"/>
      <c:overlay val="0"/>
      <c:txPr>
        <a:bodyPr/>
        <a:lstStyle/>
        <a:p>
          <a:pPr>
            <a:defRPr sz="1000">
              <a:solidFill>
                <a:srgbClr val="1E2B24"/>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B24"/>
                </a:solidFill>
                <a:latin typeface="Arial"/>
              </a:defRPr>
            </a:pPr>
            <a:r>
              <a:rPr sz="1100" b="0" i="0" u="none" strike="noStrike">
                <a:solidFill>
                  <a:srgbClr val="1E2B24"/>
                </a:solidFill>
                <a:latin typeface="Arial"/>
              </a:rPr>
              <a:t>Confidence threshold sweep — Class ±1 (%)</a:t>
            </a:r>
          </a:p>
        </c:rich>
      </c:tx>
      <c:layout/>
      <c:overlay val="0"/>
    </c:title>
    <c:autoTitleDeleted val="0"/>
    <c:plotArea>
      <c:layout/>
      <c:lineChart>
        <c:varyColors val="0"/>
        <c:ser>
          <c:idx val="0"/>
          <c:order val="0"/>
          <c:tx>
            <c:strRef>
              <c:f>Sheet1!$B$1</c:f>
              <c:strCache>
                <c:ptCount val="1"/>
                <c:pt idx="0">
                  <c:v>Detector (Ridge+Fall)</c:v>
                </c:pt>
              </c:strCache>
            </c:strRef>
          </c:tx>
          <c:spPr>
            <a:solidFill>
              <a:srgbClr val="C8511B"/>
            </a:solidFill>
            <a:ln w="25400" cap="flat">
              <a:solidFill>
                <a:srgbClr val="C851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511B"/>
              </a:solidFill>
              <a:ln w="9525" cap="flat">
                <a:solidFill>
                  <a:srgbClr val="C8511B"/>
                </a:solidFill>
                <a:prstDash val="solid"/>
                <a:round/>
              </a:ln>
              <a:effectLst/>
            </c:spPr>
          </c:marker>
          <c:cat>
            <c:multiLvlStrRef>
              <c:f>Sheet1!$A$2:$A$12</c:f>
              <c:multiLvlStrCache>
                <c:ptCount val="11"/>
                <c:lvl>
                  <c:pt idx="0">
                    <c:v>0.05</c:v>
                  </c:pt>
                  <c:pt idx="1">
                    <c:v>0.1</c:v>
                  </c:pt>
                  <c:pt idx="2">
                    <c:v>0.15</c:v>
                  </c:pt>
                  <c:pt idx="3">
                    <c:v>0.2</c:v>
                  </c:pt>
                  <c:pt idx="4">
                    <c:v>0.25</c:v>
                  </c:pt>
                  <c:pt idx="5">
                    <c:v>0.3</c:v>
                  </c:pt>
                  <c:pt idx="6">
                    <c:v>0.35</c:v>
                  </c:pt>
                  <c:pt idx="7">
                    <c:v>0.4</c:v>
                  </c:pt>
                  <c:pt idx="8">
                    <c:v>0.5</c:v>
                  </c:pt>
                  <c:pt idx="9">
                    <c:v>0.6</c:v>
                  </c:pt>
                  <c:pt idx="10">
                    <c:v>0.7</c:v>
                  </c:pt>
                </c:lvl>
              </c:multiLvlStrCache>
            </c:multiLvlStrRef>
          </c:cat>
          <c:val>
            <c:numRef>
              <c:f>Sheet1!$B$2:$B$12</c:f>
              <c:numCache>
                <c:formatCode>General</c:formatCode>
                <c:ptCount val="11"/>
                <c:pt idx="0">
                  <c:v>76.24</c:v>
                </c:pt>
                <c:pt idx="1">
                  <c:v>77.48</c:v>
                </c:pt>
                <c:pt idx="2">
                  <c:v>75.7</c:v>
                </c:pt>
                <c:pt idx="3">
                  <c:v>74.3</c:v>
                </c:pt>
                <c:pt idx="4">
                  <c:v>77.48</c:v>
                </c:pt>
                <c:pt idx="5">
                  <c:v>74.7</c:v>
                </c:pt>
                <c:pt idx="6">
                  <c:v>73.05</c:v>
                </c:pt>
                <c:pt idx="7">
                  <c:v>69.5</c:v>
                </c:pt>
                <c:pt idx="8">
                  <c:v>67.91</c:v>
                </c:pt>
                <c:pt idx="9">
                  <c:v>68.1</c:v>
                </c:pt>
                <c:pt idx="10">
                  <c:v>63.12</c:v>
                </c:pt>
              </c:numCache>
            </c:numRef>
          </c:val>
          <c:smooth val="0"/>
        </c:ser>
        <c:ser>
          <c:idx val="1"/>
          <c:order val="1"/>
          <c:tx>
            <c:strRef>
              <c:f>Sheet1!$C$1</c:f>
              <c:strCache>
                <c:ptCount val="1"/>
                <c:pt idx="0">
                  <c:v>GT reference</c:v>
                </c:pt>
              </c:strCache>
            </c:strRef>
          </c:tx>
          <c:spPr>
            <a:solidFill>
              <a:srgbClr val="1F4D36"/>
            </a:solidFill>
            <a:ln w="25400" cap="flat">
              <a:solidFill>
                <a:srgbClr val="1F4D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F4D36"/>
              </a:solidFill>
              <a:ln w="9525" cap="flat">
                <a:solidFill>
                  <a:srgbClr val="1F4D36"/>
                </a:solidFill>
                <a:prstDash val="solid"/>
                <a:round/>
              </a:ln>
              <a:effectLst/>
            </c:spPr>
          </c:marker>
          <c:cat>
            <c:multiLvlStrRef>
              <c:f>Sheet1!$A$2:$A$12</c:f>
              <c:multiLvlStrCache>
                <c:ptCount val="11"/>
                <c:lvl>
                  <c:pt idx="0">
                    <c:v>0.05</c:v>
                  </c:pt>
                  <c:pt idx="1">
                    <c:v>0.1</c:v>
                  </c:pt>
                  <c:pt idx="2">
                    <c:v>0.15</c:v>
                  </c:pt>
                  <c:pt idx="3">
                    <c:v>0.2</c:v>
                  </c:pt>
                  <c:pt idx="4">
                    <c:v>0.25</c:v>
                  </c:pt>
                  <c:pt idx="5">
                    <c:v>0.3</c:v>
                  </c:pt>
                  <c:pt idx="6">
                    <c:v>0.35</c:v>
                  </c:pt>
                  <c:pt idx="7">
                    <c:v>0.4</c:v>
                  </c:pt>
                  <c:pt idx="8">
                    <c:v>0.5</c:v>
                  </c:pt>
                  <c:pt idx="9">
                    <c:v>0.6</c:v>
                  </c:pt>
                  <c:pt idx="10">
                    <c:v>0.7</c:v>
                  </c:pt>
                </c:lvl>
              </c:multiLvlStrCache>
            </c:multiLvlStrRef>
          </c:cat>
          <c:val>
            <c:numRef>
              <c:f>Sheet1!$C$2:$C$12</c:f>
              <c:numCache>
                <c:formatCode>General</c:formatCode>
                <c:ptCount val="11"/>
                <c:pt idx="0">
                  <c:v>98.05</c:v>
                </c:pt>
                <c:pt idx="1">
                  <c:v>98.05</c:v>
                </c:pt>
                <c:pt idx="2">
                  <c:v>98.05</c:v>
                </c:pt>
                <c:pt idx="3">
                  <c:v>98.05</c:v>
                </c:pt>
                <c:pt idx="4">
                  <c:v>98.05</c:v>
                </c:pt>
                <c:pt idx="5">
                  <c:v>98.05</c:v>
                </c:pt>
                <c:pt idx="6">
                  <c:v>98.05</c:v>
                </c:pt>
                <c:pt idx="7">
                  <c:v>98.05</c:v>
                </c:pt>
                <c:pt idx="8">
                  <c:v>98.05</c:v>
                </c:pt>
                <c:pt idx="9">
                  <c:v>98.05</c:v>
                </c:pt>
                <c:pt idx="10">
                  <c:v>98.05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5B6B62"/>
                    </a:solidFill>
                    <a:latin typeface="Arial"/>
                  </a:defRPr>
                </a:pPr>
                <a:r>
                  <a:rPr sz="900" b="0" i="0" u="none" strike="noStrike">
                    <a:solidFill>
                      <a:srgbClr val="5B6B62"/>
                    </a:solidFill>
                    <a:latin typeface="Arial"/>
                  </a:rPr>
                  <a:t>Confidence threshold τ</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62"/>
                </a:solidFill>
                <a:latin typeface="Arial"/>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DDE5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6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E2B24"/>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will present a benchmark of multi-view, tree-level oil palm bunch counting, and the main question: when counting fails, is it the counter or the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planning depends on the BBC: how many bunches per tree in each class B1 to B4. Bunches surround the trunk, so we photograph each tree from 4 to 8 sides. But the same bunch appears in multiple images, so naive summation overcounts.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SawitMVC has 953 trees and 3,992 images from two South Kalimantan estates. Each tree gives detections, either ground truth or from a frozen YOLO26m, which are summarized into tree-level feature vectors and mapped by a regressor to four class counts. Comparing both input conditions separates counter quality from detector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±1 checks each maturity class separately. Tree ±1 is stricter: all four counts must be within one bunch simultaneously, which is what a census really needs. Statistics use tree-level bootstrap and paired permutation tests with Holm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Naive summation fails in both conditions. A calibrated divisor recovers much, and regressors improve further. Under GT inputs all linear counters are near 98%. With the detector, all counters drop to 73–76%, and their differences are not statistically significant. The drop between conditions is much larger than the differences between 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best GT configuration reaches 98.05% class accuracy; the best detector configuration reaches 77.48%, a gap of 20.57 points. At tree level, the gap is almost 60 points. B3 and B4 lose the most. Adding 54 extra features to Ridge changes class accuracy by only 1.42 points, not significant.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47.9% of test appearances are both detected and correctly classified. 22.7% of physical bunches are never detected in any view, so no counter can directly associate them. B2 is often confused with B3, and B4 is mostly missed. These diagnostics are not an additive error budget, but they point to detection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holds when winners are chosen on validation data, in matched cross-validation, with a separately trained YOLO11m, and across four YOLO26 checkpoints. No detector threshold exceeds 77.48% class accuracy, far below the GT reference of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GT advantage persists across counters, selection, resampling and detector families. For the census, improving B3/B4 detection and B2-to-B3 classification is the priority. Future work will compare explicit association methods and test on independent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chart" Target="/ppt/charts/chart4.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ULM-SawitMVC/Baseline-SawitMVC" TargetMode="External"/><Relationship Id="rId1" Type="http://schemas.openxmlformats.org/officeDocument/2006/relationships/image" Target="../media/image-10-1.jp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1D"/>
        </a:solidFill>
      </p:bgPr>
    </p:bg>
    <p:spTree>
      <p:nvGrpSpPr>
        <p:cNvPr id="1" name=""/>
        <p:cNvGrpSpPr/>
        <p:nvPr/>
      </p:nvGrpSpPr>
      <p:grpSpPr>
        <a:xfrm>
          <a:off x="0" y="0"/>
          <a:ext cx="0" cy="0"/>
          <a:chOff x="0" y="0"/>
          <a:chExt cx="0" cy="0"/>
        </a:xfrm>
      </p:grpSpPr>
      <p:pic>
        <p:nvPicPr>
          <p:cNvPr id="2" name="Image 0" descr="/home/claude/img/side2.jpg">    </p:cNvPr>
          <p:cNvPicPr>
            <a:picLocks noChangeAspect="1"/>
          </p:cNvPicPr>
          <p:nvPr/>
        </p:nvPicPr>
        <p:blipFill>
          <a:blip r:embed="rId1"/>
          <a:srcRect l="0" r="0" t="0" b="0"/>
          <a:stretch/>
        </p:blipFill>
        <p:spPr>
          <a:xfrm>
            <a:off x="5120640" y="0"/>
            <a:ext cx="4023360" cy="5143500"/>
          </a:xfrm>
          <a:prstGeom prst="rect">
            <a:avLst/>
          </a:prstGeom>
        </p:spPr>
      </p:pic>
      <p:sp>
        <p:nvSpPr>
          <p:cNvPr id="3" name="Shape 0"/>
          <p:cNvSpPr/>
          <p:nvPr/>
        </p:nvSpPr>
        <p:spPr>
          <a:xfrm>
            <a:off x="5120640" y="0"/>
            <a:ext cx="4023360" cy="5143500"/>
          </a:xfrm>
          <a:prstGeom prst="rect">
            <a:avLst/>
          </a:prstGeom>
          <a:solidFill>
            <a:srgbClr val="12291D">
              <a:alpha val="30000"/>
            </a:srgbClr>
          </a:solidFill>
          <a:ln/>
        </p:spPr>
      </p:sp>
      <p:sp>
        <p:nvSpPr>
          <p:cNvPr id="4" name="Text 1"/>
          <p:cNvSpPr txBox="1"/>
          <p:nvPr/>
        </p:nvSpPr>
        <p:spPr>
          <a:xfrm>
            <a:off x="457200" y="411480"/>
            <a:ext cx="4572000" cy="457200"/>
          </a:xfrm>
          <a:prstGeom prst="rect">
            <a:avLst/>
          </a:prstGeom>
          <a:noFill/>
          <a:ln/>
        </p:spPr>
        <p:txBody>
          <a:bodyPr wrap="square" lIns="0" tIns="0" rIns="0" bIns="0" rtlCol="0" anchor="ctr"/>
          <a:lstStyle/>
          <a:p>
            <a:pPr indent="0" marL="0">
              <a:buNone/>
            </a:pPr>
            <a:r>
              <a:rPr lang="en-US" sz="1100" dirty="0">
                <a:solidFill>
                  <a:srgbClr val="A9C9A4"/>
                </a:solidFill>
                <a:latin typeface="Calibri" pitchFamily="34" charset="0"/>
                <a:ea typeface="Calibri" pitchFamily="34" charset="-122"/>
                <a:cs typeface="Calibri" pitchFamily="34" charset="-120"/>
              </a:rPr>
              <a:t>ICIC 2026  ·  The Tenth International Conference on Informatics and Computing</a:t>
            </a:r>
            <a:endParaRPr lang="en-US" sz="1100" dirty="0"/>
          </a:p>
        </p:txBody>
      </p:sp>
      <p:sp>
        <p:nvSpPr>
          <p:cNvPr id="5" name="Text 2"/>
          <p:cNvSpPr txBox="1"/>
          <p:nvPr/>
        </p:nvSpPr>
        <p:spPr>
          <a:xfrm>
            <a:off x="457200" y="1051560"/>
            <a:ext cx="4480560" cy="19202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Benchmarking Multi-View Tree-Level Oil Palm Bunch Counting Under a Fixed Detector</a:t>
            </a:r>
            <a:endParaRPr lang="en-US" sz="3000" dirty="0"/>
          </a:p>
        </p:txBody>
      </p:sp>
      <p:sp>
        <p:nvSpPr>
          <p:cNvPr id="6" name="Text 3"/>
          <p:cNvSpPr txBox="1"/>
          <p:nvPr/>
        </p:nvSpPr>
        <p:spPr>
          <a:xfrm>
            <a:off x="457200" y="3017520"/>
            <a:ext cx="4480560" cy="365760"/>
          </a:xfrm>
          <a:prstGeom prst="rect">
            <a:avLst/>
          </a:prstGeom>
          <a:noFill/>
          <a:ln/>
        </p:spPr>
        <p:txBody>
          <a:bodyPr wrap="square" lIns="0" tIns="0" rIns="0" bIns="0" rtlCol="0" anchor="ctr"/>
          <a:lstStyle/>
          <a:p>
            <a:pPr indent="0" marL="0">
              <a:buNone/>
            </a:pPr>
            <a:r>
              <a:rPr lang="en-US" sz="1500" i="1" dirty="0">
                <a:solidFill>
                  <a:srgbClr val="F2A36B"/>
                </a:solidFill>
                <a:latin typeface="Cambria" pitchFamily="34" charset="0"/>
                <a:ea typeface="Cambria" pitchFamily="34" charset="-122"/>
                <a:cs typeface="Cambria" pitchFamily="34" charset="-120"/>
              </a:rPr>
              <a:t>Is the bottleneck the counter — or the detector?</a:t>
            </a:r>
            <a:endParaRPr lang="en-US" sz="1500" dirty="0"/>
          </a:p>
        </p:txBody>
      </p:sp>
      <p:sp>
        <p:nvSpPr>
          <p:cNvPr id="7" name="Text 4"/>
          <p:cNvSpPr txBox="1"/>
          <p:nvPr/>
        </p:nvSpPr>
        <p:spPr>
          <a:xfrm>
            <a:off x="457200" y="3703320"/>
            <a:ext cx="4480560" cy="1005840"/>
          </a:xfrm>
          <a:prstGeom prst="rect">
            <a:avLst/>
          </a:prstGeom>
          <a:noFill/>
          <a:ln/>
        </p:spPr>
        <p:txBody>
          <a:bodyPr wrap="square" lIns="0" tIns="0" rIns="0" bIns="0" rtlCol="0" anchor="t"/>
          <a:lstStyle/>
          <a:p>
            <a:pPr indent="0" marL="0">
              <a:spcAft>
                <a:spcPts val="300"/>
              </a:spcAft>
              <a:buNone/>
            </a:pPr>
            <a:r>
              <a:rPr lang="en-US" sz="1100" b="1" dirty="0">
                <a:solidFill>
                  <a:srgbClr val="DCE8DE"/>
                </a:solidFill>
                <a:latin typeface="Calibri" pitchFamily="34" charset="0"/>
                <a:ea typeface="Calibri" pitchFamily="34" charset="-122"/>
                <a:cs typeface="Calibri" pitchFamily="34" charset="-120"/>
              </a:rPr>
              <a:t>Muhammad Zainal Muttaqin</a:t>
            </a:r>
            <a:endParaRPr lang="en-US" sz="1100" dirty="0"/>
          </a:p>
          <a:p>
            <a:pPr indent="0" marL="0">
              <a:spcAft>
                <a:spcPts val="300"/>
              </a:spcAft>
              <a:buNone/>
            </a:pPr>
            <a:r>
              <a:rPr lang="en-US" sz="1100" dirty="0">
                <a:solidFill>
                  <a:srgbClr val="DCE8DE"/>
                </a:solidFill>
                <a:latin typeface="Calibri" pitchFamily="34" charset="0"/>
                <a:ea typeface="Calibri" pitchFamily="34" charset="-122"/>
                <a:cs typeface="Calibri" pitchFamily="34" charset="-120"/>
              </a:rPr>
              <a:t>F. Indriani, S. W. Saputro, A. Rahmi, T. H. Saragih, Hartoni, D. Kartini, N. Said</a:t>
            </a:r>
            <a:endParaRPr lang="en-US" sz="1100" dirty="0"/>
          </a:p>
          <a:p>
            <a:pPr indent="0" marL="0">
              <a:spcAft>
                <a:spcPts val="300"/>
              </a:spcAft>
              <a:buNone/>
            </a:pPr>
            <a:r>
              <a:rPr lang="en-US" sz="1100" dirty="0">
                <a:solidFill>
                  <a:srgbClr val="DCE8DE"/>
                </a:solidFill>
                <a:latin typeface="Calibri" pitchFamily="34" charset="0"/>
                <a:ea typeface="Calibri" pitchFamily="34" charset="-122"/>
                <a:cs typeface="Calibri" pitchFamily="34" charset="-120"/>
              </a:rPr>
              <a:t>Lambung Mangkurat University, Banjarbaru, Indonesia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The problem: one bunch, many appearances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5B6B62"/>
                </a:solidFill>
                <a:latin typeface="Calibri" pitchFamily="34" charset="0"/>
                <a:ea typeface="Calibri" pitchFamily="34" charset="-122"/>
                <a:cs typeface="Calibri" pitchFamily="34" charset="-120"/>
              </a:rPr>
              <a:t>Black Bunch Census (BBC) needs a per-tree count for each maturity class B1–B4</a:t>
            </a:r>
            <a:endParaRPr lang="en-US" sz="1400" dirty="0"/>
          </a:p>
        </p:txBody>
      </p:sp>
      <p:pic>
        <p:nvPicPr>
          <p:cNvPr id="4" name="Image 0" descr="/home/claude/img/side1.jpg">    </p:cNvPr>
          <p:cNvPicPr>
            <a:picLocks noChangeAspect="1"/>
          </p:cNvPicPr>
          <p:nvPr/>
        </p:nvPicPr>
        <p:blipFill>
          <a:blip r:embed="rId1"/>
          <a:srcRect l="0" r="0" t="0" b="0"/>
          <a:stretch/>
        </p:blipFill>
        <p:spPr>
          <a:xfrm>
            <a:off x="457200" y="1325880"/>
            <a:ext cx="1645920" cy="1645920"/>
          </a:xfrm>
          <a:prstGeom prst="rect">
            <a:avLst/>
          </a:prstGeom>
        </p:spPr>
      </p:pic>
      <p:sp>
        <p:nvSpPr>
          <p:cNvPr id="5" name="Text 2"/>
          <p:cNvSpPr txBox="1"/>
          <p:nvPr/>
        </p:nvSpPr>
        <p:spPr>
          <a:xfrm>
            <a:off x="457200" y="3017520"/>
            <a:ext cx="1645920" cy="27432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View 1</a:t>
            </a:r>
            <a:endParaRPr lang="en-US" sz="1200" dirty="0"/>
          </a:p>
        </p:txBody>
      </p:sp>
      <p:pic>
        <p:nvPicPr>
          <p:cNvPr id="6" name="Image 1" descr="/home/claude/img/side2.jpg">    </p:cNvPr>
          <p:cNvPicPr>
            <a:picLocks noChangeAspect="1"/>
          </p:cNvPicPr>
          <p:nvPr/>
        </p:nvPicPr>
        <p:blipFill>
          <a:blip r:embed="rId2"/>
          <a:srcRect l="0" r="0" t="0" b="0"/>
          <a:stretch/>
        </p:blipFill>
        <p:spPr>
          <a:xfrm>
            <a:off x="2240280" y="1325880"/>
            <a:ext cx="1645920" cy="1645920"/>
          </a:xfrm>
          <a:prstGeom prst="rect">
            <a:avLst/>
          </a:prstGeom>
        </p:spPr>
      </p:pic>
      <p:sp>
        <p:nvSpPr>
          <p:cNvPr id="7" name="Text 3"/>
          <p:cNvSpPr txBox="1"/>
          <p:nvPr/>
        </p:nvSpPr>
        <p:spPr>
          <a:xfrm>
            <a:off x="2240280" y="3017520"/>
            <a:ext cx="1645920" cy="27432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View 2</a:t>
            </a:r>
            <a:endParaRPr lang="en-US" sz="1200" dirty="0"/>
          </a:p>
        </p:txBody>
      </p:sp>
      <p:pic>
        <p:nvPicPr>
          <p:cNvPr id="8" name="Image 2" descr="/home/claude/img/side3.jpg">    </p:cNvPr>
          <p:cNvPicPr>
            <a:picLocks noChangeAspect="1"/>
          </p:cNvPicPr>
          <p:nvPr/>
        </p:nvPicPr>
        <p:blipFill>
          <a:blip r:embed="rId3"/>
          <a:srcRect l="0" r="0" t="0" b="0"/>
          <a:stretch/>
        </p:blipFill>
        <p:spPr>
          <a:xfrm>
            <a:off x="4023360" y="1325880"/>
            <a:ext cx="1645920" cy="1645920"/>
          </a:xfrm>
          <a:prstGeom prst="rect">
            <a:avLst/>
          </a:prstGeom>
        </p:spPr>
      </p:pic>
      <p:sp>
        <p:nvSpPr>
          <p:cNvPr id="9" name="Text 4"/>
          <p:cNvSpPr txBox="1"/>
          <p:nvPr/>
        </p:nvSpPr>
        <p:spPr>
          <a:xfrm>
            <a:off x="4023360" y="3017520"/>
            <a:ext cx="1645920" cy="27432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View 3</a:t>
            </a:r>
            <a:endParaRPr lang="en-US" sz="1200" dirty="0"/>
          </a:p>
        </p:txBody>
      </p:sp>
      <p:sp>
        <p:nvSpPr>
          <p:cNvPr id="10" name="Shape 5"/>
          <p:cNvSpPr/>
          <p:nvPr/>
        </p:nvSpPr>
        <p:spPr>
          <a:xfrm>
            <a:off x="457200" y="3429000"/>
            <a:ext cx="5212080" cy="594360"/>
          </a:xfrm>
          <a:prstGeom prst="roundRect">
            <a:avLst>
              <a:gd name="adj" fmla="val 12308"/>
            </a:avLst>
          </a:prstGeom>
          <a:solidFill>
            <a:srgbClr val="FBEDE5"/>
          </a:solidFill>
          <a:ln/>
        </p:spPr>
      </p:sp>
      <p:sp>
        <p:nvSpPr>
          <p:cNvPr id="11" name="Text 6"/>
          <p:cNvSpPr txBox="1"/>
          <p:nvPr/>
        </p:nvSpPr>
        <p:spPr>
          <a:xfrm>
            <a:off x="457200" y="3429000"/>
            <a:ext cx="5212080" cy="594360"/>
          </a:xfrm>
          <a:prstGeom prst="rect">
            <a:avLst/>
          </a:prstGeom>
          <a:noFill/>
          <a:ln/>
        </p:spPr>
        <p:txBody>
          <a:bodyPr wrap="square" rtlCol="0" anchor="ctr"/>
          <a:lstStyle/>
          <a:p>
            <a:pPr algn="ctr" indent="0" marL="0">
              <a:buNone/>
            </a:pPr>
            <a:r>
              <a:rPr lang="en-US" sz="1600" b="1" dirty="0">
                <a:solidFill>
                  <a:srgbClr val="C8511B"/>
                </a:solidFill>
                <a:latin typeface="Calibri" pitchFamily="34" charset="0"/>
                <a:ea typeface="Calibri" pitchFamily="34" charset="-122"/>
                <a:cs typeface="Calibri" pitchFamily="34" charset="-120"/>
              </a:rPr>
              <a:t>3 appearances</a:t>
            </a:r>
            <a:pPr algn="ctr" indent="0" marL="0">
              <a:buNone/>
            </a:pPr>
            <a:r>
              <a:rPr lang="en-US" sz="1600" dirty="0">
                <a:solidFill>
                  <a:srgbClr val="1E2B24"/>
                </a:solidFill>
                <a:latin typeface="Calibri" pitchFamily="34" charset="0"/>
                <a:ea typeface="Calibri" pitchFamily="34" charset="-122"/>
                <a:cs typeface="Calibri" pitchFamily="34" charset="-120"/>
              </a:rPr>
              <a:t>  →  only </a:t>
            </a:r>
            <a:pPr algn="ctr" indent="0" marL="0">
              <a:buNone/>
            </a:pPr>
            <a:r>
              <a:rPr lang="en-US" sz="1600" b="1" dirty="0">
                <a:solidFill>
                  <a:srgbClr val="1F4D36"/>
                </a:solidFill>
                <a:latin typeface="Calibri" pitchFamily="34" charset="0"/>
                <a:ea typeface="Calibri" pitchFamily="34" charset="-122"/>
                <a:cs typeface="Calibri" pitchFamily="34" charset="-120"/>
              </a:rPr>
              <a:t>1 bunch</a:t>
            </a:r>
            <a:pPr algn="ctr" indent="0" marL="0">
              <a:buNone/>
            </a:pPr>
            <a:r>
              <a:rPr lang="en-US" sz="1600" dirty="0">
                <a:solidFill>
                  <a:srgbClr val="1E2B24"/>
                </a:solidFill>
                <a:latin typeface="Calibri" pitchFamily="34" charset="0"/>
                <a:ea typeface="Calibri" pitchFamily="34" charset="-122"/>
                <a:cs typeface="Calibri" pitchFamily="34" charset="-120"/>
              </a:rPr>
              <a:t> in the tree-level count</a:t>
            </a:r>
            <a:endParaRPr lang="en-US" sz="1600" dirty="0"/>
          </a:p>
        </p:txBody>
      </p:sp>
      <p:sp>
        <p:nvSpPr>
          <p:cNvPr id="12" name="Shape 7"/>
          <p:cNvSpPr/>
          <p:nvPr/>
        </p:nvSpPr>
        <p:spPr>
          <a:xfrm>
            <a:off x="6035040" y="1325880"/>
            <a:ext cx="548640" cy="548640"/>
          </a:xfrm>
          <a:prstGeom prst="ellipse">
            <a:avLst/>
          </a:prstGeom>
          <a:solidFill>
            <a:srgbClr val="1F4D36"/>
          </a:solidFill>
          <a:ln w="12700">
            <a:solidFill>
              <a:srgbClr val="1F4D36"/>
            </a:solidFill>
            <a:prstDash val="solid"/>
          </a:ln>
        </p:spPr>
      </p:sp>
      <p:pic>
        <p:nvPicPr>
          <p:cNvPr id="13" name="Image 3" descr="preencoded.png">    </p:cNvPr>
          <p:cNvPicPr>
            <a:picLocks noChangeAspect="1"/>
          </p:cNvPicPr>
          <p:nvPr/>
        </p:nvPicPr>
        <p:blipFill>
          <a:blip r:embed="rId4"/>
          <a:stretch>
            <a:fillRect/>
          </a:stretch>
        </p:blipFill>
        <p:spPr>
          <a:xfrm>
            <a:off x="6172200" y="1463040"/>
            <a:ext cx="274320" cy="274320"/>
          </a:xfrm>
          <a:prstGeom prst="rect">
            <a:avLst/>
          </a:prstGeom>
        </p:spPr>
      </p:pic>
      <p:sp>
        <p:nvSpPr>
          <p:cNvPr id="14" name="Text 8"/>
          <p:cNvSpPr txBox="1"/>
          <p:nvPr/>
        </p:nvSpPr>
        <p:spPr>
          <a:xfrm>
            <a:off x="6720840" y="1298448"/>
            <a:ext cx="2011680" cy="292608"/>
          </a:xfrm>
          <a:prstGeom prst="rect">
            <a:avLst/>
          </a:prstGeom>
          <a:noFill/>
          <a:ln/>
        </p:spPr>
        <p:txBody>
          <a:bodyPr wrap="square" lIns="0" tIns="0" rIns="0" bIns="0" rtlCol="0" anchor="ctr"/>
          <a:lstStyle/>
          <a:p>
            <a:pPr indent="0" marL="0">
              <a:buNone/>
            </a:pPr>
            <a:r>
              <a:rPr lang="en-US" sz="1500" b="1" dirty="0">
                <a:solidFill>
                  <a:srgbClr val="1E2B24"/>
                </a:solidFill>
                <a:latin typeface="Calibri" pitchFamily="34" charset="0"/>
                <a:ea typeface="Calibri" pitchFamily="34" charset="-122"/>
                <a:cs typeface="Calibri" pitchFamily="34" charset="-120"/>
              </a:rPr>
              <a:t>Occlusion</a:t>
            </a:r>
            <a:endParaRPr lang="en-US" sz="1500" dirty="0"/>
          </a:p>
        </p:txBody>
      </p:sp>
      <p:sp>
        <p:nvSpPr>
          <p:cNvPr id="15" name="Text 9"/>
          <p:cNvSpPr txBox="1"/>
          <p:nvPr/>
        </p:nvSpPr>
        <p:spPr>
          <a:xfrm>
            <a:off x="6720840" y="1581912"/>
            <a:ext cx="2011680" cy="502920"/>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Fronds hide bunches, so 4–8 views per tree are captured</a:t>
            </a:r>
            <a:endParaRPr lang="en-US" sz="1150" dirty="0"/>
          </a:p>
        </p:txBody>
      </p:sp>
      <p:sp>
        <p:nvSpPr>
          <p:cNvPr id="16" name="Shape 10"/>
          <p:cNvSpPr/>
          <p:nvPr/>
        </p:nvSpPr>
        <p:spPr>
          <a:xfrm>
            <a:off x="6035040" y="2258568"/>
            <a:ext cx="548640" cy="548640"/>
          </a:xfrm>
          <a:prstGeom prst="ellipse">
            <a:avLst/>
          </a:prstGeom>
          <a:solidFill>
            <a:srgbClr val="1F4D36"/>
          </a:solidFill>
          <a:ln w="12700">
            <a:solidFill>
              <a:srgbClr val="1F4D36"/>
            </a:solidFill>
            <a:prstDash val="solid"/>
          </a:ln>
        </p:spPr>
      </p:sp>
      <p:pic>
        <p:nvPicPr>
          <p:cNvPr id="17" name="Image 4" descr="preencoded.png">    </p:cNvPr>
          <p:cNvPicPr>
            <a:picLocks noChangeAspect="1"/>
          </p:cNvPicPr>
          <p:nvPr/>
        </p:nvPicPr>
        <p:blipFill>
          <a:blip r:embed="rId5"/>
          <a:stretch>
            <a:fillRect/>
          </a:stretch>
        </p:blipFill>
        <p:spPr>
          <a:xfrm>
            <a:off x="6172200" y="2395728"/>
            <a:ext cx="274320" cy="274320"/>
          </a:xfrm>
          <a:prstGeom prst="rect">
            <a:avLst/>
          </a:prstGeom>
        </p:spPr>
      </p:pic>
      <p:sp>
        <p:nvSpPr>
          <p:cNvPr id="18" name="Text 11"/>
          <p:cNvSpPr txBox="1"/>
          <p:nvPr/>
        </p:nvSpPr>
        <p:spPr>
          <a:xfrm>
            <a:off x="6720840" y="2231136"/>
            <a:ext cx="2011680" cy="292608"/>
          </a:xfrm>
          <a:prstGeom prst="rect">
            <a:avLst/>
          </a:prstGeom>
          <a:noFill/>
          <a:ln/>
        </p:spPr>
        <p:txBody>
          <a:bodyPr wrap="square" lIns="0" tIns="0" rIns="0" bIns="0" rtlCol="0" anchor="ctr"/>
          <a:lstStyle/>
          <a:p>
            <a:pPr indent="0" marL="0">
              <a:buNone/>
            </a:pPr>
            <a:r>
              <a:rPr lang="en-US" sz="1500" b="1" dirty="0">
                <a:solidFill>
                  <a:srgbClr val="1E2B24"/>
                </a:solidFill>
                <a:latin typeface="Calibri" pitchFamily="34" charset="0"/>
                <a:ea typeface="Calibri" pitchFamily="34" charset="-122"/>
                <a:cs typeface="Calibri" pitchFamily="34" charset="-120"/>
              </a:rPr>
              <a:t>Duplication</a:t>
            </a:r>
            <a:endParaRPr lang="en-US" sz="1500" dirty="0"/>
          </a:p>
        </p:txBody>
      </p:sp>
      <p:sp>
        <p:nvSpPr>
          <p:cNvPr id="19" name="Text 12"/>
          <p:cNvSpPr txBox="1"/>
          <p:nvPr/>
        </p:nvSpPr>
        <p:spPr>
          <a:xfrm>
            <a:off x="6720840" y="2514600"/>
            <a:ext cx="2011680" cy="502920"/>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Summing detections counts the same bunch repeatedly</a:t>
            </a:r>
            <a:endParaRPr lang="en-US" sz="1150" dirty="0"/>
          </a:p>
        </p:txBody>
      </p:sp>
      <p:sp>
        <p:nvSpPr>
          <p:cNvPr id="20" name="Shape 13"/>
          <p:cNvSpPr/>
          <p:nvPr/>
        </p:nvSpPr>
        <p:spPr>
          <a:xfrm>
            <a:off x="6035040" y="3191256"/>
            <a:ext cx="548640" cy="548640"/>
          </a:xfrm>
          <a:prstGeom prst="ellipse">
            <a:avLst/>
          </a:prstGeom>
          <a:solidFill>
            <a:srgbClr val="C8511B"/>
          </a:solidFill>
          <a:ln w="12700">
            <a:solidFill>
              <a:srgbClr val="C8511B"/>
            </a:solidFill>
            <a:prstDash val="solid"/>
          </a:ln>
        </p:spPr>
      </p:sp>
      <p:pic>
        <p:nvPicPr>
          <p:cNvPr id="21" name="Image 5" descr="preencoded.png">    </p:cNvPr>
          <p:cNvPicPr>
            <a:picLocks noChangeAspect="1"/>
          </p:cNvPicPr>
          <p:nvPr/>
        </p:nvPicPr>
        <p:blipFill>
          <a:blip r:embed="rId6"/>
          <a:stretch>
            <a:fillRect/>
          </a:stretch>
        </p:blipFill>
        <p:spPr>
          <a:xfrm>
            <a:off x="6172200" y="3328416"/>
            <a:ext cx="274320" cy="274320"/>
          </a:xfrm>
          <a:prstGeom prst="rect">
            <a:avLst/>
          </a:prstGeom>
        </p:spPr>
      </p:pic>
      <p:sp>
        <p:nvSpPr>
          <p:cNvPr id="22" name="Text 14"/>
          <p:cNvSpPr txBox="1"/>
          <p:nvPr/>
        </p:nvSpPr>
        <p:spPr>
          <a:xfrm>
            <a:off x="6720840" y="3163824"/>
            <a:ext cx="2011680" cy="292608"/>
          </a:xfrm>
          <a:prstGeom prst="rect">
            <a:avLst/>
          </a:prstGeom>
          <a:noFill/>
          <a:ln/>
        </p:spPr>
        <p:txBody>
          <a:bodyPr wrap="square" lIns="0" tIns="0" rIns="0" bIns="0" rtlCol="0" anchor="ctr"/>
          <a:lstStyle/>
          <a:p>
            <a:pPr indent="0" marL="0">
              <a:buNone/>
            </a:pPr>
            <a:r>
              <a:rPr lang="en-US" sz="1500" b="1" dirty="0">
                <a:solidFill>
                  <a:srgbClr val="1E2B24"/>
                </a:solidFill>
                <a:latin typeface="Calibri" pitchFamily="34" charset="0"/>
                <a:ea typeface="Calibri" pitchFamily="34" charset="-122"/>
                <a:cs typeface="Calibri" pitchFamily="34" charset="-120"/>
              </a:rPr>
              <a:t>Open question</a:t>
            </a:r>
            <a:endParaRPr lang="en-US" sz="1500" dirty="0"/>
          </a:p>
        </p:txBody>
      </p:sp>
      <p:sp>
        <p:nvSpPr>
          <p:cNvPr id="23" name="Text 15"/>
          <p:cNvSpPr txBox="1"/>
          <p:nvPr/>
        </p:nvSpPr>
        <p:spPr>
          <a:xfrm>
            <a:off x="6720840" y="3447288"/>
            <a:ext cx="2011680" cy="502920"/>
          </a:xfrm>
          <a:prstGeom prst="rect">
            <a:avLst/>
          </a:prstGeom>
          <a:noFill/>
          <a:ln/>
        </p:spPr>
        <p:txBody>
          <a:bodyPr wrap="square" lIns="0" tIns="0" rIns="0" bIns="0" rtlCol="0" anchor="t"/>
          <a:lstStyle/>
          <a:p>
            <a:pPr indent="0" marL="0">
              <a:buNone/>
            </a:pPr>
            <a:r>
              <a:rPr lang="en-US" sz="1150" dirty="0">
                <a:solidFill>
                  <a:srgbClr val="5B6B62"/>
                </a:solidFill>
                <a:latin typeface="Calibri" pitchFamily="34" charset="0"/>
                <a:ea typeface="Calibri" pitchFamily="34" charset="-122"/>
                <a:cs typeface="Calibri" pitchFamily="34" charset="-120"/>
              </a:rPr>
              <a:t>Does error come from the counter or the detector?</a:t>
            </a:r>
            <a:endParaRPr lang="en-US" sz="1150" dirty="0"/>
          </a:p>
        </p:txBody>
      </p:sp>
      <p:sp>
        <p:nvSpPr>
          <p:cNvPr id="24" name="Text 16"/>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2</a:t>
            </a:r>
            <a:endParaRPr lang="en-US" sz="1000" dirty="0"/>
          </a:p>
        </p:txBody>
      </p:sp>
      <p:sp>
        <p:nvSpPr>
          <p:cNvPr id="25" name="Text 17"/>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4E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SawitMVC dataset &amp; counting pipeline</a:t>
            </a:r>
            <a:endParaRPr lang="en-US" sz="2800" dirty="0"/>
          </a:p>
        </p:txBody>
      </p:sp>
      <p:sp>
        <p:nvSpPr>
          <p:cNvPr id="3" name="Shape 1"/>
          <p:cNvSpPr/>
          <p:nvPr/>
        </p:nvSpPr>
        <p:spPr>
          <a:xfrm>
            <a:off x="457200" y="960120"/>
            <a:ext cx="187452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4" name="Text 2"/>
          <p:cNvSpPr txBox="1"/>
          <p:nvPr/>
        </p:nvSpPr>
        <p:spPr>
          <a:xfrm>
            <a:off x="457200" y="1051560"/>
            <a:ext cx="1874520" cy="640080"/>
          </a:xfrm>
          <a:prstGeom prst="rect">
            <a:avLst/>
          </a:prstGeom>
          <a:noFill/>
          <a:ln/>
        </p:spPr>
        <p:txBody>
          <a:bodyPr wrap="square" lIns="0" tIns="0" rIns="0" bIns="0" rtlCol="0" anchor="ctr"/>
          <a:lstStyle/>
          <a:p>
            <a:pPr algn="ctr" indent="0" marL="0">
              <a:buNone/>
            </a:pPr>
            <a:r>
              <a:rPr lang="en-US" sz="3400" b="1" dirty="0">
                <a:solidFill>
                  <a:srgbClr val="1F4D36"/>
                </a:solidFill>
                <a:latin typeface="Cambria" pitchFamily="34" charset="0"/>
                <a:ea typeface="Cambria" pitchFamily="34" charset="-122"/>
                <a:cs typeface="Cambria" pitchFamily="34" charset="-120"/>
              </a:rPr>
              <a:t>953</a:t>
            </a:r>
            <a:endParaRPr lang="en-US" sz="3400" dirty="0"/>
          </a:p>
        </p:txBody>
      </p:sp>
      <p:sp>
        <p:nvSpPr>
          <p:cNvPr id="5" name="Text 3"/>
          <p:cNvSpPr txBox="1"/>
          <p:nvPr/>
        </p:nvSpPr>
        <p:spPr>
          <a:xfrm>
            <a:off x="457200" y="1691640"/>
            <a:ext cx="1874520" cy="32004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trees</a:t>
            </a:r>
            <a:endParaRPr lang="en-US" sz="1200" dirty="0"/>
          </a:p>
        </p:txBody>
      </p:sp>
      <p:sp>
        <p:nvSpPr>
          <p:cNvPr id="6" name="Shape 4"/>
          <p:cNvSpPr/>
          <p:nvPr/>
        </p:nvSpPr>
        <p:spPr>
          <a:xfrm>
            <a:off x="2560320" y="960120"/>
            <a:ext cx="187452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7" name="Text 5"/>
          <p:cNvSpPr txBox="1"/>
          <p:nvPr/>
        </p:nvSpPr>
        <p:spPr>
          <a:xfrm>
            <a:off x="2560320" y="1051560"/>
            <a:ext cx="1874520" cy="640080"/>
          </a:xfrm>
          <a:prstGeom prst="rect">
            <a:avLst/>
          </a:prstGeom>
          <a:noFill/>
          <a:ln/>
        </p:spPr>
        <p:txBody>
          <a:bodyPr wrap="square" lIns="0" tIns="0" rIns="0" bIns="0" rtlCol="0" anchor="ctr"/>
          <a:lstStyle/>
          <a:p>
            <a:pPr algn="ctr" indent="0" marL="0">
              <a:buNone/>
            </a:pPr>
            <a:r>
              <a:rPr lang="en-US" sz="3400" b="1" dirty="0">
                <a:solidFill>
                  <a:srgbClr val="1F4D36"/>
                </a:solidFill>
                <a:latin typeface="Cambria" pitchFamily="34" charset="0"/>
                <a:ea typeface="Cambria" pitchFamily="34" charset="-122"/>
                <a:cs typeface="Cambria" pitchFamily="34" charset="-120"/>
              </a:rPr>
              <a:t>3,992</a:t>
            </a:r>
            <a:endParaRPr lang="en-US" sz="3400" dirty="0"/>
          </a:p>
        </p:txBody>
      </p:sp>
      <p:sp>
        <p:nvSpPr>
          <p:cNvPr id="8" name="Text 6"/>
          <p:cNvSpPr txBox="1"/>
          <p:nvPr/>
        </p:nvSpPr>
        <p:spPr>
          <a:xfrm>
            <a:off x="2560320" y="1691640"/>
            <a:ext cx="1874520" cy="32004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images</a:t>
            </a:r>
            <a:endParaRPr lang="en-US" sz="1200" dirty="0"/>
          </a:p>
        </p:txBody>
      </p:sp>
      <p:sp>
        <p:nvSpPr>
          <p:cNvPr id="9" name="Shape 7"/>
          <p:cNvSpPr/>
          <p:nvPr/>
        </p:nvSpPr>
        <p:spPr>
          <a:xfrm>
            <a:off x="4663440" y="960120"/>
            <a:ext cx="187452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0" name="Text 8"/>
          <p:cNvSpPr txBox="1"/>
          <p:nvPr/>
        </p:nvSpPr>
        <p:spPr>
          <a:xfrm>
            <a:off x="4663440" y="1051560"/>
            <a:ext cx="1874520" cy="640080"/>
          </a:xfrm>
          <a:prstGeom prst="rect">
            <a:avLst/>
          </a:prstGeom>
          <a:noFill/>
          <a:ln/>
        </p:spPr>
        <p:txBody>
          <a:bodyPr wrap="square" lIns="0" tIns="0" rIns="0" bIns="0" rtlCol="0" anchor="ctr"/>
          <a:lstStyle/>
          <a:p>
            <a:pPr algn="ctr" indent="0" marL="0">
              <a:buNone/>
            </a:pPr>
            <a:r>
              <a:rPr lang="en-US" sz="3400" b="1" dirty="0">
                <a:solidFill>
                  <a:srgbClr val="1F4D36"/>
                </a:solidFill>
                <a:latin typeface="Cambria" pitchFamily="34" charset="0"/>
                <a:ea typeface="Cambria" pitchFamily="34" charset="-122"/>
                <a:cs typeface="Cambria" pitchFamily="34" charset="-120"/>
              </a:rPr>
              <a:t>4</a:t>
            </a:r>
            <a:endParaRPr lang="en-US" sz="3400" dirty="0"/>
          </a:p>
        </p:txBody>
      </p:sp>
      <p:sp>
        <p:nvSpPr>
          <p:cNvPr id="11" name="Text 9"/>
          <p:cNvSpPr txBox="1"/>
          <p:nvPr/>
        </p:nvSpPr>
        <p:spPr>
          <a:xfrm>
            <a:off x="4663440" y="1691640"/>
            <a:ext cx="1874520" cy="32004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maturity classes</a:t>
            </a:r>
            <a:endParaRPr lang="en-US" sz="1200" dirty="0"/>
          </a:p>
        </p:txBody>
      </p:sp>
      <p:sp>
        <p:nvSpPr>
          <p:cNvPr id="12" name="Shape 10"/>
          <p:cNvSpPr/>
          <p:nvPr/>
        </p:nvSpPr>
        <p:spPr>
          <a:xfrm>
            <a:off x="6766560" y="960120"/>
            <a:ext cx="1874520" cy="1143000"/>
          </a:xfrm>
          <a:prstGeom prst="roundRect">
            <a:avLst>
              <a:gd name="adj" fmla="val 6400"/>
            </a:avLst>
          </a:prstGeom>
          <a:solidFill>
            <a:srgbClr val="FFFFFF"/>
          </a:solidFill>
          <a:ln/>
          <a:effectLst>
            <a:outerShdw sx="100000" sy="100000" kx="0" ky="0" algn="bl" rotWithShape="0" blurRad="76200" dist="25400" dir="5400000">
              <a:srgbClr val="000000">
                <a:alpha val="12000"/>
              </a:srgbClr>
            </a:outerShdw>
          </a:effectLst>
        </p:spPr>
      </p:sp>
      <p:sp>
        <p:nvSpPr>
          <p:cNvPr id="13" name="Text 11"/>
          <p:cNvSpPr txBox="1"/>
          <p:nvPr/>
        </p:nvSpPr>
        <p:spPr>
          <a:xfrm>
            <a:off x="6766560" y="1051560"/>
            <a:ext cx="1874520" cy="640080"/>
          </a:xfrm>
          <a:prstGeom prst="rect">
            <a:avLst/>
          </a:prstGeom>
          <a:noFill/>
          <a:ln/>
        </p:spPr>
        <p:txBody>
          <a:bodyPr wrap="square" lIns="0" tIns="0" rIns="0" bIns="0" rtlCol="0" anchor="ctr"/>
          <a:lstStyle/>
          <a:p>
            <a:pPr algn="ctr" indent="0" marL="0">
              <a:buNone/>
            </a:pPr>
            <a:r>
              <a:rPr lang="en-US" sz="2200" b="1" dirty="0">
                <a:solidFill>
                  <a:srgbClr val="C8511B"/>
                </a:solidFill>
                <a:latin typeface="Cambria" pitchFamily="34" charset="0"/>
                <a:ea typeface="Cambria" pitchFamily="34" charset="-122"/>
                <a:cs typeface="Cambria" pitchFamily="34" charset="-120"/>
              </a:rPr>
              <a:t>716/96/141</a:t>
            </a:r>
            <a:endParaRPr lang="en-US" sz="2200" dirty="0"/>
          </a:p>
        </p:txBody>
      </p:sp>
      <p:sp>
        <p:nvSpPr>
          <p:cNvPr id="14" name="Text 12"/>
          <p:cNvSpPr txBox="1"/>
          <p:nvPr/>
        </p:nvSpPr>
        <p:spPr>
          <a:xfrm>
            <a:off x="6766560" y="1691640"/>
            <a:ext cx="1874520" cy="320040"/>
          </a:xfrm>
          <a:prstGeom prst="rect">
            <a:avLst/>
          </a:prstGeom>
          <a:noFill/>
          <a:ln/>
        </p:spPr>
        <p:txBody>
          <a:bodyPr wrap="square" lIns="0" tIns="0" rIns="0" bIns="0" rtlCol="0" anchor="ctr"/>
          <a:lstStyle/>
          <a:p>
            <a:pPr algn="ctr" indent="0" marL="0">
              <a:buNone/>
            </a:pPr>
            <a:r>
              <a:rPr lang="en-US" sz="1200" dirty="0">
                <a:solidFill>
                  <a:srgbClr val="5B6B62"/>
                </a:solidFill>
                <a:latin typeface="Calibri" pitchFamily="34" charset="0"/>
                <a:ea typeface="Calibri" pitchFamily="34" charset="-122"/>
                <a:cs typeface="Calibri" pitchFamily="34" charset="-120"/>
              </a:rPr>
              <a:t>train/val/test trees</a:t>
            </a:r>
            <a:endParaRPr lang="en-US" sz="1200" dirty="0"/>
          </a:p>
        </p:txBody>
      </p:sp>
      <p:sp>
        <p:nvSpPr>
          <p:cNvPr id="15" name="Shape 13"/>
          <p:cNvSpPr/>
          <p:nvPr/>
        </p:nvSpPr>
        <p:spPr>
          <a:xfrm>
            <a:off x="914400" y="2514600"/>
            <a:ext cx="566928" cy="566928"/>
          </a:xfrm>
          <a:prstGeom prst="ellipse">
            <a:avLst/>
          </a:prstGeom>
          <a:solidFill>
            <a:srgbClr val="1F4D36"/>
          </a:solidFill>
          <a:ln w="12700">
            <a:solidFill>
              <a:srgbClr val="1F4D36"/>
            </a:solidFill>
            <a:prstDash val="solid"/>
          </a:ln>
        </p:spPr>
      </p:sp>
      <p:pic>
        <p:nvPicPr>
          <p:cNvPr id="16" name="Image 0" descr="preencoded.png">    </p:cNvPr>
          <p:cNvPicPr>
            <a:picLocks noChangeAspect="1"/>
          </p:cNvPicPr>
          <p:nvPr/>
        </p:nvPicPr>
        <p:blipFill>
          <a:blip r:embed="rId1"/>
          <a:stretch>
            <a:fillRect/>
          </a:stretch>
        </p:blipFill>
        <p:spPr>
          <a:xfrm>
            <a:off x="1056132" y="2656332"/>
            <a:ext cx="283464" cy="283464"/>
          </a:xfrm>
          <a:prstGeom prst="rect">
            <a:avLst/>
          </a:prstGeom>
        </p:spPr>
      </p:pic>
      <p:sp>
        <p:nvSpPr>
          <p:cNvPr id="17" name="Text 14"/>
          <p:cNvSpPr txBox="1"/>
          <p:nvPr/>
        </p:nvSpPr>
        <p:spPr>
          <a:xfrm>
            <a:off x="411480" y="3200400"/>
            <a:ext cx="1572768" cy="292608"/>
          </a:xfrm>
          <a:prstGeom prst="rect">
            <a:avLst/>
          </a:prstGeom>
          <a:noFill/>
          <a:ln/>
        </p:spPr>
        <p:txBody>
          <a:bodyPr wrap="square" lIns="0" tIns="0" rIns="0" bIns="0" rtlCol="0" anchor="ctr"/>
          <a:lstStyle/>
          <a:p>
            <a:pPr algn="ctr" indent="0" marL="0">
              <a:buNone/>
            </a:pPr>
            <a:r>
              <a:rPr lang="en-US" sz="1300" b="1" dirty="0">
                <a:solidFill>
                  <a:srgbClr val="1E2B24"/>
                </a:solidFill>
                <a:latin typeface="Calibri" pitchFamily="34" charset="0"/>
                <a:ea typeface="Calibri" pitchFamily="34" charset="-122"/>
                <a:cs typeface="Calibri" pitchFamily="34" charset="-120"/>
              </a:rPr>
              <a:t>Multi-view images</a:t>
            </a:r>
            <a:endParaRPr lang="en-US" sz="1300" dirty="0"/>
          </a:p>
        </p:txBody>
      </p:sp>
      <p:sp>
        <p:nvSpPr>
          <p:cNvPr id="18" name="Text 15"/>
          <p:cNvSpPr txBox="1"/>
          <p:nvPr/>
        </p:nvSpPr>
        <p:spPr>
          <a:xfrm>
            <a:off x="411480" y="3493008"/>
            <a:ext cx="1572768" cy="502920"/>
          </a:xfrm>
          <a:prstGeom prst="rect">
            <a:avLst/>
          </a:prstGeom>
          <a:noFill/>
          <a:ln/>
        </p:spPr>
        <p:txBody>
          <a:bodyPr wrap="square" lIns="0" tIns="0" rIns="0" bIns="0" rtlCol="0" anchor="t"/>
          <a:lstStyle/>
          <a:p>
            <a:pPr algn="ctr" indent="0" marL="0">
              <a:buNone/>
            </a:pPr>
            <a:r>
              <a:rPr lang="en-US" sz="1050" dirty="0">
                <a:solidFill>
                  <a:srgbClr val="5B6B62"/>
                </a:solidFill>
                <a:latin typeface="Calibri" pitchFamily="34" charset="0"/>
                <a:ea typeface="Calibri" pitchFamily="34" charset="-122"/>
                <a:cs typeface="Calibri" pitchFamily="34" charset="-120"/>
              </a:rPr>
              <a:t>4–8 views / tree</a:t>
            </a:r>
            <a:endParaRPr lang="en-US" sz="1050" dirty="0"/>
          </a:p>
        </p:txBody>
      </p:sp>
      <p:sp>
        <p:nvSpPr>
          <p:cNvPr id="19" name="Shape 16"/>
          <p:cNvSpPr/>
          <p:nvPr/>
        </p:nvSpPr>
        <p:spPr>
          <a:xfrm>
            <a:off x="1737360" y="2706624"/>
            <a:ext cx="274320" cy="182880"/>
          </a:xfrm>
          <a:prstGeom prst="rightArrow">
            <a:avLst/>
          </a:prstGeom>
          <a:solidFill>
            <a:srgbClr val="A9BDB0"/>
          </a:solidFill>
          <a:ln/>
        </p:spPr>
      </p:sp>
      <p:sp>
        <p:nvSpPr>
          <p:cNvPr id="20" name="Shape 17"/>
          <p:cNvSpPr/>
          <p:nvPr/>
        </p:nvSpPr>
        <p:spPr>
          <a:xfrm>
            <a:off x="2615184" y="2514600"/>
            <a:ext cx="566928" cy="566928"/>
          </a:xfrm>
          <a:prstGeom prst="ellipse">
            <a:avLst/>
          </a:prstGeom>
          <a:solidFill>
            <a:srgbClr val="C8511B"/>
          </a:solidFill>
          <a:ln w="12700">
            <a:solidFill>
              <a:srgbClr val="C8511B"/>
            </a:solidFill>
            <a:prstDash val="solid"/>
          </a:ln>
        </p:spPr>
      </p:sp>
      <p:pic>
        <p:nvPicPr>
          <p:cNvPr id="21" name="Image 1" descr="preencoded.png">    </p:cNvPr>
          <p:cNvPicPr>
            <a:picLocks noChangeAspect="1"/>
          </p:cNvPicPr>
          <p:nvPr/>
        </p:nvPicPr>
        <p:blipFill>
          <a:blip r:embed="rId2"/>
          <a:stretch>
            <a:fillRect/>
          </a:stretch>
        </p:blipFill>
        <p:spPr>
          <a:xfrm>
            <a:off x="2756916" y="2656332"/>
            <a:ext cx="283464" cy="283464"/>
          </a:xfrm>
          <a:prstGeom prst="rect">
            <a:avLst/>
          </a:prstGeom>
        </p:spPr>
      </p:pic>
      <p:sp>
        <p:nvSpPr>
          <p:cNvPr id="22" name="Text 18"/>
          <p:cNvSpPr txBox="1"/>
          <p:nvPr/>
        </p:nvSpPr>
        <p:spPr>
          <a:xfrm>
            <a:off x="2112264" y="3200400"/>
            <a:ext cx="1572768" cy="292608"/>
          </a:xfrm>
          <a:prstGeom prst="rect">
            <a:avLst/>
          </a:prstGeom>
          <a:noFill/>
          <a:ln/>
        </p:spPr>
        <p:txBody>
          <a:bodyPr wrap="square" lIns="0" tIns="0" rIns="0" bIns="0" rtlCol="0" anchor="ctr"/>
          <a:lstStyle/>
          <a:p>
            <a:pPr algn="ctr" indent="0" marL="0">
              <a:buNone/>
            </a:pPr>
            <a:r>
              <a:rPr lang="en-US" sz="1300" b="1" dirty="0">
                <a:solidFill>
                  <a:srgbClr val="1E2B24"/>
                </a:solidFill>
                <a:latin typeface="Calibri" pitchFamily="34" charset="0"/>
                <a:ea typeface="Calibri" pitchFamily="34" charset="-122"/>
                <a:cs typeface="Calibri" pitchFamily="34" charset="-120"/>
              </a:rPr>
              <a:t>Detections</a:t>
            </a:r>
            <a:endParaRPr lang="en-US" sz="1300" dirty="0"/>
          </a:p>
        </p:txBody>
      </p:sp>
      <p:sp>
        <p:nvSpPr>
          <p:cNvPr id="23" name="Text 19"/>
          <p:cNvSpPr txBox="1"/>
          <p:nvPr/>
        </p:nvSpPr>
        <p:spPr>
          <a:xfrm>
            <a:off x="2112264" y="3493008"/>
            <a:ext cx="1572768" cy="502920"/>
          </a:xfrm>
          <a:prstGeom prst="rect">
            <a:avLst/>
          </a:prstGeom>
          <a:noFill/>
          <a:ln/>
        </p:spPr>
        <p:txBody>
          <a:bodyPr wrap="square" lIns="0" tIns="0" rIns="0" bIns="0" rtlCol="0" anchor="t"/>
          <a:lstStyle/>
          <a:p>
            <a:pPr algn="ctr" indent="0" marL="0">
              <a:buNone/>
            </a:pPr>
            <a:r>
              <a:rPr lang="en-US" sz="1050" dirty="0">
                <a:solidFill>
                  <a:srgbClr val="5B6B62"/>
                </a:solidFill>
                <a:latin typeface="Calibri" pitchFamily="34" charset="0"/>
                <a:ea typeface="Calibri" pitchFamily="34" charset="-122"/>
                <a:cs typeface="Calibri" pitchFamily="34" charset="-120"/>
              </a:rPr>
              <a:t>GT boxes  vs  YOLO26m</a:t>
            </a:r>
            <a:endParaRPr lang="en-US" sz="1050" dirty="0"/>
          </a:p>
        </p:txBody>
      </p:sp>
      <p:sp>
        <p:nvSpPr>
          <p:cNvPr id="24" name="Shape 20"/>
          <p:cNvSpPr/>
          <p:nvPr/>
        </p:nvSpPr>
        <p:spPr>
          <a:xfrm>
            <a:off x="3438144" y="2706624"/>
            <a:ext cx="274320" cy="182880"/>
          </a:xfrm>
          <a:prstGeom prst="rightArrow">
            <a:avLst/>
          </a:prstGeom>
          <a:solidFill>
            <a:srgbClr val="A9BDB0"/>
          </a:solidFill>
          <a:ln/>
        </p:spPr>
      </p:sp>
      <p:sp>
        <p:nvSpPr>
          <p:cNvPr id="25" name="Shape 21"/>
          <p:cNvSpPr/>
          <p:nvPr/>
        </p:nvSpPr>
        <p:spPr>
          <a:xfrm>
            <a:off x="4315968" y="2514600"/>
            <a:ext cx="566928" cy="566928"/>
          </a:xfrm>
          <a:prstGeom prst="ellipse">
            <a:avLst/>
          </a:prstGeom>
          <a:solidFill>
            <a:srgbClr val="1F4D36"/>
          </a:solidFill>
          <a:ln w="12700">
            <a:solidFill>
              <a:srgbClr val="1F4D36"/>
            </a:solidFill>
            <a:prstDash val="solid"/>
          </a:ln>
        </p:spPr>
      </p:sp>
      <p:pic>
        <p:nvPicPr>
          <p:cNvPr id="26" name="Image 2" descr="preencoded.png">    </p:cNvPr>
          <p:cNvPicPr>
            <a:picLocks noChangeAspect="1"/>
          </p:cNvPicPr>
          <p:nvPr/>
        </p:nvPicPr>
        <p:blipFill>
          <a:blip r:embed="rId3"/>
          <a:stretch>
            <a:fillRect/>
          </a:stretch>
        </p:blipFill>
        <p:spPr>
          <a:xfrm>
            <a:off x="4457700" y="2656332"/>
            <a:ext cx="283464" cy="283464"/>
          </a:xfrm>
          <a:prstGeom prst="rect">
            <a:avLst/>
          </a:prstGeom>
        </p:spPr>
      </p:pic>
      <p:sp>
        <p:nvSpPr>
          <p:cNvPr id="27" name="Text 22"/>
          <p:cNvSpPr txBox="1"/>
          <p:nvPr/>
        </p:nvSpPr>
        <p:spPr>
          <a:xfrm>
            <a:off x="3813048" y="3200400"/>
            <a:ext cx="1572768" cy="292608"/>
          </a:xfrm>
          <a:prstGeom prst="rect">
            <a:avLst/>
          </a:prstGeom>
          <a:noFill/>
          <a:ln/>
        </p:spPr>
        <p:txBody>
          <a:bodyPr wrap="square" lIns="0" tIns="0" rIns="0" bIns="0" rtlCol="0" anchor="ctr"/>
          <a:lstStyle/>
          <a:p>
            <a:pPr algn="ctr" indent="0" marL="0">
              <a:buNone/>
            </a:pPr>
            <a:r>
              <a:rPr lang="en-US" sz="1300" b="1" dirty="0">
                <a:solidFill>
                  <a:srgbClr val="1E2B24"/>
                </a:solidFill>
                <a:latin typeface="Calibri" pitchFamily="34" charset="0"/>
                <a:ea typeface="Calibri" pitchFamily="34" charset="-122"/>
                <a:cs typeface="Calibri" pitchFamily="34" charset="-120"/>
              </a:rPr>
              <a:t>Tree features</a:t>
            </a:r>
            <a:endParaRPr lang="en-US" sz="1300" dirty="0"/>
          </a:p>
        </p:txBody>
      </p:sp>
      <p:sp>
        <p:nvSpPr>
          <p:cNvPr id="28" name="Text 23"/>
          <p:cNvSpPr txBox="1"/>
          <p:nvPr/>
        </p:nvSpPr>
        <p:spPr>
          <a:xfrm>
            <a:off x="3813048" y="3493008"/>
            <a:ext cx="1572768" cy="502920"/>
          </a:xfrm>
          <a:prstGeom prst="rect">
            <a:avLst/>
          </a:prstGeom>
          <a:noFill/>
          <a:ln/>
        </p:spPr>
        <p:txBody>
          <a:bodyPr wrap="square" lIns="0" tIns="0" rIns="0" bIns="0" rtlCol="0" anchor="t"/>
          <a:lstStyle/>
          <a:p>
            <a:pPr algn="ctr" indent="0" marL="0">
              <a:buNone/>
            </a:pPr>
            <a:r>
              <a:rPr lang="en-US" sz="1050" dirty="0">
                <a:solidFill>
                  <a:srgbClr val="5B6B62"/>
                </a:solidFill>
                <a:latin typeface="Calibri" pitchFamily="34" charset="0"/>
                <a:ea typeface="Calibri" pitchFamily="34" charset="-122"/>
                <a:cs typeface="Calibri" pitchFamily="34" charset="-120"/>
              </a:rPr>
              <a:t>F0 (13-d) … Fall (67-d)</a:t>
            </a:r>
            <a:endParaRPr lang="en-US" sz="1050" dirty="0"/>
          </a:p>
        </p:txBody>
      </p:sp>
      <p:sp>
        <p:nvSpPr>
          <p:cNvPr id="29" name="Shape 24"/>
          <p:cNvSpPr/>
          <p:nvPr/>
        </p:nvSpPr>
        <p:spPr>
          <a:xfrm>
            <a:off x="5138928" y="2706624"/>
            <a:ext cx="274320" cy="182880"/>
          </a:xfrm>
          <a:prstGeom prst="rightArrow">
            <a:avLst/>
          </a:prstGeom>
          <a:solidFill>
            <a:srgbClr val="A9BDB0"/>
          </a:solidFill>
          <a:ln/>
        </p:spPr>
      </p:sp>
      <p:sp>
        <p:nvSpPr>
          <p:cNvPr id="30" name="Shape 25"/>
          <p:cNvSpPr/>
          <p:nvPr/>
        </p:nvSpPr>
        <p:spPr>
          <a:xfrm>
            <a:off x="6016752" y="2514600"/>
            <a:ext cx="566928" cy="566928"/>
          </a:xfrm>
          <a:prstGeom prst="ellipse">
            <a:avLst/>
          </a:prstGeom>
          <a:solidFill>
            <a:srgbClr val="1F4D36"/>
          </a:solidFill>
          <a:ln w="12700">
            <a:solidFill>
              <a:srgbClr val="1F4D36"/>
            </a:solidFill>
            <a:prstDash val="solid"/>
          </a:ln>
        </p:spPr>
      </p:sp>
      <p:pic>
        <p:nvPicPr>
          <p:cNvPr id="31" name="Image 3" descr="preencoded.png">    </p:cNvPr>
          <p:cNvPicPr>
            <a:picLocks noChangeAspect="1"/>
          </p:cNvPicPr>
          <p:nvPr/>
        </p:nvPicPr>
        <p:blipFill>
          <a:blip r:embed="rId4"/>
          <a:stretch>
            <a:fillRect/>
          </a:stretch>
        </p:blipFill>
        <p:spPr>
          <a:xfrm>
            <a:off x="6158484" y="2656332"/>
            <a:ext cx="283464" cy="283464"/>
          </a:xfrm>
          <a:prstGeom prst="rect">
            <a:avLst/>
          </a:prstGeom>
        </p:spPr>
      </p:pic>
      <p:sp>
        <p:nvSpPr>
          <p:cNvPr id="32" name="Text 26"/>
          <p:cNvSpPr txBox="1"/>
          <p:nvPr/>
        </p:nvSpPr>
        <p:spPr>
          <a:xfrm>
            <a:off x="5513832" y="3200400"/>
            <a:ext cx="1572768" cy="292608"/>
          </a:xfrm>
          <a:prstGeom prst="rect">
            <a:avLst/>
          </a:prstGeom>
          <a:noFill/>
          <a:ln/>
        </p:spPr>
        <p:txBody>
          <a:bodyPr wrap="square" lIns="0" tIns="0" rIns="0" bIns="0" rtlCol="0" anchor="ctr"/>
          <a:lstStyle/>
          <a:p>
            <a:pPr algn="ctr" indent="0" marL="0">
              <a:buNone/>
            </a:pPr>
            <a:r>
              <a:rPr lang="en-US" sz="1300" b="1" dirty="0">
                <a:solidFill>
                  <a:srgbClr val="1E2B24"/>
                </a:solidFill>
                <a:latin typeface="Calibri" pitchFamily="34" charset="0"/>
                <a:ea typeface="Calibri" pitchFamily="34" charset="-122"/>
                <a:cs typeface="Calibri" pitchFamily="34" charset="-120"/>
              </a:rPr>
              <a:t>Regressor</a:t>
            </a:r>
            <a:endParaRPr lang="en-US" sz="1300" dirty="0"/>
          </a:p>
        </p:txBody>
      </p:sp>
      <p:sp>
        <p:nvSpPr>
          <p:cNvPr id="33" name="Text 27"/>
          <p:cNvSpPr txBox="1"/>
          <p:nvPr/>
        </p:nvSpPr>
        <p:spPr>
          <a:xfrm>
            <a:off x="5513832" y="3493008"/>
            <a:ext cx="1572768" cy="502920"/>
          </a:xfrm>
          <a:prstGeom prst="rect">
            <a:avLst/>
          </a:prstGeom>
          <a:noFill/>
          <a:ln/>
        </p:spPr>
        <p:txBody>
          <a:bodyPr wrap="square" lIns="0" tIns="0" rIns="0" bIns="0" rtlCol="0" anchor="t"/>
          <a:lstStyle/>
          <a:p>
            <a:pPr algn="ctr" indent="0" marL="0">
              <a:buNone/>
            </a:pPr>
            <a:r>
              <a:rPr lang="en-US" sz="1050" dirty="0">
                <a:solidFill>
                  <a:srgbClr val="5B6B62"/>
                </a:solidFill>
                <a:latin typeface="Calibri" pitchFamily="34" charset="0"/>
                <a:ea typeface="Calibri" pitchFamily="34" charset="-122"/>
                <a:cs typeface="Calibri" pitchFamily="34" charset="-120"/>
              </a:rPr>
              <a:t>Linear, Ridge, ElasticNet, SVM, RF</a:t>
            </a:r>
            <a:endParaRPr lang="en-US" sz="1050" dirty="0"/>
          </a:p>
        </p:txBody>
      </p:sp>
      <p:sp>
        <p:nvSpPr>
          <p:cNvPr id="34" name="Shape 28"/>
          <p:cNvSpPr/>
          <p:nvPr/>
        </p:nvSpPr>
        <p:spPr>
          <a:xfrm>
            <a:off x="6839712" y="2706624"/>
            <a:ext cx="274320" cy="182880"/>
          </a:xfrm>
          <a:prstGeom prst="rightArrow">
            <a:avLst/>
          </a:prstGeom>
          <a:solidFill>
            <a:srgbClr val="A9BDB0"/>
          </a:solidFill>
          <a:ln/>
        </p:spPr>
      </p:sp>
      <p:sp>
        <p:nvSpPr>
          <p:cNvPr id="35" name="Shape 29"/>
          <p:cNvSpPr/>
          <p:nvPr/>
        </p:nvSpPr>
        <p:spPr>
          <a:xfrm>
            <a:off x="7717536" y="2514600"/>
            <a:ext cx="566928" cy="566928"/>
          </a:xfrm>
          <a:prstGeom prst="ellipse">
            <a:avLst/>
          </a:prstGeom>
          <a:solidFill>
            <a:srgbClr val="1F4D36"/>
          </a:solidFill>
          <a:ln w="12700">
            <a:solidFill>
              <a:srgbClr val="1F4D36"/>
            </a:solidFill>
            <a:prstDash val="solid"/>
          </a:ln>
        </p:spPr>
      </p:sp>
      <p:pic>
        <p:nvPicPr>
          <p:cNvPr id="36" name="Image 4" descr="preencoded.png">    </p:cNvPr>
          <p:cNvPicPr>
            <a:picLocks noChangeAspect="1"/>
          </p:cNvPicPr>
          <p:nvPr/>
        </p:nvPicPr>
        <p:blipFill>
          <a:blip r:embed="rId5"/>
          <a:stretch>
            <a:fillRect/>
          </a:stretch>
        </p:blipFill>
        <p:spPr>
          <a:xfrm>
            <a:off x="7859268" y="2656332"/>
            <a:ext cx="283464" cy="283464"/>
          </a:xfrm>
          <a:prstGeom prst="rect">
            <a:avLst/>
          </a:prstGeom>
        </p:spPr>
      </p:pic>
      <p:sp>
        <p:nvSpPr>
          <p:cNvPr id="37" name="Text 30"/>
          <p:cNvSpPr txBox="1"/>
          <p:nvPr/>
        </p:nvSpPr>
        <p:spPr>
          <a:xfrm>
            <a:off x="7214616" y="3200400"/>
            <a:ext cx="1572768" cy="292608"/>
          </a:xfrm>
          <a:prstGeom prst="rect">
            <a:avLst/>
          </a:prstGeom>
          <a:noFill/>
          <a:ln/>
        </p:spPr>
        <p:txBody>
          <a:bodyPr wrap="square" lIns="0" tIns="0" rIns="0" bIns="0" rtlCol="0" anchor="ctr"/>
          <a:lstStyle/>
          <a:p>
            <a:pPr algn="ctr" indent="0" marL="0">
              <a:buNone/>
            </a:pPr>
            <a:r>
              <a:rPr lang="en-US" sz="1300" b="1" dirty="0">
                <a:solidFill>
                  <a:srgbClr val="1E2B24"/>
                </a:solidFill>
                <a:latin typeface="Calibri" pitchFamily="34" charset="0"/>
                <a:ea typeface="Calibri" pitchFamily="34" charset="-122"/>
                <a:cs typeface="Calibri" pitchFamily="34" charset="-120"/>
              </a:rPr>
              <a:t>Counts</a:t>
            </a:r>
            <a:endParaRPr lang="en-US" sz="1300" dirty="0"/>
          </a:p>
        </p:txBody>
      </p:sp>
      <p:sp>
        <p:nvSpPr>
          <p:cNvPr id="38" name="Text 31"/>
          <p:cNvSpPr txBox="1"/>
          <p:nvPr/>
        </p:nvSpPr>
        <p:spPr>
          <a:xfrm>
            <a:off x="7214616" y="3493008"/>
            <a:ext cx="1572768" cy="502920"/>
          </a:xfrm>
          <a:prstGeom prst="rect">
            <a:avLst/>
          </a:prstGeom>
          <a:noFill/>
          <a:ln/>
        </p:spPr>
        <p:txBody>
          <a:bodyPr wrap="square" lIns="0" tIns="0" rIns="0" bIns="0" rtlCol="0" anchor="t"/>
          <a:lstStyle/>
          <a:p>
            <a:pPr algn="ctr" indent="0" marL="0">
              <a:buNone/>
            </a:pPr>
            <a:r>
              <a:rPr lang="en-US" sz="1050" dirty="0">
                <a:solidFill>
                  <a:srgbClr val="5B6B62"/>
                </a:solidFill>
                <a:latin typeface="Calibri" pitchFamily="34" charset="0"/>
                <a:ea typeface="Calibri" pitchFamily="34" charset="-122"/>
                <a:cs typeface="Calibri" pitchFamily="34" charset="-120"/>
              </a:rPr>
              <a:t>[B1, B2, B3, B4]</a:t>
            </a:r>
            <a:endParaRPr lang="en-US" sz="1050" dirty="0"/>
          </a:p>
        </p:txBody>
      </p:sp>
      <p:sp>
        <p:nvSpPr>
          <p:cNvPr id="39" name="Text 32"/>
          <p:cNvSpPr txBox="1"/>
          <p:nvPr/>
        </p:nvSpPr>
        <p:spPr>
          <a:xfrm>
            <a:off x="457200" y="4114800"/>
            <a:ext cx="8229600" cy="502920"/>
          </a:xfrm>
          <a:prstGeom prst="rect">
            <a:avLst/>
          </a:prstGeom>
          <a:noFill/>
          <a:ln/>
        </p:spPr>
        <p:txBody>
          <a:bodyPr wrap="square" lIns="0" tIns="0" rIns="0" bIns="0" rtlCol="0" anchor="ctr"/>
          <a:lstStyle/>
          <a:p>
            <a:pPr indent="0" marL="0">
              <a:buNone/>
            </a:pPr>
            <a:r>
              <a:rPr lang="en-US" sz="1300" b="1" dirty="0">
                <a:solidFill>
                  <a:srgbClr val="C8511B"/>
                </a:solidFill>
                <a:latin typeface="Calibri" pitchFamily="34" charset="0"/>
                <a:ea typeface="Calibri" pitchFamily="34" charset="-122"/>
                <a:cs typeface="Calibri" pitchFamily="34" charset="-120"/>
              </a:rPr>
              <a:t>Key design: </a:t>
            </a:r>
            <a:pPr indent="0" marL="0">
              <a:buNone/>
            </a:pPr>
            <a:r>
              <a:rPr lang="en-US" sz="1300" dirty="0">
                <a:solidFill>
                  <a:srgbClr val="1E2B24"/>
                </a:solidFill>
                <a:latin typeface="Calibri" pitchFamily="34" charset="0"/>
                <a:ea typeface="Calibri" pitchFamily="34" charset="-122"/>
                <a:cs typeface="Calibri" pitchFamily="34" charset="-120"/>
              </a:rPr>
              <a:t>fit the same counters on ground-truth (GT) detections and on a frozen YOLO26m detector — the difference isolates the effect of input quality.</a:t>
            </a:r>
            <a:endParaRPr lang="en-US" sz="1300" dirty="0"/>
          </a:p>
        </p:txBody>
      </p:sp>
      <p:sp>
        <p:nvSpPr>
          <p:cNvPr id="40" name="Text 33"/>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3</a:t>
            </a:r>
            <a:endParaRPr lang="en-US" sz="1000" dirty="0"/>
          </a:p>
        </p:txBody>
      </p:sp>
      <p:sp>
        <p:nvSpPr>
          <p:cNvPr id="41" name="Text 34"/>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How we measure success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5B6B62"/>
                </a:solidFill>
                <a:latin typeface="Calibri" pitchFamily="34" charset="0"/>
                <a:ea typeface="Calibri" pitchFamily="34" charset="-122"/>
                <a:cs typeface="Calibri" pitchFamily="34" charset="-120"/>
              </a:rPr>
              <a:t>Accuracy within ±1 bunch, plus MAE, RMSE and signed bias</a:t>
            </a:r>
            <a:endParaRPr lang="en-US" sz="1400" dirty="0"/>
          </a:p>
        </p:txBody>
      </p:sp>
      <p:sp>
        <p:nvSpPr>
          <p:cNvPr id="4" name="Shape 2"/>
          <p:cNvSpPr/>
          <p:nvPr/>
        </p:nvSpPr>
        <p:spPr>
          <a:xfrm>
            <a:off x="457200" y="1371600"/>
            <a:ext cx="2606040" cy="3017520"/>
          </a:xfrm>
          <a:prstGeom prst="roundRect">
            <a:avLst>
              <a:gd name="adj" fmla="val 3509"/>
            </a:avLst>
          </a:prstGeom>
          <a:solidFill>
            <a:srgbClr val="EEF4EF"/>
          </a:solidFill>
          <a:ln/>
        </p:spPr>
      </p:sp>
      <p:sp>
        <p:nvSpPr>
          <p:cNvPr id="5" name="Shape 3"/>
          <p:cNvSpPr/>
          <p:nvPr/>
        </p:nvSpPr>
        <p:spPr>
          <a:xfrm>
            <a:off x="731520" y="1600200"/>
            <a:ext cx="548640" cy="548640"/>
          </a:xfrm>
          <a:prstGeom prst="ellipse">
            <a:avLst/>
          </a:prstGeom>
          <a:solidFill>
            <a:srgbClr val="1F4D36"/>
          </a:solidFill>
          <a:ln w="12700">
            <a:solidFill>
              <a:srgbClr val="1F4D36"/>
            </a:solidFill>
            <a:prstDash val="solid"/>
          </a:ln>
        </p:spPr>
      </p:sp>
      <p:pic>
        <p:nvPicPr>
          <p:cNvPr id="6" name="Image 0" descr="preencoded.png">    </p:cNvPr>
          <p:cNvPicPr>
            <a:picLocks noChangeAspect="1"/>
          </p:cNvPicPr>
          <p:nvPr/>
        </p:nvPicPr>
        <p:blipFill>
          <a:blip r:embed="rId1"/>
          <a:stretch>
            <a:fillRect/>
          </a:stretch>
        </p:blipFill>
        <p:spPr>
          <a:xfrm>
            <a:off x="868680" y="1737360"/>
            <a:ext cx="274320" cy="274320"/>
          </a:xfrm>
          <a:prstGeom prst="rect">
            <a:avLst/>
          </a:prstGeom>
        </p:spPr>
      </p:pic>
      <p:sp>
        <p:nvSpPr>
          <p:cNvPr id="7" name="Text 4"/>
          <p:cNvSpPr txBox="1"/>
          <p:nvPr/>
        </p:nvSpPr>
        <p:spPr>
          <a:xfrm>
            <a:off x="731520" y="2286000"/>
            <a:ext cx="2103120" cy="457200"/>
          </a:xfrm>
          <a:prstGeom prst="rect">
            <a:avLst/>
          </a:prstGeom>
          <a:noFill/>
          <a:ln/>
        </p:spPr>
        <p:txBody>
          <a:bodyPr wrap="square" lIns="0" tIns="0" rIns="0" bIns="0" rtlCol="0" anchor="ctr"/>
          <a:lstStyle/>
          <a:p>
            <a:pPr indent="0" marL="0">
              <a:buNone/>
            </a:pPr>
            <a:r>
              <a:rPr lang="en-US" sz="2400" b="1" dirty="0">
                <a:solidFill>
                  <a:srgbClr val="1F4D36"/>
                </a:solidFill>
                <a:latin typeface="Cambria" pitchFamily="34" charset="0"/>
                <a:ea typeface="Cambria" pitchFamily="34" charset="-122"/>
                <a:cs typeface="Cambria" pitchFamily="34" charset="-120"/>
              </a:rPr>
              <a:t>Class ±1</a:t>
            </a:r>
            <a:endParaRPr lang="en-US" sz="2400" dirty="0"/>
          </a:p>
        </p:txBody>
      </p:sp>
      <p:sp>
        <p:nvSpPr>
          <p:cNvPr id="8" name="Text 5"/>
          <p:cNvSpPr txBox="1"/>
          <p:nvPr/>
        </p:nvSpPr>
        <p:spPr>
          <a:xfrm>
            <a:off x="731520" y="2788920"/>
            <a:ext cx="2103120" cy="731520"/>
          </a:xfrm>
          <a:prstGeom prst="rect">
            <a:avLst/>
          </a:prstGeom>
          <a:noFill/>
          <a:ln/>
        </p:spPr>
        <p:txBody>
          <a:bodyPr wrap="square" lIns="0" tIns="0" rIns="0" bIns="0" rtlCol="0" anchor="t"/>
          <a:lstStyle/>
          <a:p>
            <a:pPr indent="0" marL="0">
              <a:buNone/>
            </a:pPr>
            <a:r>
              <a:rPr lang="en-US" sz="1300" dirty="0">
                <a:solidFill>
                  <a:srgbClr val="1E2B24"/>
                </a:solidFill>
                <a:latin typeface="Calibri" pitchFamily="34" charset="0"/>
                <a:ea typeface="Calibri" pitchFamily="34" charset="-122"/>
                <a:cs typeface="Calibri" pitchFamily="34" charset="-120"/>
              </a:rPr>
              <a:t>Each class count is judged separately.</a:t>
            </a:r>
            <a:endParaRPr lang="en-US" sz="1300" dirty="0"/>
          </a:p>
        </p:txBody>
      </p:sp>
      <p:sp>
        <p:nvSpPr>
          <p:cNvPr id="9" name="Text 6"/>
          <p:cNvSpPr txBox="1"/>
          <p:nvPr/>
        </p:nvSpPr>
        <p:spPr>
          <a:xfrm>
            <a:off x="731520" y="3657600"/>
            <a:ext cx="2103120" cy="457200"/>
          </a:xfrm>
          <a:prstGeom prst="rect">
            <a:avLst/>
          </a:prstGeom>
          <a:noFill/>
          <a:ln/>
        </p:spPr>
        <p:txBody>
          <a:bodyPr wrap="square" lIns="0" tIns="0" rIns="0" bIns="0" rtlCol="0" anchor="ctr"/>
          <a:lstStyle/>
          <a:p>
            <a:pPr indent="0" marL="0">
              <a:buNone/>
            </a:pPr>
            <a:r>
              <a:rPr lang="en-US" sz="1200" i="1" dirty="0">
                <a:solidFill>
                  <a:srgbClr val="5B6B62"/>
                </a:solidFill>
                <a:latin typeface="Calibri" pitchFamily="34" charset="0"/>
                <a:ea typeface="Calibri" pitchFamily="34" charset="-122"/>
                <a:cs typeface="Calibri" pitchFamily="34" charset="-120"/>
              </a:rPr>
              <a:t>Is B3 count within ±1?</a:t>
            </a:r>
            <a:endParaRPr lang="en-US" sz="1200" dirty="0"/>
          </a:p>
        </p:txBody>
      </p:sp>
      <p:sp>
        <p:nvSpPr>
          <p:cNvPr id="10" name="Shape 7"/>
          <p:cNvSpPr/>
          <p:nvPr/>
        </p:nvSpPr>
        <p:spPr>
          <a:xfrm>
            <a:off x="3246120" y="1371600"/>
            <a:ext cx="2606040" cy="3017520"/>
          </a:xfrm>
          <a:prstGeom prst="roundRect">
            <a:avLst>
              <a:gd name="adj" fmla="val 3509"/>
            </a:avLst>
          </a:prstGeom>
          <a:solidFill>
            <a:srgbClr val="EEF4EF"/>
          </a:solidFill>
          <a:ln/>
        </p:spPr>
      </p:sp>
      <p:sp>
        <p:nvSpPr>
          <p:cNvPr id="11" name="Shape 8"/>
          <p:cNvSpPr/>
          <p:nvPr/>
        </p:nvSpPr>
        <p:spPr>
          <a:xfrm>
            <a:off x="3520440" y="1600200"/>
            <a:ext cx="548640" cy="548640"/>
          </a:xfrm>
          <a:prstGeom prst="ellipse">
            <a:avLst/>
          </a:prstGeom>
          <a:solidFill>
            <a:srgbClr val="C8511B"/>
          </a:solidFill>
          <a:ln w="12700">
            <a:solidFill>
              <a:srgbClr val="C8511B"/>
            </a:solidFill>
            <a:prstDash val="solid"/>
          </a:ln>
        </p:spPr>
      </p:sp>
      <p:pic>
        <p:nvPicPr>
          <p:cNvPr id="12" name="Image 1" descr="preencoded.png">    </p:cNvPr>
          <p:cNvPicPr>
            <a:picLocks noChangeAspect="1"/>
          </p:cNvPicPr>
          <p:nvPr/>
        </p:nvPicPr>
        <p:blipFill>
          <a:blip r:embed="rId2"/>
          <a:stretch>
            <a:fillRect/>
          </a:stretch>
        </p:blipFill>
        <p:spPr>
          <a:xfrm>
            <a:off x="3657600" y="1737360"/>
            <a:ext cx="274320" cy="274320"/>
          </a:xfrm>
          <a:prstGeom prst="rect">
            <a:avLst/>
          </a:prstGeom>
        </p:spPr>
      </p:pic>
      <p:sp>
        <p:nvSpPr>
          <p:cNvPr id="13" name="Text 9"/>
          <p:cNvSpPr txBox="1"/>
          <p:nvPr/>
        </p:nvSpPr>
        <p:spPr>
          <a:xfrm>
            <a:off x="3520440" y="2286000"/>
            <a:ext cx="2103120" cy="457200"/>
          </a:xfrm>
          <a:prstGeom prst="rect">
            <a:avLst/>
          </a:prstGeom>
          <a:noFill/>
          <a:ln/>
        </p:spPr>
        <p:txBody>
          <a:bodyPr wrap="square" lIns="0" tIns="0" rIns="0" bIns="0" rtlCol="0" anchor="ctr"/>
          <a:lstStyle/>
          <a:p>
            <a:pPr indent="0" marL="0">
              <a:buNone/>
            </a:pPr>
            <a:r>
              <a:rPr lang="en-US" sz="2400" b="1" dirty="0">
                <a:solidFill>
                  <a:srgbClr val="C8511B"/>
                </a:solidFill>
                <a:latin typeface="Cambria" pitchFamily="34" charset="0"/>
                <a:ea typeface="Cambria" pitchFamily="34" charset="-122"/>
                <a:cs typeface="Cambria" pitchFamily="34" charset="-120"/>
              </a:rPr>
              <a:t>Tree ±1</a:t>
            </a:r>
            <a:endParaRPr lang="en-US" sz="2400" dirty="0"/>
          </a:p>
        </p:txBody>
      </p:sp>
      <p:sp>
        <p:nvSpPr>
          <p:cNvPr id="14" name="Text 10"/>
          <p:cNvSpPr txBox="1"/>
          <p:nvPr/>
        </p:nvSpPr>
        <p:spPr>
          <a:xfrm>
            <a:off x="3520440" y="2788920"/>
            <a:ext cx="2103120" cy="731520"/>
          </a:xfrm>
          <a:prstGeom prst="rect">
            <a:avLst/>
          </a:prstGeom>
          <a:noFill/>
          <a:ln/>
        </p:spPr>
        <p:txBody>
          <a:bodyPr wrap="square" lIns="0" tIns="0" rIns="0" bIns="0" rtlCol="0" anchor="t"/>
          <a:lstStyle/>
          <a:p>
            <a:pPr indent="0" marL="0">
              <a:buNone/>
            </a:pPr>
            <a:r>
              <a:rPr lang="en-US" sz="1300" dirty="0">
                <a:solidFill>
                  <a:srgbClr val="1E2B24"/>
                </a:solidFill>
                <a:latin typeface="Calibri" pitchFamily="34" charset="0"/>
                <a:ea typeface="Calibri" pitchFamily="34" charset="-122"/>
                <a:cs typeface="Calibri" pitchFamily="34" charset="-120"/>
              </a:rPr>
              <a:t>All four class counts must be within ±1 at the same time.</a:t>
            </a:r>
            <a:endParaRPr lang="en-US" sz="1300" dirty="0"/>
          </a:p>
        </p:txBody>
      </p:sp>
      <p:sp>
        <p:nvSpPr>
          <p:cNvPr id="15" name="Text 11"/>
          <p:cNvSpPr txBox="1"/>
          <p:nvPr/>
        </p:nvSpPr>
        <p:spPr>
          <a:xfrm>
            <a:off x="3520440" y="3657600"/>
            <a:ext cx="2103120" cy="457200"/>
          </a:xfrm>
          <a:prstGeom prst="rect">
            <a:avLst/>
          </a:prstGeom>
          <a:noFill/>
          <a:ln/>
        </p:spPr>
        <p:txBody>
          <a:bodyPr wrap="square" lIns="0" tIns="0" rIns="0" bIns="0" rtlCol="0" anchor="ctr"/>
          <a:lstStyle/>
          <a:p>
            <a:pPr indent="0" marL="0">
              <a:buNone/>
            </a:pPr>
            <a:r>
              <a:rPr lang="en-US" sz="1200" i="1" dirty="0">
                <a:solidFill>
                  <a:srgbClr val="5B6B62"/>
                </a:solidFill>
                <a:latin typeface="Calibri" pitchFamily="34" charset="0"/>
                <a:ea typeface="Calibri" pitchFamily="34" charset="-122"/>
                <a:cs typeface="Calibri" pitchFamily="34" charset="-120"/>
              </a:rPr>
              <a:t>B1 ✓  B2 ✓  B3 ✓  B4 ✓</a:t>
            </a:r>
            <a:endParaRPr lang="en-US" sz="1200" dirty="0"/>
          </a:p>
        </p:txBody>
      </p:sp>
      <p:sp>
        <p:nvSpPr>
          <p:cNvPr id="16" name="Text 12"/>
          <p:cNvSpPr txBox="1"/>
          <p:nvPr/>
        </p:nvSpPr>
        <p:spPr>
          <a:xfrm>
            <a:off x="6263640" y="1371600"/>
            <a:ext cx="2468880" cy="365760"/>
          </a:xfrm>
          <a:prstGeom prst="rect">
            <a:avLst/>
          </a:prstGeom>
          <a:noFill/>
          <a:ln/>
        </p:spPr>
        <p:txBody>
          <a:bodyPr wrap="square" lIns="0" tIns="0" rIns="0" bIns="0" rtlCol="0" anchor="ctr"/>
          <a:lstStyle/>
          <a:p>
            <a:pPr indent="0" marL="0">
              <a:buNone/>
            </a:pPr>
            <a:r>
              <a:rPr lang="en-US" sz="1600" b="1" dirty="0">
                <a:solidFill>
                  <a:srgbClr val="1E2B24"/>
                </a:solidFill>
                <a:latin typeface="Calibri" pitchFamily="34" charset="0"/>
                <a:ea typeface="Calibri" pitchFamily="34" charset="-122"/>
                <a:cs typeface="Calibri" pitchFamily="34" charset="-120"/>
              </a:rPr>
              <a:t>Compared settings</a:t>
            </a:r>
            <a:endParaRPr lang="en-US" sz="1600" dirty="0"/>
          </a:p>
        </p:txBody>
      </p:sp>
      <p:sp>
        <p:nvSpPr>
          <p:cNvPr id="17" name="Text 13"/>
          <p:cNvSpPr txBox="1"/>
          <p:nvPr/>
        </p:nvSpPr>
        <p:spPr>
          <a:xfrm>
            <a:off x="6263640" y="1783080"/>
            <a:ext cx="2514600" cy="265176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E2B24"/>
                </a:solidFill>
                <a:latin typeface="Calibri" pitchFamily="34" charset="0"/>
                <a:ea typeface="Calibri" pitchFamily="34" charset="-122"/>
                <a:cs typeface="Calibri" pitchFamily="34" charset="-120"/>
              </a:rPr>
              <a:t>2 heuristic baselines (naive sum, global divisor)</a:t>
            </a:r>
            <a:endParaRPr lang="en-US" sz="1250" dirty="0"/>
          </a:p>
          <a:p>
            <a:pPr marL="342900" indent="-342900">
              <a:spcAft>
                <a:spcPts val="800"/>
              </a:spcAft>
              <a:buSzPct val="100000"/>
              <a:buChar char="•"/>
            </a:pPr>
            <a:r>
              <a:rPr lang="en-US" sz="1250" dirty="0">
                <a:solidFill>
                  <a:srgbClr val="1E2B24"/>
                </a:solidFill>
                <a:latin typeface="Calibri" pitchFamily="34" charset="0"/>
                <a:ea typeface="Calibri" pitchFamily="34" charset="-122"/>
                <a:cs typeface="Calibri" pitchFamily="34" charset="-120"/>
              </a:rPr>
              <a:t>5 regression counters</a:t>
            </a:r>
            <a:endParaRPr lang="en-US" sz="1250" dirty="0"/>
          </a:p>
          <a:p>
            <a:pPr marL="342900" indent="-342900">
              <a:spcAft>
                <a:spcPts val="800"/>
              </a:spcAft>
              <a:buSzPct val="100000"/>
              <a:buChar char="•"/>
            </a:pPr>
            <a:r>
              <a:rPr lang="en-US" sz="1250" dirty="0">
                <a:solidFill>
                  <a:srgbClr val="1E2B24"/>
                </a:solidFill>
                <a:latin typeface="Calibri" pitchFamily="34" charset="0"/>
                <a:ea typeface="Calibri" pitchFamily="34" charset="-122"/>
                <a:cs typeface="Calibri" pitchFamily="34" charset="-120"/>
              </a:rPr>
              <a:t>8 feature sets (confidence, spatial, distribution)</a:t>
            </a:r>
            <a:endParaRPr lang="en-US" sz="1250" dirty="0"/>
          </a:p>
          <a:p>
            <a:pPr marL="342900" indent="-342900">
              <a:spcAft>
                <a:spcPts val="800"/>
              </a:spcAft>
              <a:buSzPct val="100000"/>
              <a:buChar char="•"/>
            </a:pPr>
            <a:r>
              <a:rPr lang="en-US" sz="1250" dirty="0">
                <a:solidFill>
                  <a:srgbClr val="1E2B24"/>
                </a:solidFill>
                <a:latin typeface="Calibri" pitchFamily="34" charset="0"/>
                <a:ea typeface="Calibri" pitchFamily="34" charset="-122"/>
                <a:cs typeface="Calibri" pitchFamily="34" charset="-120"/>
              </a:rPr>
              <a:t>Bootstrap CIs, paired permutation tests + Holm correction</a:t>
            </a:r>
            <a:endParaRPr lang="en-US" sz="1250" dirty="0"/>
          </a:p>
          <a:p>
            <a:pPr marL="342900" indent="-342900">
              <a:spcAft>
                <a:spcPts val="800"/>
              </a:spcAft>
              <a:buSzPct val="100000"/>
              <a:buChar char="•"/>
            </a:pPr>
            <a:r>
              <a:rPr lang="en-US" sz="1250" dirty="0">
                <a:solidFill>
                  <a:srgbClr val="1E2B24"/>
                </a:solidFill>
                <a:latin typeface="Calibri" pitchFamily="34" charset="0"/>
                <a:ea typeface="Calibri" pitchFamily="34" charset="-122"/>
                <a:cs typeface="Calibri" pitchFamily="34" charset="-120"/>
              </a:rPr>
              <a:t>5×5 CV, 2 detector families, 11 thresholds</a:t>
            </a:r>
            <a:endParaRPr lang="en-US" sz="1250" dirty="0"/>
          </a:p>
        </p:txBody>
      </p:sp>
      <p:sp>
        <p:nvSpPr>
          <p:cNvPr id="18" name="Text 14"/>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4</a:t>
            </a:r>
            <a:endParaRPr lang="en-US" sz="1000" dirty="0"/>
          </a:p>
        </p:txBody>
      </p:sp>
      <p:sp>
        <p:nvSpPr>
          <p:cNvPr id="19" name="Text 15"/>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Counters differ little — inputs differ a lot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5B6B62"/>
                </a:solidFill>
                <a:latin typeface="Calibri" pitchFamily="34" charset="0"/>
                <a:ea typeface="Calibri" pitchFamily="34" charset="-122"/>
                <a:cs typeface="Calibri" pitchFamily="34" charset="-120"/>
              </a:rPr>
              <a:t>Class ±1 accuracy (%) on 141 test trees, baseline features F0</a:t>
            </a:r>
            <a:endParaRPr lang="en-US" sz="1400" dirty="0"/>
          </a:p>
        </p:txBody>
      </p:sp>
      <p:graphicFrame>
        <p:nvGraphicFramePr>
          <p:cNvPr id="4" name="Chart 0" descr=""/>
          <p:cNvGraphicFramePr/>
          <p:nvPr/>
        </p:nvGraphicFramePr>
        <p:xfrm>
          <a:off x="365760" y="1188720"/>
          <a:ext cx="56692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309360" y="1325880"/>
            <a:ext cx="2468880" cy="1463040"/>
          </a:xfrm>
          <a:prstGeom prst="roundRect">
            <a:avLst>
              <a:gd name="adj" fmla="val 6250"/>
            </a:avLst>
          </a:prstGeom>
          <a:solidFill>
            <a:srgbClr val="EEF4EF"/>
          </a:solidFill>
          <a:ln/>
        </p:spPr>
      </p:sp>
      <p:sp>
        <p:nvSpPr>
          <p:cNvPr id="6" name="Text 3"/>
          <p:cNvSpPr txBox="1"/>
          <p:nvPr/>
        </p:nvSpPr>
        <p:spPr>
          <a:xfrm>
            <a:off x="6492240" y="1435608"/>
            <a:ext cx="2194560" cy="594360"/>
          </a:xfrm>
          <a:prstGeom prst="rect">
            <a:avLst/>
          </a:prstGeom>
          <a:noFill/>
          <a:ln/>
        </p:spPr>
        <p:txBody>
          <a:bodyPr wrap="square" lIns="0" tIns="0" rIns="0" bIns="0" rtlCol="0" anchor="ctr"/>
          <a:lstStyle/>
          <a:p>
            <a:pPr indent="0" marL="0">
              <a:buNone/>
            </a:pPr>
            <a:r>
              <a:rPr lang="en-US" sz="3200" b="1" dirty="0">
                <a:solidFill>
                  <a:srgbClr val="1F4D36"/>
                </a:solidFill>
                <a:latin typeface="Cambria" pitchFamily="34" charset="0"/>
                <a:ea typeface="Cambria" pitchFamily="34" charset="-122"/>
                <a:cs typeface="Cambria" pitchFamily="34" charset="-120"/>
              </a:rPr>
              <a:t>3.19 pp</a:t>
            </a:r>
            <a:endParaRPr lang="en-US" sz="3200" dirty="0"/>
          </a:p>
        </p:txBody>
      </p:sp>
      <p:sp>
        <p:nvSpPr>
          <p:cNvPr id="7" name="Text 4"/>
          <p:cNvSpPr txBox="1"/>
          <p:nvPr/>
        </p:nvSpPr>
        <p:spPr>
          <a:xfrm>
            <a:off x="6492240" y="2039112"/>
            <a:ext cx="2148840" cy="685800"/>
          </a:xfrm>
          <a:prstGeom prst="rect">
            <a:avLst/>
          </a:prstGeom>
          <a:noFill/>
          <a:ln/>
        </p:spPr>
        <p:txBody>
          <a:bodyPr wrap="square" lIns="0" tIns="0" rIns="0" bIns="0" rtlCol="0" anchor="t"/>
          <a:lstStyle/>
          <a:p>
            <a:pPr indent="0" marL="0">
              <a:buNone/>
            </a:pPr>
            <a:r>
              <a:rPr lang="en-US" sz="1150" dirty="0">
                <a:solidFill>
                  <a:srgbClr val="1E2B24"/>
                </a:solidFill>
                <a:latin typeface="Calibri" pitchFamily="34" charset="0"/>
                <a:ea typeface="Calibri" pitchFamily="34" charset="-122"/>
                <a:cs typeface="Calibri" pitchFamily="34" charset="-120"/>
              </a:rPr>
              <a:t>spread among 5 counters with detector inputs — no pair significant after Holm</a:t>
            </a:r>
            <a:endParaRPr lang="en-US" sz="1150" dirty="0"/>
          </a:p>
        </p:txBody>
      </p:sp>
      <p:sp>
        <p:nvSpPr>
          <p:cNvPr id="8" name="Shape 5"/>
          <p:cNvSpPr/>
          <p:nvPr/>
        </p:nvSpPr>
        <p:spPr>
          <a:xfrm>
            <a:off x="6309360" y="2971800"/>
            <a:ext cx="2468880" cy="1463040"/>
          </a:xfrm>
          <a:prstGeom prst="roundRect">
            <a:avLst>
              <a:gd name="adj" fmla="val 6250"/>
            </a:avLst>
          </a:prstGeom>
          <a:solidFill>
            <a:srgbClr val="FBEDE5"/>
          </a:solidFill>
          <a:ln/>
        </p:spPr>
      </p:sp>
      <p:sp>
        <p:nvSpPr>
          <p:cNvPr id="9" name="Text 6"/>
          <p:cNvSpPr txBox="1"/>
          <p:nvPr/>
        </p:nvSpPr>
        <p:spPr>
          <a:xfrm>
            <a:off x="6492240" y="3081528"/>
            <a:ext cx="2194560" cy="594360"/>
          </a:xfrm>
          <a:prstGeom prst="rect">
            <a:avLst/>
          </a:prstGeom>
          <a:noFill/>
          <a:ln/>
        </p:spPr>
        <p:txBody>
          <a:bodyPr wrap="square" lIns="0" tIns="0" rIns="0" bIns="0" rtlCol="0" anchor="ctr"/>
          <a:lstStyle/>
          <a:p>
            <a:pPr indent="0" marL="0">
              <a:buNone/>
            </a:pPr>
            <a:r>
              <a:rPr lang="en-US" sz="3200" b="1" dirty="0">
                <a:solidFill>
                  <a:srgbClr val="C8511B"/>
                </a:solidFill>
                <a:latin typeface="Cambria" pitchFamily="34" charset="0"/>
                <a:ea typeface="Cambria" pitchFamily="34" charset="-122"/>
                <a:cs typeface="Cambria" pitchFamily="34" charset="-120"/>
              </a:rPr>
              <a:t>≈ 21.6 pp</a:t>
            </a:r>
            <a:endParaRPr lang="en-US" sz="3200" dirty="0"/>
          </a:p>
        </p:txBody>
      </p:sp>
      <p:sp>
        <p:nvSpPr>
          <p:cNvPr id="10" name="Text 7"/>
          <p:cNvSpPr txBox="1"/>
          <p:nvPr/>
        </p:nvSpPr>
        <p:spPr>
          <a:xfrm>
            <a:off x="6492240" y="3685032"/>
            <a:ext cx="2148840" cy="685800"/>
          </a:xfrm>
          <a:prstGeom prst="rect">
            <a:avLst/>
          </a:prstGeom>
          <a:noFill/>
          <a:ln/>
        </p:spPr>
        <p:txBody>
          <a:bodyPr wrap="square" lIns="0" tIns="0" rIns="0" bIns="0" rtlCol="0" anchor="t"/>
          <a:lstStyle/>
          <a:p>
            <a:pPr indent="0" marL="0">
              <a:buNone/>
            </a:pPr>
            <a:r>
              <a:rPr lang="en-US" sz="1150" dirty="0">
                <a:solidFill>
                  <a:srgbClr val="1E2B24"/>
                </a:solidFill>
                <a:latin typeface="Calibri" pitchFamily="34" charset="0"/>
                <a:ea typeface="Calibri" pitchFamily="34" charset="-122"/>
                <a:cs typeface="Calibri" pitchFamily="34" charset="-120"/>
              </a:rPr>
              <a:t>lost by the same counter when GT boxes are replaced by YOLO26m</a:t>
            </a:r>
            <a:endParaRPr lang="en-US" sz="1150" dirty="0"/>
          </a:p>
        </p:txBody>
      </p:sp>
      <p:sp>
        <p:nvSpPr>
          <p:cNvPr id="11" name="Text 8"/>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5</a:t>
            </a:r>
            <a:endParaRPr lang="en-US" sz="1000" dirty="0"/>
          </a:p>
        </p:txBody>
      </p:sp>
      <p:sp>
        <p:nvSpPr>
          <p:cNvPr id="12" name="Text 9"/>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91D"/>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ground-truth vs detector gap</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A9C9A4"/>
                </a:solidFill>
                <a:latin typeface="Calibri" pitchFamily="34" charset="0"/>
                <a:ea typeface="Calibri" pitchFamily="34" charset="-122"/>
                <a:cs typeface="Calibri" pitchFamily="34" charset="-120"/>
              </a:rPr>
              <a:t>Best observed configurations: GT ElasticNet+F0 vs fixed Ridge+Fall</a:t>
            </a:r>
            <a:endParaRPr lang="en-US" sz="1400" dirty="0"/>
          </a:p>
        </p:txBody>
      </p:sp>
      <p:sp>
        <p:nvSpPr>
          <p:cNvPr id="4" name="Text 2"/>
          <p:cNvSpPr txBox="1"/>
          <p:nvPr/>
        </p:nvSpPr>
        <p:spPr>
          <a:xfrm>
            <a:off x="457200" y="1325880"/>
            <a:ext cx="3657600" cy="320040"/>
          </a:xfrm>
          <a:prstGeom prst="rect">
            <a:avLst/>
          </a:prstGeom>
          <a:noFill/>
          <a:ln/>
        </p:spPr>
        <p:txBody>
          <a:bodyPr wrap="square" lIns="0" tIns="0" rIns="0" bIns="0" rtlCol="0" anchor="ctr"/>
          <a:lstStyle/>
          <a:p>
            <a:pPr indent="0" marL="0">
              <a:buNone/>
            </a:pPr>
            <a:r>
              <a:rPr lang="en-US" sz="1400" b="1" dirty="0">
                <a:solidFill>
                  <a:srgbClr val="A9C9A4"/>
                </a:solidFill>
                <a:latin typeface="Calibri" pitchFamily="34" charset="0"/>
                <a:ea typeface="Calibri" pitchFamily="34" charset="-122"/>
                <a:cs typeface="Calibri" pitchFamily="34" charset="-120"/>
              </a:rPr>
              <a:t>Class ±1</a:t>
            </a:r>
            <a:endParaRPr lang="en-US" sz="1400" dirty="0"/>
          </a:p>
        </p:txBody>
      </p:sp>
      <p:sp>
        <p:nvSpPr>
          <p:cNvPr id="5" name="Text 3"/>
          <p:cNvSpPr txBox="1"/>
          <p:nvPr/>
        </p:nvSpPr>
        <p:spPr>
          <a:xfrm>
            <a:off x="457200" y="1645920"/>
            <a:ext cx="182880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98.05%</a:t>
            </a:r>
            <a:endParaRPr lang="en-US" sz="3800" dirty="0"/>
          </a:p>
        </p:txBody>
      </p:sp>
      <p:sp>
        <p:nvSpPr>
          <p:cNvPr id="6" name="Text 4"/>
          <p:cNvSpPr txBox="1"/>
          <p:nvPr/>
        </p:nvSpPr>
        <p:spPr>
          <a:xfrm>
            <a:off x="2194560" y="1645920"/>
            <a:ext cx="457200" cy="685800"/>
          </a:xfrm>
          <a:prstGeom prst="rect">
            <a:avLst/>
          </a:prstGeom>
          <a:noFill/>
          <a:ln/>
        </p:spPr>
        <p:txBody>
          <a:bodyPr wrap="square" lIns="0" tIns="0" rIns="0" bIns="0" rtlCol="0" anchor="ctr"/>
          <a:lstStyle/>
          <a:p>
            <a:pPr algn="ctr" indent="0" marL="0">
              <a:buNone/>
            </a:pPr>
            <a:r>
              <a:rPr lang="en-US" sz="2800" dirty="0">
                <a:solidFill>
                  <a:srgbClr val="A9C9A4"/>
                </a:solidFill>
                <a:latin typeface="Calibri" pitchFamily="34" charset="0"/>
                <a:ea typeface="Calibri" pitchFamily="34" charset="-122"/>
                <a:cs typeface="Calibri" pitchFamily="34" charset="-120"/>
              </a:rPr>
              <a:t>→</a:t>
            </a:r>
            <a:endParaRPr lang="en-US" sz="2800" dirty="0"/>
          </a:p>
        </p:txBody>
      </p:sp>
      <p:sp>
        <p:nvSpPr>
          <p:cNvPr id="7" name="Text 5"/>
          <p:cNvSpPr txBox="1"/>
          <p:nvPr/>
        </p:nvSpPr>
        <p:spPr>
          <a:xfrm>
            <a:off x="2651760" y="1645920"/>
            <a:ext cx="1828800" cy="685800"/>
          </a:xfrm>
          <a:prstGeom prst="rect">
            <a:avLst/>
          </a:prstGeom>
          <a:noFill/>
          <a:ln/>
        </p:spPr>
        <p:txBody>
          <a:bodyPr wrap="square" lIns="0" tIns="0" rIns="0" bIns="0" rtlCol="0" anchor="ctr"/>
          <a:lstStyle/>
          <a:p>
            <a:pPr indent="0" marL="0">
              <a:buNone/>
            </a:pPr>
            <a:r>
              <a:rPr lang="en-US" sz="3800" b="1" dirty="0">
                <a:solidFill>
                  <a:srgbClr val="F2A36B"/>
                </a:solidFill>
                <a:latin typeface="Cambria" pitchFamily="34" charset="0"/>
                <a:ea typeface="Cambria" pitchFamily="34" charset="-122"/>
                <a:cs typeface="Cambria" pitchFamily="34" charset="-120"/>
              </a:rPr>
              <a:t>77.48%</a:t>
            </a:r>
            <a:endParaRPr lang="en-US" sz="3800" dirty="0"/>
          </a:p>
        </p:txBody>
      </p:sp>
      <p:sp>
        <p:nvSpPr>
          <p:cNvPr id="8" name="Text 6"/>
          <p:cNvSpPr txBox="1"/>
          <p:nvPr/>
        </p:nvSpPr>
        <p:spPr>
          <a:xfrm>
            <a:off x="457200" y="2331720"/>
            <a:ext cx="4023360" cy="274320"/>
          </a:xfrm>
          <a:prstGeom prst="rect">
            <a:avLst/>
          </a:prstGeom>
          <a:noFill/>
          <a:ln/>
        </p:spPr>
        <p:txBody>
          <a:bodyPr wrap="square" lIns="0" tIns="0" rIns="0" bIns="0" rtlCol="0" anchor="ctr"/>
          <a:lstStyle/>
          <a:p>
            <a:pPr indent="0" marL="0">
              <a:buNone/>
            </a:pPr>
            <a:r>
              <a:rPr lang="en-US" sz="1200" dirty="0">
                <a:solidFill>
                  <a:srgbClr val="DCE8DE"/>
                </a:solidFill>
                <a:latin typeface="Calibri" pitchFamily="34" charset="0"/>
                <a:ea typeface="Calibri" pitchFamily="34" charset="-122"/>
                <a:cs typeface="Calibri" pitchFamily="34" charset="-120"/>
              </a:rPr>
              <a:t>−20.57 pp  (95% CI 17.20–23.94)</a:t>
            </a:r>
            <a:endParaRPr lang="en-US" sz="1200" dirty="0"/>
          </a:p>
        </p:txBody>
      </p:sp>
      <p:sp>
        <p:nvSpPr>
          <p:cNvPr id="9" name="Text 7"/>
          <p:cNvSpPr txBox="1"/>
          <p:nvPr/>
        </p:nvSpPr>
        <p:spPr>
          <a:xfrm>
            <a:off x="457200" y="2971800"/>
            <a:ext cx="3657600" cy="320040"/>
          </a:xfrm>
          <a:prstGeom prst="rect">
            <a:avLst/>
          </a:prstGeom>
          <a:noFill/>
          <a:ln/>
        </p:spPr>
        <p:txBody>
          <a:bodyPr wrap="square" lIns="0" tIns="0" rIns="0" bIns="0" rtlCol="0" anchor="ctr"/>
          <a:lstStyle/>
          <a:p>
            <a:pPr indent="0" marL="0">
              <a:buNone/>
            </a:pPr>
            <a:r>
              <a:rPr lang="en-US" sz="1400" b="1" dirty="0">
                <a:solidFill>
                  <a:srgbClr val="A9C9A4"/>
                </a:solidFill>
                <a:latin typeface="Calibri" pitchFamily="34" charset="0"/>
                <a:ea typeface="Calibri" pitchFamily="34" charset="-122"/>
                <a:cs typeface="Calibri" pitchFamily="34" charset="-120"/>
              </a:rPr>
              <a:t>Tree ±1</a:t>
            </a:r>
            <a:endParaRPr lang="en-US" sz="1400" dirty="0"/>
          </a:p>
        </p:txBody>
      </p:sp>
      <p:sp>
        <p:nvSpPr>
          <p:cNvPr id="10" name="Text 8"/>
          <p:cNvSpPr txBox="1"/>
          <p:nvPr/>
        </p:nvSpPr>
        <p:spPr>
          <a:xfrm>
            <a:off x="457200" y="3291840"/>
            <a:ext cx="182880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92.20%</a:t>
            </a:r>
            <a:endParaRPr lang="en-US" sz="3800" dirty="0"/>
          </a:p>
        </p:txBody>
      </p:sp>
      <p:sp>
        <p:nvSpPr>
          <p:cNvPr id="11" name="Text 9"/>
          <p:cNvSpPr txBox="1"/>
          <p:nvPr/>
        </p:nvSpPr>
        <p:spPr>
          <a:xfrm>
            <a:off x="2194560" y="3291840"/>
            <a:ext cx="457200" cy="685800"/>
          </a:xfrm>
          <a:prstGeom prst="rect">
            <a:avLst/>
          </a:prstGeom>
          <a:noFill/>
          <a:ln/>
        </p:spPr>
        <p:txBody>
          <a:bodyPr wrap="square" lIns="0" tIns="0" rIns="0" bIns="0" rtlCol="0" anchor="ctr"/>
          <a:lstStyle/>
          <a:p>
            <a:pPr algn="ctr" indent="0" marL="0">
              <a:buNone/>
            </a:pPr>
            <a:r>
              <a:rPr lang="en-US" sz="2800" dirty="0">
                <a:solidFill>
                  <a:srgbClr val="A9C9A4"/>
                </a:solidFill>
                <a:latin typeface="Calibri" pitchFamily="34" charset="0"/>
                <a:ea typeface="Calibri" pitchFamily="34" charset="-122"/>
                <a:cs typeface="Calibri" pitchFamily="34" charset="-120"/>
              </a:rPr>
              <a:t>→</a:t>
            </a:r>
            <a:endParaRPr lang="en-US" sz="2800" dirty="0"/>
          </a:p>
        </p:txBody>
      </p:sp>
      <p:sp>
        <p:nvSpPr>
          <p:cNvPr id="12" name="Text 10"/>
          <p:cNvSpPr txBox="1"/>
          <p:nvPr/>
        </p:nvSpPr>
        <p:spPr>
          <a:xfrm>
            <a:off x="2651760" y="3291840"/>
            <a:ext cx="1828800" cy="685800"/>
          </a:xfrm>
          <a:prstGeom prst="rect">
            <a:avLst/>
          </a:prstGeom>
          <a:noFill/>
          <a:ln/>
        </p:spPr>
        <p:txBody>
          <a:bodyPr wrap="square" lIns="0" tIns="0" rIns="0" bIns="0" rtlCol="0" anchor="ctr"/>
          <a:lstStyle/>
          <a:p>
            <a:pPr indent="0" marL="0">
              <a:buNone/>
            </a:pPr>
            <a:r>
              <a:rPr lang="en-US" sz="3800" b="1" dirty="0">
                <a:solidFill>
                  <a:srgbClr val="F2A36B"/>
                </a:solidFill>
                <a:latin typeface="Cambria" pitchFamily="34" charset="0"/>
                <a:ea typeface="Cambria" pitchFamily="34" charset="-122"/>
                <a:cs typeface="Cambria" pitchFamily="34" charset="-120"/>
              </a:rPr>
              <a:t>32.62%</a:t>
            </a:r>
            <a:endParaRPr lang="en-US" sz="3800" dirty="0"/>
          </a:p>
        </p:txBody>
      </p:sp>
      <p:sp>
        <p:nvSpPr>
          <p:cNvPr id="13" name="Text 11"/>
          <p:cNvSpPr txBox="1"/>
          <p:nvPr/>
        </p:nvSpPr>
        <p:spPr>
          <a:xfrm>
            <a:off x="457200" y="3977640"/>
            <a:ext cx="4023360" cy="274320"/>
          </a:xfrm>
          <a:prstGeom prst="rect">
            <a:avLst/>
          </a:prstGeom>
          <a:noFill/>
          <a:ln/>
        </p:spPr>
        <p:txBody>
          <a:bodyPr wrap="square" lIns="0" tIns="0" rIns="0" bIns="0" rtlCol="0" anchor="ctr"/>
          <a:lstStyle/>
          <a:p>
            <a:pPr indent="0" marL="0">
              <a:buNone/>
            </a:pPr>
            <a:r>
              <a:rPr lang="en-US" sz="1200" dirty="0">
                <a:solidFill>
                  <a:srgbClr val="DCE8DE"/>
                </a:solidFill>
                <a:latin typeface="Calibri" pitchFamily="34" charset="0"/>
                <a:ea typeface="Calibri" pitchFamily="34" charset="-122"/>
                <a:cs typeface="Calibri" pitchFamily="34" charset="-120"/>
              </a:rPr>
              <a:t>−59.57 pp</a:t>
            </a:r>
            <a:endParaRPr lang="en-US" sz="1200" dirty="0"/>
          </a:p>
        </p:txBody>
      </p:sp>
      <p:graphicFrame>
        <p:nvGraphicFramePr>
          <p:cNvPr id="14" name="Chart 0" descr=""/>
          <p:cNvGraphicFramePr/>
          <p:nvPr/>
        </p:nvGraphicFramePr>
        <p:xfrm>
          <a:off x="4754880" y="1188720"/>
          <a:ext cx="4023360" cy="28346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4754880" y="4114800"/>
            <a:ext cx="4023360" cy="548640"/>
          </a:xfrm>
          <a:prstGeom prst="rect">
            <a:avLst/>
          </a:prstGeom>
          <a:noFill/>
          <a:ln/>
        </p:spPr>
        <p:txBody>
          <a:bodyPr wrap="square" lIns="0" tIns="0" rIns="0" bIns="0" rtlCol="0" anchor="t"/>
          <a:lstStyle/>
          <a:p>
            <a:pPr indent="0" marL="0">
              <a:buNone/>
            </a:pPr>
            <a:r>
              <a:rPr lang="en-US" sz="1200" b="1" dirty="0">
                <a:solidFill>
                  <a:srgbClr val="F2A36B"/>
                </a:solidFill>
                <a:latin typeface="Calibri" pitchFamily="34" charset="0"/>
                <a:ea typeface="Calibri" pitchFamily="34" charset="-122"/>
                <a:cs typeface="Calibri" pitchFamily="34" charset="-120"/>
              </a:rPr>
              <a:t>Richer features do not close it: </a:t>
            </a:r>
            <a:pPr indent="0" marL="0">
              <a:buNone/>
            </a:pPr>
            <a:r>
              <a:rPr lang="en-US" sz="1200" dirty="0">
                <a:solidFill>
                  <a:srgbClr val="FFFFFF"/>
                </a:solidFill>
                <a:latin typeface="Calibri" pitchFamily="34" charset="0"/>
                <a:ea typeface="Calibri" pitchFamily="34" charset="-122"/>
                <a:cs typeface="Calibri" pitchFamily="34" charset="-120"/>
              </a:rPr>
              <a:t>Fall adds only +1.42 pp over F0 (not significant, pH = 1).</a:t>
            </a:r>
            <a:endParaRPr lang="en-US" sz="1200" dirty="0"/>
          </a:p>
        </p:txBody>
      </p:sp>
      <p:sp>
        <p:nvSpPr>
          <p:cNvPr id="16" name="Text 13"/>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A9C9A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Where does the detector lose bunches?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5B6B62"/>
                </a:solidFill>
                <a:latin typeface="Calibri" pitchFamily="34" charset="0"/>
                <a:ea typeface="Calibri" pitchFamily="34" charset="-122"/>
                <a:cs typeface="Calibri" pitchFamily="34" charset="-120"/>
              </a:rPr>
              <a:t>Matching every test detection to annotations (IoU ≥ 0.5)</a:t>
            </a:r>
            <a:endParaRPr lang="en-US" sz="1400" dirty="0"/>
          </a:p>
        </p:txBody>
      </p:sp>
      <p:graphicFrame>
        <p:nvGraphicFramePr>
          <p:cNvPr id="4" name="Chart 0" descr=""/>
          <p:cNvGraphicFramePr/>
          <p:nvPr/>
        </p:nvGraphicFramePr>
        <p:xfrm>
          <a:off x="274320" y="118872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3657600" y="1234440"/>
            <a:ext cx="5120640" cy="987552"/>
          </a:xfrm>
          <a:prstGeom prst="roundRect">
            <a:avLst>
              <a:gd name="adj" fmla="val 7407"/>
            </a:avLst>
          </a:prstGeom>
          <a:solidFill>
            <a:srgbClr val="EEF4EF"/>
          </a:solidFill>
          <a:ln/>
        </p:spPr>
      </p:sp>
      <p:sp>
        <p:nvSpPr>
          <p:cNvPr id="6" name="Text 3"/>
          <p:cNvSpPr txBox="1"/>
          <p:nvPr/>
        </p:nvSpPr>
        <p:spPr>
          <a:xfrm>
            <a:off x="3794760" y="1234440"/>
            <a:ext cx="1417320" cy="987552"/>
          </a:xfrm>
          <a:prstGeom prst="rect">
            <a:avLst/>
          </a:prstGeom>
          <a:noFill/>
          <a:ln/>
        </p:spPr>
        <p:txBody>
          <a:bodyPr wrap="square" lIns="0" tIns="0" rIns="0" bIns="0" rtlCol="0" anchor="ctr"/>
          <a:lstStyle/>
          <a:p>
            <a:pPr indent="0" marL="0">
              <a:buNone/>
            </a:pPr>
            <a:r>
              <a:rPr lang="en-US" sz="2800" b="1" dirty="0">
                <a:solidFill>
                  <a:srgbClr val="9E2A2B"/>
                </a:solidFill>
                <a:latin typeface="Cambria" pitchFamily="34" charset="0"/>
                <a:ea typeface="Cambria" pitchFamily="34" charset="-122"/>
                <a:cs typeface="Cambria" pitchFamily="34" charset="-120"/>
              </a:rPr>
              <a:t>22.7%</a:t>
            </a:r>
            <a:endParaRPr lang="en-US" sz="2800" dirty="0"/>
          </a:p>
        </p:txBody>
      </p:sp>
      <p:sp>
        <p:nvSpPr>
          <p:cNvPr id="7" name="Text 4"/>
          <p:cNvSpPr txBox="1"/>
          <p:nvPr/>
        </p:nvSpPr>
        <p:spPr>
          <a:xfrm>
            <a:off x="5257800" y="1325880"/>
            <a:ext cx="3383280" cy="475488"/>
          </a:xfrm>
          <a:prstGeom prst="rect">
            <a:avLst/>
          </a:prstGeom>
          <a:noFill/>
          <a:ln/>
        </p:spPr>
        <p:txBody>
          <a:bodyPr wrap="square" lIns="0" tIns="0" rIns="0" bIns="0" rtlCol="0" anchor="b"/>
          <a:lstStyle/>
          <a:p>
            <a:pPr indent="0" marL="0">
              <a:buNone/>
            </a:pPr>
            <a:r>
              <a:rPr lang="en-US" sz="1350" b="1" dirty="0">
                <a:solidFill>
                  <a:srgbClr val="1E2B24"/>
                </a:solidFill>
                <a:latin typeface="Calibri" pitchFamily="34" charset="0"/>
                <a:ea typeface="Calibri" pitchFamily="34" charset="-122"/>
                <a:cs typeface="Calibri" pitchFamily="34" charset="-120"/>
              </a:rPr>
              <a:t>of physical bunches are never detected in any view</a:t>
            </a:r>
            <a:endParaRPr lang="en-US" sz="1350" dirty="0"/>
          </a:p>
        </p:txBody>
      </p:sp>
      <p:sp>
        <p:nvSpPr>
          <p:cNvPr id="8" name="Text 5"/>
          <p:cNvSpPr txBox="1"/>
          <p:nvPr/>
        </p:nvSpPr>
        <p:spPr>
          <a:xfrm>
            <a:off x="5257800" y="1837944"/>
            <a:ext cx="3383280" cy="274320"/>
          </a:xfrm>
          <a:prstGeom prst="rect">
            <a:avLst/>
          </a:prstGeom>
          <a:noFill/>
          <a:ln/>
        </p:spPr>
        <p:txBody>
          <a:bodyPr wrap="square" lIns="0" tIns="0" rIns="0" bIns="0" rtlCol="0" anchor="ctr"/>
          <a:lstStyle/>
          <a:p>
            <a:pPr indent="0" marL="0">
              <a:buNone/>
            </a:pPr>
            <a:r>
              <a:rPr lang="en-US" sz="1150" dirty="0">
                <a:solidFill>
                  <a:srgbClr val="5B6B62"/>
                </a:solidFill>
                <a:latin typeface="Calibri" pitchFamily="34" charset="0"/>
                <a:ea typeface="Calibri" pitchFamily="34" charset="-122"/>
                <a:cs typeface="Calibri" pitchFamily="34" charset="-120"/>
              </a:rPr>
              <a:t>Up to 42.3% for B4</a:t>
            </a:r>
            <a:endParaRPr lang="en-US" sz="1150" dirty="0"/>
          </a:p>
        </p:txBody>
      </p:sp>
      <p:sp>
        <p:nvSpPr>
          <p:cNvPr id="9" name="Shape 6"/>
          <p:cNvSpPr/>
          <p:nvPr/>
        </p:nvSpPr>
        <p:spPr>
          <a:xfrm>
            <a:off x="3657600" y="2377440"/>
            <a:ext cx="5120640" cy="987552"/>
          </a:xfrm>
          <a:prstGeom prst="roundRect">
            <a:avLst>
              <a:gd name="adj" fmla="val 7407"/>
            </a:avLst>
          </a:prstGeom>
          <a:solidFill>
            <a:srgbClr val="EEF4EF"/>
          </a:solidFill>
          <a:ln/>
        </p:spPr>
      </p:sp>
      <p:sp>
        <p:nvSpPr>
          <p:cNvPr id="10" name="Text 7"/>
          <p:cNvSpPr txBox="1"/>
          <p:nvPr/>
        </p:nvSpPr>
        <p:spPr>
          <a:xfrm>
            <a:off x="3794760" y="2377440"/>
            <a:ext cx="1417320" cy="987552"/>
          </a:xfrm>
          <a:prstGeom prst="rect">
            <a:avLst/>
          </a:prstGeom>
          <a:noFill/>
          <a:ln/>
        </p:spPr>
        <p:txBody>
          <a:bodyPr wrap="square" lIns="0" tIns="0" rIns="0" bIns="0" rtlCol="0" anchor="ctr"/>
          <a:lstStyle/>
          <a:p>
            <a:pPr indent="0" marL="0">
              <a:buNone/>
            </a:pPr>
            <a:r>
              <a:rPr lang="en-US" sz="2800" b="1" dirty="0">
                <a:solidFill>
                  <a:srgbClr val="E9A23B"/>
                </a:solidFill>
                <a:latin typeface="Cambria" pitchFamily="34" charset="0"/>
                <a:ea typeface="Cambria" pitchFamily="34" charset="-122"/>
                <a:cs typeface="Cambria" pitchFamily="34" charset="-120"/>
              </a:rPr>
              <a:t>158</a:t>
            </a:r>
            <a:endParaRPr lang="en-US" sz="2800" dirty="0"/>
          </a:p>
        </p:txBody>
      </p:sp>
      <p:sp>
        <p:nvSpPr>
          <p:cNvPr id="11" name="Text 8"/>
          <p:cNvSpPr txBox="1"/>
          <p:nvPr/>
        </p:nvSpPr>
        <p:spPr>
          <a:xfrm>
            <a:off x="5257800" y="2468880"/>
            <a:ext cx="3383280" cy="475488"/>
          </a:xfrm>
          <a:prstGeom prst="rect">
            <a:avLst/>
          </a:prstGeom>
          <a:noFill/>
          <a:ln/>
        </p:spPr>
        <p:txBody>
          <a:bodyPr wrap="square" lIns="0" tIns="0" rIns="0" bIns="0" rtlCol="0" anchor="b"/>
          <a:lstStyle/>
          <a:p>
            <a:pPr indent="0" marL="0">
              <a:buNone/>
            </a:pPr>
            <a:r>
              <a:rPr lang="en-US" sz="1350" b="1" dirty="0">
                <a:solidFill>
                  <a:srgbClr val="1E2B24"/>
                </a:solidFill>
                <a:latin typeface="Calibri" pitchFamily="34" charset="0"/>
                <a:ea typeface="Calibri" pitchFamily="34" charset="-122"/>
                <a:cs typeface="Calibri" pitchFamily="34" charset="-120"/>
              </a:rPr>
              <a:t>B2 appearances classified as B3</a:t>
            </a:r>
            <a:endParaRPr lang="en-US" sz="1350" dirty="0"/>
          </a:p>
        </p:txBody>
      </p:sp>
      <p:sp>
        <p:nvSpPr>
          <p:cNvPr id="12" name="Text 9"/>
          <p:cNvSpPr txBox="1"/>
          <p:nvPr/>
        </p:nvSpPr>
        <p:spPr>
          <a:xfrm>
            <a:off x="5257800" y="2980944"/>
            <a:ext cx="3383280" cy="274320"/>
          </a:xfrm>
          <a:prstGeom prst="rect">
            <a:avLst/>
          </a:prstGeom>
          <a:noFill/>
          <a:ln/>
        </p:spPr>
        <p:txBody>
          <a:bodyPr wrap="square" lIns="0" tIns="0" rIns="0" bIns="0" rtlCol="0" anchor="ctr"/>
          <a:lstStyle/>
          <a:p>
            <a:pPr indent="0" marL="0">
              <a:buNone/>
            </a:pPr>
            <a:r>
              <a:rPr lang="en-US" sz="1150" dirty="0">
                <a:solidFill>
                  <a:srgbClr val="5B6B62"/>
                </a:solidFill>
                <a:latin typeface="Calibri" pitchFamily="34" charset="0"/>
                <a:ea typeface="Calibri" pitchFamily="34" charset="-122"/>
                <a:cs typeface="Calibri" pitchFamily="34" charset="-120"/>
              </a:rPr>
              <a:t>B2 loses more to confusion than to misses</a:t>
            </a:r>
            <a:endParaRPr lang="en-US" sz="1150" dirty="0"/>
          </a:p>
        </p:txBody>
      </p:sp>
      <p:sp>
        <p:nvSpPr>
          <p:cNvPr id="13" name="Shape 10"/>
          <p:cNvSpPr/>
          <p:nvPr/>
        </p:nvSpPr>
        <p:spPr>
          <a:xfrm>
            <a:off x="3657600" y="3520440"/>
            <a:ext cx="5120640" cy="987552"/>
          </a:xfrm>
          <a:prstGeom prst="roundRect">
            <a:avLst>
              <a:gd name="adj" fmla="val 7407"/>
            </a:avLst>
          </a:prstGeom>
          <a:solidFill>
            <a:srgbClr val="EEF4EF"/>
          </a:solidFill>
          <a:ln/>
        </p:spPr>
      </p:sp>
      <p:sp>
        <p:nvSpPr>
          <p:cNvPr id="14" name="Text 11"/>
          <p:cNvSpPr txBox="1"/>
          <p:nvPr/>
        </p:nvSpPr>
        <p:spPr>
          <a:xfrm>
            <a:off x="3794760" y="3520440"/>
            <a:ext cx="1417320" cy="987552"/>
          </a:xfrm>
          <a:prstGeom prst="rect">
            <a:avLst/>
          </a:prstGeom>
          <a:noFill/>
          <a:ln/>
        </p:spPr>
        <p:txBody>
          <a:bodyPr wrap="square" lIns="0" tIns="0" rIns="0" bIns="0" rtlCol="0" anchor="ctr"/>
          <a:lstStyle/>
          <a:p>
            <a:pPr indent="0" marL="0">
              <a:buNone/>
            </a:pPr>
            <a:r>
              <a:rPr lang="en-US" sz="2800" b="1" dirty="0">
                <a:solidFill>
                  <a:srgbClr val="C8511B"/>
                </a:solidFill>
                <a:latin typeface="Cambria" pitchFamily="34" charset="0"/>
                <a:ea typeface="Cambria" pitchFamily="34" charset="-122"/>
                <a:cs typeface="Cambria" pitchFamily="34" charset="-120"/>
              </a:rPr>
              <a:t>30.0%</a:t>
            </a:r>
            <a:endParaRPr lang="en-US" sz="2800" dirty="0"/>
          </a:p>
        </p:txBody>
      </p:sp>
      <p:sp>
        <p:nvSpPr>
          <p:cNvPr id="15" name="Text 12"/>
          <p:cNvSpPr txBox="1"/>
          <p:nvPr/>
        </p:nvSpPr>
        <p:spPr>
          <a:xfrm>
            <a:off x="5257800" y="3611880"/>
            <a:ext cx="3383280" cy="475488"/>
          </a:xfrm>
          <a:prstGeom prst="rect">
            <a:avLst/>
          </a:prstGeom>
          <a:noFill/>
          <a:ln/>
        </p:spPr>
        <p:txBody>
          <a:bodyPr wrap="square" lIns="0" tIns="0" rIns="0" bIns="0" rtlCol="0" anchor="b"/>
          <a:lstStyle/>
          <a:p>
            <a:pPr indent="0" marL="0">
              <a:buNone/>
            </a:pPr>
            <a:r>
              <a:rPr lang="en-US" sz="1350" b="1" dirty="0">
                <a:solidFill>
                  <a:srgbClr val="1E2B24"/>
                </a:solidFill>
                <a:latin typeface="Calibri" pitchFamily="34" charset="0"/>
                <a:ea typeface="Calibri" pitchFamily="34" charset="-122"/>
                <a:cs typeface="Calibri" pitchFamily="34" charset="-120"/>
              </a:rPr>
              <a:t>of detections match no annotation (false positives)</a:t>
            </a:r>
            <a:endParaRPr lang="en-US" sz="1350" dirty="0"/>
          </a:p>
        </p:txBody>
      </p:sp>
      <p:sp>
        <p:nvSpPr>
          <p:cNvPr id="16" name="Text 13"/>
          <p:cNvSpPr txBox="1"/>
          <p:nvPr/>
        </p:nvSpPr>
        <p:spPr>
          <a:xfrm>
            <a:off x="5257800" y="4123944"/>
            <a:ext cx="3383280" cy="274320"/>
          </a:xfrm>
          <a:prstGeom prst="rect">
            <a:avLst/>
          </a:prstGeom>
          <a:noFill/>
          <a:ln/>
        </p:spPr>
        <p:txBody>
          <a:bodyPr wrap="square" lIns="0" tIns="0" rIns="0" bIns="0" rtlCol="0" anchor="ctr"/>
          <a:lstStyle/>
          <a:p>
            <a:pPr indent="0" marL="0">
              <a:buNone/>
            </a:pPr>
            <a:r>
              <a:rPr lang="en-US" sz="1150" dirty="0">
                <a:solidFill>
                  <a:srgbClr val="5B6B62"/>
                </a:solidFill>
                <a:latin typeface="Calibri" pitchFamily="34" charset="0"/>
                <a:ea typeface="Calibri" pitchFamily="34" charset="-122"/>
                <a:cs typeface="Calibri" pitchFamily="34" charset="-120"/>
              </a:rPr>
              <a:t>Mean confidence 0.337 vs 0.487 matched</a:t>
            </a:r>
            <a:endParaRPr lang="en-US" sz="1150" dirty="0"/>
          </a:p>
        </p:txBody>
      </p:sp>
      <p:sp>
        <p:nvSpPr>
          <p:cNvPr id="17" name="Text 14"/>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4E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The gap is robust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5B6B62"/>
                </a:solidFill>
                <a:latin typeface="Calibri" pitchFamily="34" charset="0"/>
                <a:ea typeface="Calibri" pitchFamily="34" charset="-122"/>
                <a:cs typeface="Calibri" pitchFamily="34" charset="-120"/>
              </a:rPr>
              <a:t>Class ±1 gap between GT and detector inputs across sensitivity checks</a:t>
            </a:r>
            <a:endParaRPr lang="en-US" sz="1400" dirty="0"/>
          </a:p>
        </p:txBody>
      </p:sp>
      <p:sp>
        <p:nvSpPr>
          <p:cNvPr id="4" name="Shape 2"/>
          <p:cNvSpPr/>
          <p:nvPr/>
        </p:nvSpPr>
        <p:spPr>
          <a:xfrm>
            <a:off x="457200" y="1280160"/>
            <a:ext cx="2148840" cy="1508760"/>
          </a:xfrm>
          <a:prstGeom prst="roundRect">
            <a:avLst>
              <a:gd name="adj" fmla="val 6061"/>
            </a:avLst>
          </a:prstGeom>
          <a:solidFill>
            <a:srgbClr val="FFFFFF"/>
          </a:solidFill>
          <a:ln/>
          <a:effectLst>
            <a:outerShdw sx="100000" sy="100000" kx="0" ky="0" algn="bl" rotWithShape="0" blurRad="76200" dist="25400" dir="5400000">
              <a:srgbClr val="000000">
                <a:alpha val="12000"/>
              </a:srgbClr>
            </a:outerShdw>
          </a:effectLst>
        </p:spPr>
      </p:sp>
      <p:sp>
        <p:nvSpPr>
          <p:cNvPr id="5" name="Shape 3"/>
          <p:cNvSpPr/>
          <p:nvPr/>
        </p:nvSpPr>
        <p:spPr>
          <a:xfrm>
            <a:off x="640080" y="1463040"/>
            <a:ext cx="438912" cy="438912"/>
          </a:xfrm>
          <a:prstGeom prst="ellipse">
            <a:avLst/>
          </a:prstGeom>
          <a:solidFill>
            <a:srgbClr val="1F4D36"/>
          </a:solidFill>
          <a:ln w="12700">
            <a:solidFill>
              <a:srgbClr val="1F4D36"/>
            </a:solidFill>
            <a:prstDash val="solid"/>
          </a:ln>
        </p:spPr>
      </p:sp>
      <p:pic>
        <p:nvPicPr>
          <p:cNvPr id="6" name="Image 0" descr="preencoded.png">    </p:cNvPr>
          <p:cNvPicPr>
            <a:picLocks noChangeAspect="1"/>
          </p:cNvPicPr>
          <p:nvPr/>
        </p:nvPicPr>
        <p:blipFill>
          <a:blip r:embed="rId1"/>
          <a:stretch>
            <a:fillRect/>
          </a:stretch>
        </p:blipFill>
        <p:spPr>
          <a:xfrm>
            <a:off x="749808" y="1572768"/>
            <a:ext cx="219456" cy="219456"/>
          </a:xfrm>
          <a:prstGeom prst="rect">
            <a:avLst/>
          </a:prstGeom>
        </p:spPr>
      </p:pic>
      <p:sp>
        <p:nvSpPr>
          <p:cNvPr id="7" name="Text 4"/>
          <p:cNvSpPr txBox="1"/>
          <p:nvPr/>
        </p:nvSpPr>
        <p:spPr>
          <a:xfrm>
            <a:off x="640080" y="1938528"/>
            <a:ext cx="1828800" cy="457200"/>
          </a:xfrm>
          <a:prstGeom prst="rect">
            <a:avLst/>
          </a:prstGeom>
          <a:noFill/>
          <a:ln/>
        </p:spPr>
        <p:txBody>
          <a:bodyPr wrap="square" lIns="0" tIns="0" rIns="0" bIns="0" rtlCol="0" anchor="ctr"/>
          <a:lstStyle/>
          <a:p>
            <a:pPr indent="0" marL="0">
              <a:buNone/>
            </a:pPr>
            <a:r>
              <a:rPr lang="en-US" sz="2400" b="1" dirty="0">
                <a:solidFill>
                  <a:srgbClr val="C8511B"/>
                </a:solidFill>
                <a:latin typeface="Cambria" pitchFamily="34" charset="0"/>
                <a:ea typeface="Cambria" pitchFamily="34" charset="-122"/>
                <a:cs typeface="Cambria" pitchFamily="34" charset="-120"/>
              </a:rPr>
              <a:t>23.58 pp</a:t>
            </a:r>
            <a:endParaRPr lang="en-US" sz="2400" dirty="0"/>
          </a:p>
        </p:txBody>
      </p:sp>
      <p:sp>
        <p:nvSpPr>
          <p:cNvPr id="8" name="Text 5"/>
          <p:cNvSpPr txBox="1"/>
          <p:nvPr/>
        </p:nvSpPr>
        <p:spPr>
          <a:xfrm>
            <a:off x="640080" y="2359152"/>
            <a:ext cx="1874520" cy="365760"/>
          </a:xfrm>
          <a:prstGeom prst="rect">
            <a:avLst/>
          </a:prstGeom>
          <a:noFill/>
          <a:ln/>
        </p:spPr>
        <p:txBody>
          <a:bodyPr wrap="square" lIns="0" tIns="0" rIns="0" bIns="0" rtlCol="0" anchor="t"/>
          <a:lstStyle/>
          <a:p>
            <a:pPr indent="0" marL="0">
              <a:buNone/>
            </a:pPr>
            <a:r>
              <a:rPr lang="en-US" sz="1100" dirty="0">
                <a:solidFill>
                  <a:srgbClr val="1E2B24"/>
                </a:solidFill>
                <a:latin typeface="Calibri" pitchFamily="34" charset="0"/>
                <a:ea typeface="Calibri" pitchFamily="34" charset="-122"/>
                <a:cs typeface="Calibri" pitchFamily="34" charset="-120"/>
              </a:rPr>
              <a:t>Validation-based selection</a:t>
            </a:r>
            <a:endParaRPr lang="en-US" sz="1100" dirty="0"/>
          </a:p>
        </p:txBody>
      </p:sp>
      <p:sp>
        <p:nvSpPr>
          <p:cNvPr id="9" name="Shape 6"/>
          <p:cNvSpPr/>
          <p:nvPr/>
        </p:nvSpPr>
        <p:spPr>
          <a:xfrm>
            <a:off x="2788920" y="1280160"/>
            <a:ext cx="2148840" cy="1508760"/>
          </a:xfrm>
          <a:prstGeom prst="roundRect">
            <a:avLst>
              <a:gd name="adj" fmla="val 6061"/>
            </a:avLst>
          </a:prstGeom>
          <a:solidFill>
            <a:srgbClr val="FFFFFF"/>
          </a:solidFill>
          <a:ln/>
          <a:effectLst>
            <a:outerShdw sx="100000" sy="100000" kx="0" ky="0" algn="bl" rotWithShape="0" blurRad="76200" dist="25400" dir="5400000">
              <a:srgbClr val="000000">
                <a:alpha val="12000"/>
              </a:srgbClr>
            </a:outerShdw>
          </a:effectLst>
        </p:spPr>
      </p:sp>
      <p:sp>
        <p:nvSpPr>
          <p:cNvPr id="10" name="Shape 7"/>
          <p:cNvSpPr/>
          <p:nvPr/>
        </p:nvSpPr>
        <p:spPr>
          <a:xfrm>
            <a:off x="2971800" y="1463040"/>
            <a:ext cx="438912" cy="438912"/>
          </a:xfrm>
          <a:prstGeom prst="ellipse">
            <a:avLst/>
          </a:prstGeom>
          <a:solidFill>
            <a:srgbClr val="1F4D36"/>
          </a:solidFill>
          <a:ln w="12700">
            <a:solidFill>
              <a:srgbClr val="1F4D36"/>
            </a:solidFill>
            <a:prstDash val="solid"/>
          </a:ln>
        </p:spPr>
      </p:sp>
      <p:pic>
        <p:nvPicPr>
          <p:cNvPr id="11" name="Image 1" descr="preencoded.png">    </p:cNvPr>
          <p:cNvPicPr>
            <a:picLocks noChangeAspect="1"/>
          </p:cNvPicPr>
          <p:nvPr/>
        </p:nvPicPr>
        <p:blipFill>
          <a:blip r:embed="rId2"/>
          <a:stretch>
            <a:fillRect/>
          </a:stretch>
        </p:blipFill>
        <p:spPr>
          <a:xfrm>
            <a:off x="3081528" y="1572768"/>
            <a:ext cx="219456" cy="219456"/>
          </a:xfrm>
          <a:prstGeom prst="rect">
            <a:avLst/>
          </a:prstGeom>
        </p:spPr>
      </p:pic>
      <p:sp>
        <p:nvSpPr>
          <p:cNvPr id="12" name="Text 8"/>
          <p:cNvSpPr txBox="1"/>
          <p:nvPr/>
        </p:nvSpPr>
        <p:spPr>
          <a:xfrm>
            <a:off x="2971800" y="1938528"/>
            <a:ext cx="1828800" cy="457200"/>
          </a:xfrm>
          <a:prstGeom prst="rect">
            <a:avLst/>
          </a:prstGeom>
          <a:noFill/>
          <a:ln/>
        </p:spPr>
        <p:txBody>
          <a:bodyPr wrap="square" lIns="0" tIns="0" rIns="0" bIns="0" rtlCol="0" anchor="ctr"/>
          <a:lstStyle/>
          <a:p>
            <a:pPr indent="0" marL="0">
              <a:buNone/>
            </a:pPr>
            <a:r>
              <a:rPr lang="en-US" sz="2400" b="1" dirty="0">
                <a:solidFill>
                  <a:srgbClr val="C8511B"/>
                </a:solidFill>
                <a:latin typeface="Cambria" pitchFamily="34" charset="0"/>
                <a:ea typeface="Cambria" pitchFamily="34" charset="-122"/>
                <a:cs typeface="Cambria" pitchFamily="34" charset="-120"/>
              </a:rPr>
              <a:t>25.03 pp</a:t>
            </a:r>
            <a:endParaRPr lang="en-US" sz="2400" dirty="0"/>
          </a:p>
        </p:txBody>
      </p:sp>
      <p:sp>
        <p:nvSpPr>
          <p:cNvPr id="13" name="Text 9"/>
          <p:cNvSpPr txBox="1"/>
          <p:nvPr/>
        </p:nvSpPr>
        <p:spPr>
          <a:xfrm>
            <a:off x="2971800" y="2359152"/>
            <a:ext cx="1874520" cy="365760"/>
          </a:xfrm>
          <a:prstGeom prst="rect">
            <a:avLst/>
          </a:prstGeom>
          <a:noFill/>
          <a:ln/>
        </p:spPr>
        <p:txBody>
          <a:bodyPr wrap="square" lIns="0" tIns="0" rIns="0" bIns="0" rtlCol="0" anchor="t"/>
          <a:lstStyle/>
          <a:p>
            <a:pPr indent="0" marL="0">
              <a:buNone/>
            </a:pPr>
            <a:r>
              <a:rPr lang="en-US" sz="1100" dirty="0">
                <a:solidFill>
                  <a:srgbClr val="1E2B24"/>
                </a:solidFill>
                <a:latin typeface="Calibri" pitchFamily="34" charset="0"/>
                <a:ea typeface="Calibri" pitchFamily="34" charset="-122"/>
                <a:cs typeface="Calibri" pitchFamily="34" charset="-120"/>
              </a:rPr>
              <a:t>Matched 5×5 cross-validation</a:t>
            </a:r>
            <a:endParaRPr lang="en-US" sz="1100" dirty="0"/>
          </a:p>
        </p:txBody>
      </p:sp>
      <p:sp>
        <p:nvSpPr>
          <p:cNvPr id="14" name="Shape 10"/>
          <p:cNvSpPr/>
          <p:nvPr/>
        </p:nvSpPr>
        <p:spPr>
          <a:xfrm>
            <a:off x="457200" y="2971800"/>
            <a:ext cx="2148840" cy="1508760"/>
          </a:xfrm>
          <a:prstGeom prst="roundRect">
            <a:avLst>
              <a:gd name="adj" fmla="val 6061"/>
            </a:avLst>
          </a:prstGeom>
          <a:solidFill>
            <a:srgbClr val="FFFFFF"/>
          </a:solidFill>
          <a:ln/>
          <a:effectLst>
            <a:outerShdw sx="100000" sy="100000" kx="0" ky="0" algn="bl" rotWithShape="0" blurRad="76200" dist="25400" dir="5400000">
              <a:srgbClr val="000000">
                <a:alpha val="12000"/>
              </a:srgbClr>
            </a:outerShdw>
          </a:effectLst>
        </p:spPr>
      </p:sp>
      <p:sp>
        <p:nvSpPr>
          <p:cNvPr id="15" name="Shape 11"/>
          <p:cNvSpPr/>
          <p:nvPr/>
        </p:nvSpPr>
        <p:spPr>
          <a:xfrm>
            <a:off x="640080" y="3154680"/>
            <a:ext cx="438912" cy="438912"/>
          </a:xfrm>
          <a:prstGeom prst="ellipse">
            <a:avLst/>
          </a:prstGeom>
          <a:solidFill>
            <a:srgbClr val="1F4D36"/>
          </a:solidFill>
          <a:ln w="12700">
            <a:solidFill>
              <a:srgbClr val="1F4D36"/>
            </a:solidFill>
            <a:prstDash val="solid"/>
          </a:ln>
        </p:spPr>
      </p:sp>
      <p:pic>
        <p:nvPicPr>
          <p:cNvPr id="16" name="Image 2" descr="preencoded.png">    </p:cNvPr>
          <p:cNvPicPr>
            <a:picLocks noChangeAspect="1"/>
          </p:cNvPicPr>
          <p:nvPr/>
        </p:nvPicPr>
        <p:blipFill>
          <a:blip r:embed="rId3"/>
          <a:stretch>
            <a:fillRect/>
          </a:stretch>
        </p:blipFill>
        <p:spPr>
          <a:xfrm>
            <a:off x="749808" y="3264408"/>
            <a:ext cx="219456" cy="219456"/>
          </a:xfrm>
          <a:prstGeom prst="rect">
            <a:avLst/>
          </a:prstGeom>
        </p:spPr>
      </p:pic>
      <p:sp>
        <p:nvSpPr>
          <p:cNvPr id="17" name="Text 12"/>
          <p:cNvSpPr txBox="1"/>
          <p:nvPr/>
        </p:nvSpPr>
        <p:spPr>
          <a:xfrm>
            <a:off x="640080" y="3630168"/>
            <a:ext cx="1828800" cy="457200"/>
          </a:xfrm>
          <a:prstGeom prst="rect">
            <a:avLst/>
          </a:prstGeom>
          <a:noFill/>
          <a:ln/>
        </p:spPr>
        <p:txBody>
          <a:bodyPr wrap="square" lIns="0" tIns="0" rIns="0" bIns="0" rtlCol="0" anchor="ctr"/>
          <a:lstStyle/>
          <a:p>
            <a:pPr indent="0" marL="0">
              <a:buNone/>
            </a:pPr>
            <a:r>
              <a:rPr lang="en-US" sz="2400" b="1" dirty="0">
                <a:solidFill>
                  <a:srgbClr val="C8511B"/>
                </a:solidFill>
                <a:latin typeface="Cambria" pitchFamily="34" charset="0"/>
                <a:ea typeface="Cambria" pitchFamily="34" charset="-122"/>
                <a:cs typeface="Cambria" pitchFamily="34" charset="-120"/>
              </a:rPr>
              <a:t>23.94 pp</a:t>
            </a:r>
            <a:endParaRPr lang="en-US" sz="2400" dirty="0"/>
          </a:p>
        </p:txBody>
      </p:sp>
      <p:sp>
        <p:nvSpPr>
          <p:cNvPr id="18" name="Text 13"/>
          <p:cNvSpPr txBox="1"/>
          <p:nvPr/>
        </p:nvSpPr>
        <p:spPr>
          <a:xfrm>
            <a:off x="640080" y="4050792"/>
            <a:ext cx="1874520" cy="365760"/>
          </a:xfrm>
          <a:prstGeom prst="rect">
            <a:avLst/>
          </a:prstGeom>
          <a:noFill/>
          <a:ln/>
        </p:spPr>
        <p:txBody>
          <a:bodyPr wrap="square" lIns="0" tIns="0" rIns="0" bIns="0" rtlCol="0" anchor="t"/>
          <a:lstStyle/>
          <a:p>
            <a:pPr indent="0" marL="0">
              <a:buNone/>
            </a:pPr>
            <a:r>
              <a:rPr lang="en-US" sz="1100" dirty="0">
                <a:solidFill>
                  <a:srgbClr val="1E2B24"/>
                </a:solidFill>
                <a:latin typeface="Calibri" pitchFamily="34" charset="0"/>
                <a:ea typeface="Calibri" pitchFamily="34" charset="-122"/>
                <a:cs typeface="Calibri" pitchFamily="34" charset="-120"/>
              </a:rPr>
              <a:t>Other detector: YOLO11m</a:t>
            </a:r>
            <a:endParaRPr lang="en-US" sz="1100" dirty="0"/>
          </a:p>
        </p:txBody>
      </p:sp>
      <p:sp>
        <p:nvSpPr>
          <p:cNvPr id="19" name="Shape 14"/>
          <p:cNvSpPr/>
          <p:nvPr/>
        </p:nvSpPr>
        <p:spPr>
          <a:xfrm>
            <a:off x="2788920" y="2971800"/>
            <a:ext cx="2148840" cy="1508760"/>
          </a:xfrm>
          <a:prstGeom prst="roundRect">
            <a:avLst>
              <a:gd name="adj" fmla="val 6061"/>
            </a:avLst>
          </a:prstGeom>
          <a:solidFill>
            <a:srgbClr val="FFFFFF"/>
          </a:solidFill>
          <a:ln/>
          <a:effectLst>
            <a:outerShdw sx="100000" sy="100000" kx="0" ky="0" algn="bl" rotWithShape="0" blurRad="76200" dist="25400" dir="5400000">
              <a:srgbClr val="000000">
                <a:alpha val="12000"/>
              </a:srgbClr>
            </a:outerShdw>
          </a:effectLst>
        </p:spPr>
      </p:sp>
      <p:sp>
        <p:nvSpPr>
          <p:cNvPr id="20" name="Shape 15"/>
          <p:cNvSpPr/>
          <p:nvPr/>
        </p:nvSpPr>
        <p:spPr>
          <a:xfrm>
            <a:off x="2971800" y="3154680"/>
            <a:ext cx="438912" cy="438912"/>
          </a:xfrm>
          <a:prstGeom prst="ellipse">
            <a:avLst/>
          </a:prstGeom>
          <a:solidFill>
            <a:srgbClr val="1F4D36"/>
          </a:solidFill>
          <a:ln w="12700">
            <a:solidFill>
              <a:srgbClr val="1F4D36"/>
            </a:solidFill>
            <a:prstDash val="solid"/>
          </a:ln>
        </p:spPr>
      </p:sp>
      <p:pic>
        <p:nvPicPr>
          <p:cNvPr id="21" name="Image 3" descr="preencoded.png">    </p:cNvPr>
          <p:cNvPicPr>
            <a:picLocks noChangeAspect="1"/>
          </p:cNvPicPr>
          <p:nvPr/>
        </p:nvPicPr>
        <p:blipFill>
          <a:blip r:embed="rId4"/>
          <a:stretch>
            <a:fillRect/>
          </a:stretch>
        </p:blipFill>
        <p:spPr>
          <a:xfrm>
            <a:off x="3081528" y="3264408"/>
            <a:ext cx="219456" cy="219456"/>
          </a:xfrm>
          <a:prstGeom prst="rect">
            <a:avLst/>
          </a:prstGeom>
        </p:spPr>
      </p:pic>
      <p:sp>
        <p:nvSpPr>
          <p:cNvPr id="22" name="Text 16"/>
          <p:cNvSpPr txBox="1"/>
          <p:nvPr/>
        </p:nvSpPr>
        <p:spPr>
          <a:xfrm>
            <a:off x="2971800" y="3630168"/>
            <a:ext cx="1828800" cy="457200"/>
          </a:xfrm>
          <a:prstGeom prst="rect">
            <a:avLst/>
          </a:prstGeom>
          <a:noFill/>
          <a:ln/>
        </p:spPr>
        <p:txBody>
          <a:bodyPr wrap="square" lIns="0" tIns="0" rIns="0" bIns="0" rtlCol="0" anchor="ctr"/>
          <a:lstStyle/>
          <a:p>
            <a:pPr indent="0" marL="0">
              <a:buNone/>
            </a:pPr>
            <a:r>
              <a:rPr lang="en-US" sz="2400" b="1" dirty="0">
                <a:solidFill>
                  <a:srgbClr val="C8511B"/>
                </a:solidFill>
                <a:latin typeface="Cambria" pitchFamily="34" charset="0"/>
                <a:ea typeface="Cambria" pitchFamily="34" charset="-122"/>
                <a:cs typeface="Cambria" pitchFamily="34" charset="-120"/>
              </a:rPr>
              <a:t>23.44 pp</a:t>
            </a:r>
            <a:endParaRPr lang="en-US" sz="2400" dirty="0"/>
          </a:p>
        </p:txBody>
      </p:sp>
      <p:sp>
        <p:nvSpPr>
          <p:cNvPr id="23" name="Text 17"/>
          <p:cNvSpPr txBox="1"/>
          <p:nvPr/>
        </p:nvSpPr>
        <p:spPr>
          <a:xfrm>
            <a:off x="2971800" y="4050792"/>
            <a:ext cx="1874520" cy="365760"/>
          </a:xfrm>
          <a:prstGeom prst="rect">
            <a:avLst/>
          </a:prstGeom>
          <a:noFill/>
          <a:ln/>
        </p:spPr>
        <p:txBody>
          <a:bodyPr wrap="square" lIns="0" tIns="0" rIns="0" bIns="0" rtlCol="0" anchor="t"/>
          <a:lstStyle/>
          <a:p>
            <a:pPr indent="0" marL="0">
              <a:buNone/>
            </a:pPr>
            <a:r>
              <a:rPr lang="en-US" sz="1100" dirty="0">
                <a:solidFill>
                  <a:srgbClr val="1E2B24"/>
                </a:solidFill>
                <a:latin typeface="Calibri" pitchFamily="34" charset="0"/>
                <a:ea typeface="Calibri" pitchFamily="34" charset="-122"/>
                <a:cs typeface="Calibri" pitchFamily="34" charset="-120"/>
              </a:rPr>
              <a:t>4 YOLO26 checkpoints</a:t>
            </a:r>
            <a:endParaRPr lang="en-US" sz="1100" dirty="0"/>
          </a:p>
        </p:txBody>
      </p:sp>
      <p:graphicFrame>
        <p:nvGraphicFramePr>
          <p:cNvPr id="24" name="Chart 0" descr=""/>
          <p:cNvGraphicFramePr/>
          <p:nvPr/>
        </p:nvGraphicFramePr>
        <p:xfrm>
          <a:off x="5257800" y="1188720"/>
          <a:ext cx="3611880" cy="3429000"/>
        </p:xfrm>
        <a:graphic xmlns:a="http://schemas.openxmlformats.org/drawingml/2006/main">
          <a:graphicData uri="http://schemas.openxmlformats.org/drawingml/2006/chart">
            <c:chart xmlns:c="http://schemas.openxmlformats.org/drawingml/2006/chart" r:id="rId5"/>
          </a:graphicData>
        </a:graphic>
      </p:graphicFrame>
      <p:sp>
        <p:nvSpPr>
          <p:cNvPr id="25" name="Text 18"/>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8</a:t>
            </a:r>
            <a:endParaRPr lang="en-US" sz="1000" dirty="0"/>
          </a:p>
        </p:txBody>
      </p:sp>
      <p:sp>
        <p:nvSpPr>
          <p:cNvPr id="26" name="Text 19"/>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E2B24"/>
                </a:solidFill>
                <a:latin typeface="Cambria" pitchFamily="34" charset="0"/>
                <a:ea typeface="Cambria" pitchFamily="34" charset="-122"/>
                <a:cs typeface="Cambria" pitchFamily="34" charset="-120"/>
              </a:rPr>
              <a:t>Takeaways</a:t>
            </a:r>
            <a:endParaRPr lang="en-US" sz="2800" dirty="0"/>
          </a:p>
        </p:txBody>
      </p:sp>
      <p:sp>
        <p:nvSpPr>
          <p:cNvPr id="3" name="Shape 1"/>
          <p:cNvSpPr/>
          <p:nvPr/>
        </p:nvSpPr>
        <p:spPr>
          <a:xfrm>
            <a:off x="457200" y="1051560"/>
            <a:ext cx="566928" cy="566928"/>
          </a:xfrm>
          <a:prstGeom prst="ellipse">
            <a:avLst/>
          </a:prstGeom>
          <a:solidFill>
            <a:srgbClr val="1F4D36"/>
          </a:solidFill>
          <a:ln w="12700">
            <a:solidFill>
              <a:srgbClr val="1F4D36"/>
            </a:solidFill>
            <a:prstDash val="solid"/>
          </a:ln>
        </p:spPr>
      </p:sp>
      <p:pic>
        <p:nvPicPr>
          <p:cNvPr id="4" name="Image 0" descr="preencoded.png">    </p:cNvPr>
          <p:cNvPicPr>
            <a:picLocks noChangeAspect="1"/>
          </p:cNvPicPr>
          <p:nvPr/>
        </p:nvPicPr>
        <p:blipFill>
          <a:blip r:embed="rId1"/>
          <a:stretch>
            <a:fillRect/>
          </a:stretch>
        </p:blipFill>
        <p:spPr>
          <a:xfrm>
            <a:off x="598932" y="1193292"/>
            <a:ext cx="283464" cy="283464"/>
          </a:xfrm>
          <a:prstGeom prst="rect">
            <a:avLst/>
          </a:prstGeom>
        </p:spPr>
      </p:pic>
      <p:sp>
        <p:nvSpPr>
          <p:cNvPr id="5" name="Text 2"/>
          <p:cNvSpPr txBox="1"/>
          <p:nvPr/>
        </p:nvSpPr>
        <p:spPr>
          <a:xfrm>
            <a:off x="1188720" y="1033272"/>
            <a:ext cx="3931920" cy="320040"/>
          </a:xfrm>
          <a:prstGeom prst="rect">
            <a:avLst/>
          </a:prstGeom>
          <a:noFill/>
          <a:ln/>
        </p:spPr>
        <p:txBody>
          <a:bodyPr wrap="square" lIns="0" tIns="0" rIns="0" bIns="0" rtlCol="0" anchor="ctr"/>
          <a:lstStyle/>
          <a:p>
            <a:pPr indent="0" marL="0">
              <a:buNone/>
            </a:pPr>
            <a:r>
              <a:rPr lang="en-US" sz="1500" b="1" dirty="0">
                <a:solidFill>
                  <a:srgbClr val="1E2B24"/>
                </a:solidFill>
                <a:latin typeface="Calibri" pitchFamily="34" charset="0"/>
                <a:ea typeface="Calibri" pitchFamily="34" charset="-122"/>
                <a:cs typeface="Calibri" pitchFamily="34" charset="-120"/>
              </a:rPr>
              <a:t>Detector quality is the priority</a:t>
            </a:r>
            <a:endParaRPr lang="en-US" sz="1500" dirty="0"/>
          </a:p>
        </p:txBody>
      </p:sp>
      <p:sp>
        <p:nvSpPr>
          <p:cNvPr id="6" name="Text 3"/>
          <p:cNvSpPr txBox="1"/>
          <p:nvPr/>
        </p:nvSpPr>
        <p:spPr>
          <a:xfrm>
            <a:off x="1188720" y="1353312"/>
            <a:ext cx="3931920" cy="502920"/>
          </a:xfrm>
          <a:prstGeom prst="rect">
            <a:avLst/>
          </a:prstGeom>
          <a:noFill/>
          <a:ln/>
        </p:spPr>
        <p:txBody>
          <a:bodyPr wrap="square" lIns="0" tIns="0" rIns="0" bIns="0" rtlCol="0" anchor="t"/>
          <a:lstStyle/>
          <a:p>
            <a:pPr indent="0" marL="0">
              <a:buNone/>
            </a:pPr>
            <a:r>
              <a:rPr lang="en-US" sz="1200" dirty="0">
                <a:solidFill>
                  <a:srgbClr val="5B6B62"/>
                </a:solidFill>
                <a:latin typeface="Calibri" pitchFamily="34" charset="0"/>
                <a:ea typeface="Calibri" pitchFamily="34" charset="-122"/>
                <a:cs typeface="Calibri" pitchFamily="34" charset="-120"/>
              </a:rPr>
              <a:t>On SawitMVC, improving detector outputs matters more than choosing a counter.</a:t>
            </a:r>
            <a:endParaRPr lang="en-US" sz="1200" dirty="0"/>
          </a:p>
        </p:txBody>
      </p:sp>
      <p:sp>
        <p:nvSpPr>
          <p:cNvPr id="7" name="Shape 4"/>
          <p:cNvSpPr/>
          <p:nvPr/>
        </p:nvSpPr>
        <p:spPr>
          <a:xfrm>
            <a:off x="457200" y="2057400"/>
            <a:ext cx="566928" cy="566928"/>
          </a:xfrm>
          <a:prstGeom prst="ellipse">
            <a:avLst/>
          </a:prstGeom>
          <a:solidFill>
            <a:srgbClr val="1F4D36"/>
          </a:solidFill>
          <a:ln w="12700">
            <a:solidFill>
              <a:srgbClr val="1F4D36"/>
            </a:solidFill>
            <a:prstDash val="solid"/>
          </a:ln>
        </p:spPr>
      </p:sp>
      <p:pic>
        <p:nvPicPr>
          <p:cNvPr id="8" name="Image 1" descr="preencoded.png">    </p:cNvPr>
          <p:cNvPicPr>
            <a:picLocks noChangeAspect="1"/>
          </p:cNvPicPr>
          <p:nvPr/>
        </p:nvPicPr>
        <p:blipFill>
          <a:blip r:embed="rId2"/>
          <a:stretch>
            <a:fillRect/>
          </a:stretch>
        </p:blipFill>
        <p:spPr>
          <a:xfrm>
            <a:off x="598932" y="2199132"/>
            <a:ext cx="283464" cy="283464"/>
          </a:xfrm>
          <a:prstGeom prst="rect">
            <a:avLst/>
          </a:prstGeom>
        </p:spPr>
      </p:pic>
      <p:sp>
        <p:nvSpPr>
          <p:cNvPr id="9" name="Text 5"/>
          <p:cNvSpPr txBox="1"/>
          <p:nvPr/>
        </p:nvSpPr>
        <p:spPr>
          <a:xfrm>
            <a:off x="1188720" y="2039112"/>
            <a:ext cx="3931920" cy="320040"/>
          </a:xfrm>
          <a:prstGeom prst="rect">
            <a:avLst/>
          </a:prstGeom>
          <a:noFill/>
          <a:ln/>
        </p:spPr>
        <p:txBody>
          <a:bodyPr wrap="square" lIns="0" tIns="0" rIns="0" bIns="0" rtlCol="0" anchor="ctr"/>
          <a:lstStyle/>
          <a:p>
            <a:pPr indent="0" marL="0">
              <a:buNone/>
            </a:pPr>
            <a:r>
              <a:rPr lang="en-US" sz="1500" b="1" dirty="0">
                <a:solidFill>
                  <a:srgbClr val="1E2B24"/>
                </a:solidFill>
                <a:latin typeface="Calibri" pitchFamily="34" charset="0"/>
                <a:ea typeface="Calibri" pitchFamily="34" charset="-122"/>
                <a:cs typeface="Calibri" pitchFamily="34" charset="-120"/>
              </a:rPr>
              <a:t>Target B3/B4 detection and B2→B3 confusion</a:t>
            </a:r>
            <a:endParaRPr lang="en-US" sz="1500" dirty="0"/>
          </a:p>
        </p:txBody>
      </p:sp>
      <p:sp>
        <p:nvSpPr>
          <p:cNvPr id="10" name="Text 6"/>
          <p:cNvSpPr txBox="1"/>
          <p:nvPr/>
        </p:nvSpPr>
        <p:spPr>
          <a:xfrm>
            <a:off x="1188720" y="2359152"/>
            <a:ext cx="3931920" cy="502920"/>
          </a:xfrm>
          <a:prstGeom prst="rect">
            <a:avLst/>
          </a:prstGeom>
          <a:noFill/>
          <a:ln/>
        </p:spPr>
        <p:txBody>
          <a:bodyPr wrap="square" lIns="0" tIns="0" rIns="0" bIns="0" rtlCol="0" anchor="t"/>
          <a:lstStyle/>
          <a:p>
            <a:pPr indent="0" marL="0">
              <a:buNone/>
            </a:pPr>
            <a:r>
              <a:rPr lang="en-US" sz="1200" dirty="0">
                <a:solidFill>
                  <a:srgbClr val="5B6B62"/>
                </a:solidFill>
                <a:latin typeface="Calibri" pitchFamily="34" charset="0"/>
                <a:ea typeface="Calibri" pitchFamily="34" charset="-122"/>
                <a:cs typeface="Calibri" pitchFamily="34" charset="-120"/>
              </a:rPr>
              <a:t>These classes drive the tree-level census error.</a:t>
            </a:r>
            <a:endParaRPr lang="en-US" sz="1200" dirty="0"/>
          </a:p>
        </p:txBody>
      </p:sp>
      <p:sp>
        <p:nvSpPr>
          <p:cNvPr id="11" name="Shape 7"/>
          <p:cNvSpPr/>
          <p:nvPr/>
        </p:nvSpPr>
        <p:spPr>
          <a:xfrm>
            <a:off x="457200" y="3063240"/>
            <a:ext cx="566928" cy="566928"/>
          </a:xfrm>
          <a:prstGeom prst="ellipse">
            <a:avLst/>
          </a:prstGeom>
          <a:solidFill>
            <a:srgbClr val="1F4D36"/>
          </a:solidFill>
          <a:ln w="12700">
            <a:solidFill>
              <a:srgbClr val="1F4D36"/>
            </a:solidFill>
            <a:prstDash val="solid"/>
          </a:ln>
        </p:spPr>
      </p:sp>
      <p:pic>
        <p:nvPicPr>
          <p:cNvPr id="12" name="Image 2" descr="preencoded.png">    </p:cNvPr>
          <p:cNvPicPr>
            <a:picLocks noChangeAspect="1"/>
          </p:cNvPicPr>
          <p:nvPr/>
        </p:nvPicPr>
        <p:blipFill>
          <a:blip r:embed="rId3"/>
          <a:stretch>
            <a:fillRect/>
          </a:stretch>
        </p:blipFill>
        <p:spPr>
          <a:xfrm>
            <a:off x="598932" y="3204972"/>
            <a:ext cx="283464" cy="283464"/>
          </a:xfrm>
          <a:prstGeom prst="rect">
            <a:avLst/>
          </a:prstGeom>
        </p:spPr>
      </p:pic>
      <p:sp>
        <p:nvSpPr>
          <p:cNvPr id="13" name="Text 8"/>
          <p:cNvSpPr txBox="1"/>
          <p:nvPr/>
        </p:nvSpPr>
        <p:spPr>
          <a:xfrm>
            <a:off x="1188720" y="3044952"/>
            <a:ext cx="3931920" cy="320040"/>
          </a:xfrm>
          <a:prstGeom prst="rect">
            <a:avLst/>
          </a:prstGeom>
          <a:noFill/>
          <a:ln/>
        </p:spPr>
        <p:txBody>
          <a:bodyPr wrap="square" lIns="0" tIns="0" rIns="0" bIns="0" rtlCol="0" anchor="ctr"/>
          <a:lstStyle/>
          <a:p>
            <a:pPr indent="0" marL="0">
              <a:buNone/>
            </a:pPr>
            <a:r>
              <a:rPr lang="en-US" sz="1500" b="1" dirty="0">
                <a:solidFill>
                  <a:srgbClr val="1E2B24"/>
                </a:solidFill>
                <a:latin typeface="Calibri" pitchFamily="34" charset="0"/>
                <a:ea typeface="Calibri" pitchFamily="34" charset="-122"/>
                <a:cs typeface="Calibri" pitchFamily="34" charset="-120"/>
              </a:rPr>
              <a:t>Evaluate counters under GT and detector inputs</a:t>
            </a:r>
            <a:endParaRPr lang="en-US" sz="1500" dirty="0"/>
          </a:p>
        </p:txBody>
      </p:sp>
      <p:sp>
        <p:nvSpPr>
          <p:cNvPr id="14" name="Text 9"/>
          <p:cNvSpPr txBox="1"/>
          <p:nvPr/>
        </p:nvSpPr>
        <p:spPr>
          <a:xfrm>
            <a:off x="1188720" y="3364992"/>
            <a:ext cx="3931920" cy="502920"/>
          </a:xfrm>
          <a:prstGeom prst="rect">
            <a:avLst/>
          </a:prstGeom>
          <a:noFill/>
          <a:ln/>
        </p:spPr>
        <p:txBody>
          <a:bodyPr wrap="square" lIns="0" tIns="0" rIns="0" bIns="0" rtlCol="0" anchor="t"/>
          <a:lstStyle/>
          <a:p>
            <a:pPr indent="0" marL="0">
              <a:buNone/>
            </a:pPr>
            <a:r>
              <a:rPr lang="en-US" sz="1200" dirty="0">
                <a:solidFill>
                  <a:srgbClr val="5B6B62"/>
                </a:solidFill>
                <a:latin typeface="Calibri" pitchFamily="34" charset="0"/>
                <a:ea typeface="Calibri" pitchFamily="34" charset="-122"/>
                <a:cs typeface="Calibri" pitchFamily="34" charset="-120"/>
              </a:rPr>
              <a:t>Report class, tree and total metrics plus signed bias.</a:t>
            </a:r>
            <a:endParaRPr lang="en-US" sz="1200" dirty="0"/>
          </a:p>
        </p:txBody>
      </p:sp>
      <p:sp>
        <p:nvSpPr>
          <p:cNvPr id="15" name="Shape 10"/>
          <p:cNvSpPr/>
          <p:nvPr/>
        </p:nvSpPr>
        <p:spPr>
          <a:xfrm>
            <a:off x="5486400" y="1005840"/>
            <a:ext cx="3291840" cy="3108960"/>
          </a:xfrm>
          <a:prstGeom prst="roundRect">
            <a:avLst>
              <a:gd name="adj" fmla="val 2941"/>
            </a:avLst>
          </a:prstGeom>
          <a:solidFill>
            <a:srgbClr val="EEF4EF"/>
          </a:solidFill>
          <a:ln/>
        </p:spPr>
      </p:sp>
      <p:sp>
        <p:nvSpPr>
          <p:cNvPr id="16" name="Text 11"/>
          <p:cNvSpPr txBox="1"/>
          <p:nvPr/>
        </p:nvSpPr>
        <p:spPr>
          <a:xfrm>
            <a:off x="5715000" y="1188720"/>
            <a:ext cx="2834640" cy="365760"/>
          </a:xfrm>
          <a:prstGeom prst="rect">
            <a:avLst/>
          </a:prstGeom>
          <a:noFill/>
          <a:ln/>
        </p:spPr>
        <p:txBody>
          <a:bodyPr wrap="square" lIns="0" tIns="0" rIns="0" bIns="0" rtlCol="0" anchor="ctr"/>
          <a:lstStyle/>
          <a:p>
            <a:pPr indent="0" marL="0">
              <a:buNone/>
            </a:pPr>
            <a:r>
              <a:rPr lang="en-US" sz="1500" b="1" dirty="0">
                <a:solidFill>
                  <a:srgbClr val="1F4D36"/>
                </a:solidFill>
                <a:latin typeface="Calibri" pitchFamily="34" charset="0"/>
                <a:ea typeface="Calibri" pitchFamily="34" charset="-122"/>
                <a:cs typeface="Calibri" pitchFamily="34" charset="-120"/>
              </a:rPr>
              <a:t>Future work</a:t>
            </a:r>
            <a:endParaRPr lang="en-US" sz="1500" dirty="0"/>
          </a:p>
        </p:txBody>
      </p:sp>
      <p:sp>
        <p:nvSpPr>
          <p:cNvPr id="17" name="Text 12"/>
          <p:cNvSpPr txBox="1"/>
          <p:nvPr/>
        </p:nvSpPr>
        <p:spPr>
          <a:xfrm>
            <a:off x="5715000" y="1554480"/>
            <a:ext cx="28803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B24"/>
                </a:solidFill>
                <a:latin typeface="Calibri" pitchFamily="34" charset="0"/>
                <a:ea typeface="Calibri" pitchFamily="34" charset="-122"/>
                <a:cs typeface="Calibri" pitchFamily="34" charset="-120"/>
              </a:rPr>
              <a:t>Explicit multi-view association vs learned aggregation</a:t>
            </a:r>
            <a:endParaRPr lang="en-US" sz="1200" dirty="0"/>
          </a:p>
          <a:p>
            <a:pPr marL="342900" indent="-342900">
              <a:spcAft>
                <a:spcPts val="600"/>
              </a:spcAft>
              <a:buSzPct val="100000"/>
              <a:buChar char="•"/>
            </a:pPr>
            <a:r>
              <a:rPr lang="en-US" sz="1200" dirty="0">
                <a:solidFill>
                  <a:srgbClr val="1E2B24"/>
                </a:solidFill>
                <a:latin typeface="Calibri" pitchFamily="34" charset="0"/>
                <a:ea typeface="Calibri" pitchFamily="34" charset="-122"/>
                <a:cs typeface="Calibri" pitchFamily="34" charset="-120"/>
              </a:rPr>
              <a:t>Broader and repeated detector training</a:t>
            </a:r>
            <a:endParaRPr lang="en-US" sz="1200" dirty="0"/>
          </a:p>
          <a:p>
            <a:pPr marL="342900" indent="-342900">
              <a:spcAft>
                <a:spcPts val="600"/>
              </a:spcAft>
              <a:buSzPct val="100000"/>
              <a:buChar char="•"/>
            </a:pPr>
            <a:r>
              <a:rPr lang="en-US" sz="1200" dirty="0">
                <a:solidFill>
                  <a:srgbClr val="1E2B24"/>
                </a:solidFill>
                <a:latin typeface="Calibri" pitchFamily="34" charset="0"/>
                <a:ea typeface="Calibri" pitchFamily="34" charset="-122"/>
                <a:cs typeface="Calibri" pitchFamily="34" charset="-120"/>
              </a:rPr>
              <a:t>Independent plantations and measured camera pitch</a:t>
            </a:r>
            <a:endParaRPr lang="en-US" sz="1200" dirty="0"/>
          </a:p>
        </p:txBody>
      </p:sp>
      <p:sp>
        <p:nvSpPr>
          <p:cNvPr id="18" name="Text 13"/>
          <p:cNvSpPr txBox="1"/>
          <p:nvPr/>
        </p:nvSpPr>
        <p:spPr>
          <a:xfrm>
            <a:off x="5715000" y="3063240"/>
            <a:ext cx="2834640" cy="320040"/>
          </a:xfrm>
          <a:prstGeom prst="rect">
            <a:avLst/>
          </a:prstGeom>
          <a:noFill/>
          <a:ln/>
        </p:spPr>
        <p:txBody>
          <a:bodyPr wrap="square" lIns="0" tIns="0" rIns="0" bIns="0" rtlCol="0" anchor="ctr"/>
          <a:lstStyle/>
          <a:p>
            <a:pPr indent="0" marL="0">
              <a:buNone/>
            </a:pPr>
            <a:r>
              <a:rPr lang="en-US" sz="1300" b="1" dirty="0">
                <a:solidFill>
                  <a:srgbClr val="C8511B"/>
                </a:solidFill>
                <a:latin typeface="Calibri" pitchFamily="34" charset="0"/>
                <a:ea typeface="Calibri" pitchFamily="34" charset="-122"/>
                <a:cs typeface="Calibri" pitchFamily="34" charset="-120"/>
              </a:rPr>
              <a:t>Limitations</a:t>
            </a:r>
            <a:endParaRPr lang="en-US" sz="1300" dirty="0"/>
          </a:p>
        </p:txBody>
      </p:sp>
      <p:sp>
        <p:nvSpPr>
          <p:cNvPr id="19" name="Text 14"/>
          <p:cNvSpPr txBox="1"/>
          <p:nvPr/>
        </p:nvSpPr>
        <p:spPr>
          <a:xfrm>
            <a:off x="5715000" y="3383280"/>
            <a:ext cx="2880360" cy="868680"/>
          </a:xfrm>
          <a:prstGeom prst="rect">
            <a:avLst/>
          </a:prstGeom>
          <a:noFill/>
          <a:ln/>
        </p:spPr>
        <p:txBody>
          <a:bodyPr wrap="square" lIns="0" tIns="0" rIns="0" bIns="0" rtlCol="0" anchor="t"/>
          <a:lstStyle/>
          <a:p>
            <a:pPr indent="0" marL="0">
              <a:buNone/>
            </a:pPr>
            <a:r>
              <a:rPr lang="en-US" sz="1100" dirty="0">
                <a:solidFill>
                  <a:srgbClr val="5B6B62"/>
                </a:solidFill>
                <a:latin typeface="Calibri" pitchFamily="34" charset="0"/>
                <a:ea typeface="Calibri" pitchFamily="34" charset="-122"/>
                <a:cs typeface="Calibri" pitchFamily="34" charset="-120"/>
              </a:rPr>
              <a:t>One dataset, two estates; GT is an empirical reference, not an upper bound on future counters.</a:t>
            </a:r>
            <a:endParaRPr lang="en-US" sz="1100" dirty="0"/>
          </a:p>
        </p:txBody>
      </p:sp>
      <p:sp>
        <p:nvSpPr>
          <p:cNvPr id="20" name="Text 15"/>
          <p:cNvSpPr txBox="1"/>
          <p:nvPr/>
        </p:nvSpPr>
        <p:spPr>
          <a:xfrm>
            <a:off x="8412480" y="4754880"/>
            <a:ext cx="365760" cy="228600"/>
          </a:xfrm>
          <a:prstGeom prst="rect">
            <a:avLst/>
          </a:prstGeom>
          <a:noFill/>
          <a:ln/>
        </p:spPr>
        <p:txBody>
          <a:bodyPr wrap="square" lIns="0" tIns="0" rIns="0" bIns="0" rtlCol="0" anchor="ctr"/>
          <a:lstStyle/>
          <a:p>
            <a:pPr algn="r" indent="0" marL="0">
              <a:buNone/>
            </a:pPr>
            <a:r>
              <a:rPr lang="en-US" sz="1000" dirty="0">
                <a:solidFill>
                  <a:srgbClr val="5B6B62"/>
                </a:solidFill>
                <a:latin typeface="Calibri" pitchFamily="34" charset="0"/>
                <a:ea typeface="Calibri" pitchFamily="34" charset="-122"/>
                <a:cs typeface="Calibri" pitchFamily="34" charset="-120"/>
              </a:rPr>
              <a:t>9</a:t>
            </a:r>
            <a:endParaRPr lang="en-US" sz="1000" dirty="0"/>
          </a:p>
        </p:txBody>
      </p:sp>
      <p:sp>
        <p:nvSpPr>
          <p:cNvPr id="21" name="Text 16"/>
          <p:cNvSpPr txBox="1"/>
          <p:nvPr/>
        </p:nvSpPr>
        <p:spPr>
          <a:xfrm>
            <a:off x="457200" y="4754880"/>
            <a:ext cx="1828800" cy="228600"/>
          </a:xfrm>
          <a:prstGeom prst="rect">
            <a:avLst/>
          </a:prstGeom>
          <a:noFill/>
          <a:ln/>
        </p:spPr>
        <p:txBody>
          <a:bodyPr wrap="square" lIns="0" tIns="0" rIns="0" bIns="0" rtlCol="0" anchor="ctr"/>
          <a:lstStyle/>
          <a:p>
            <a:pPr indent="0" marL="0">
              <a:buNone/>
            </a:pPr>
            <a:r>
              <a:rPr lang="en-US" sz="1000" dirty="0">
                <a:solidFill>
                  <a:srgbClr val="5B6B62"/>
                </a:solidFill>
                <a:latin typeface="Calibri" pitchFamily="34" charset="0"/>
                <a:ea typeface="Calibri" pitchFamily="34" charset="-122"/>
                <a:cs typeface="Calibri" pitchFamily="34" charset="-120"/>
              </a:rPr>
              <a:t>ICIC 2026</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291D"/>
        </a:solidFill>
      </p:bgPr>
    </p:bg>
    <p:spTree>
      <p:nvGrpSpPr>
        <p:cNvPr id="1" name=""/>
        <p:cNvGrpSpPr/>
        <p:nvPr/>
      </p:nvGrpSpPr>
      <p:grpSpPr>
        <a:xfrm>
          <a:off x="0" y="0"/>
          <a:ext cx="0" cy="0"/>
          <a:chOff x="0" y="0"/>
          <a:chExt cx="0" cy="0"/>
        </a:xfrm>
      </p:grpSpPr>
      <p:pic>
        <p:nvPicPr>
          <p:cNvPr id="2" name="Image 0" descr="/home/claude/img/side3.jpg">    </p:cNvPr>
          <p:cNvPicPr>
            <a:picLocks noChangeAspect="1"/>
          </p:cNvPicPr>
          <p:nvPr/>
        </p:nvPicPr>
        <p:blipFill>
          <a:blip r:embed="rId1"/>
          <a:srcRect l="0" r="0" t="0" b="0"/>
          <a:stretch/>
        </p:blipFill>
        <p:spPr>
          <a:xfrm>
            <a:off x="0" y="0"/>
            <a:ext cx="3657600" cy="5143500"/>
          </a:xfrm>
          <a:prstGeom prst="rect">
            <a:avLst/>
          </a:prstGeom>
        </p:spPr>
      </p:pic>
      <p:sp>
        <p:nvSpPr>
          <p:cNvPr id="3" name="Shape 0"/>
          <p:cNvSpPr/>
          <p:nvPr/>
        </p:nvSpPr>
        <p:spPr>
          <a:xfrm>
            <a:off x="0" y="0"/>
            <a:ext cx="3657600" cy="5143500"/>
          </a:xfrm>
          <a:prstGeom prst="rect">
            <a:avLst/>
          </a:prstGeom>
          <a:solidFill>
            <a:srgbClr val="12291D">
              <a:alpha val="30000"/>
            </a:srgbClr>
          </a:solidFill>
          <a:ln/>
        </p:spPr>
      </p:sp>
      <p:sp>
        <p:nvSpPr>
          <p:cNvPr id="4" name="Text 1"/>
          <p:cNvSpPr txBox="1"/>
          <p:nvPr/>
        </p:nvSpPr>
        <p:spPr>
          <a:xfrm>
            <a:off x="4206240" y="1188720"/>
            <a:ext cx="45720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2"/>
          <p:cNvSpPr txBox="1"/>
          <p:nvPr/>
        </p:nvSpPr>
        <p:spPr>
          <a:xfrm>
            <a:off x="4206240" y="2011680"/>
            <a:ext cx="4572000" cy="411480"/>
          </a:xfrm>
          <a:prstGeom prst="rect">
            <a:avLst/>
          </a:prstGeom>
          <a:noFill/>
          <a:ln/>
        </p:spPr>
        <p:txBody>
          <a:bodyPr wrap="square" lIns="0" tIns="0" rIns="0" bIns="0" rtlCol="0" anchor="ctr"/>
          <a:lstStyle/>
          <a:p>
            <a:pPr indent="0" marL="0">
              <a:buNone/>
            </a:pPr>
            <a:r>
              <a:rPr lang="en-US" sz="1600" i="1" dirty="0">
                <a:solidFill>
                  <a:srgbClr val="F2A36B"/>
                </a:solidFill>
                <a:latin typeface="Cambria" pitchFamily="34" charset="0"/>
                <a:ea typeface="Cambria" pitchFamily="34" charset="-122"/>
                <a:cs typeface="Cambria" pitchFamily="34" charset="-120"/>
              </a:rPr>
              <a:t>Questions &amp; discussion are welcome</a:t>
            </a:r>
            <a:endParaRPr lang="en-US" sz="1600" dirty="0"/>
          </a:p>
        </p:txBody>
      </p:sp>
      <p:pic>
        <p:nvPicPr>
          <p:cNvPr id="6" name="Image 1" descr="preencoded.png">    </p:cNvPr>
          <p:cNvPicPr>
            <a:picLocks noChangeAspect="1"/>
          </p:cNvPicPr>
          <p:nvPr/>
        </p:nvPicPr>
        <p:blipFill>
          <a:blip r:embed="rId2"/>
          <a:stretch>
            <a:fillRect/>
          </a:stretch>
        </p:blipFill>
        <p:spPr>
          <a:xfrm>
            <a:off x="4206240" y="2880360"/>
            <a:ext cx="292608" cy="292608"/>
          </a:xfrm>
          <a:prstGeom prst="rect">
            <a:avLst/>
          </a:prstGeom>
        </p:spPr>
      </p:pic>
      <p:sp>
        <p:nvSpPr>
          <p:cNvPr id="7" name="Text 3">
            <a:hlinkClick r:id="rId3" tooltip=""/>
          </p:cNvPr>
          <p:cNvSpPr txBox="1"/>
          <p:nvPr/>
        </p:nvSpPr>
        <p:spPr>
          <a:xfrm>
            <a:off x="4617720" y="2834640"/>
            <a:ext cx="4206240" cy="384048"/>
          </a:xfrm>
          <a:prstGeom prst="rect">
            <a:avLst/>
          </a:prstGeom>
          <a:noFill/>
          <a:ln/>
        </p:spPr>
        <p:txBody>
          <a:bodyPr wrap="square" lIns="0" tIns="0" rIns="0" bIns="0" rtlCol="0" anchor="ctr"/>
          <a:lstStyle/>
          <a:p>
            <a:pPr indent="0" marL="0">
              <a:buNone/>
            </a:pPr>
            <a:r>
              <a:rPr lang="en-US" sz="1300"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github.com/ULM-SawitMVC/Baseline-SawitMVC</a:t>
            </a:r>
            <a:endParaRPr lang="en-US" sz="1300" dirty="0"/>
          </a:p>
        </p:txBody>
      </p:sp>
      <p:pic>
        <p:nvPicPr>
          <p:cNvPr id="8" name="Image 2" descr="preencoded.png">    </p:cNvPr>
          <p:cNvPicPr>
            <a:picLocks noChangeAspect="1"/>
          </p:cNvPicPr>
          <p:nvPr/>
        </p:nvPicPr>
        <p:blipFill>
          <a:blip r:embed="rId4"/>
          <a:stretch>
            <a:fillRect/>
          </a:stretch>
        </p:blipFill>
        <p:spPr>
          <a:xfrm>
            <a:off x="4206240" y="3383280"/>
            <a:ext cx="292608" cy="292608"/>
          </a:xfrm>
          <a:prstGeom prst="rect">
            <a:avLst/>
          </a:prstGeom>
        </p:spPr>
      </p:pic>
      <p:sp>
        <p:nvSpPr>
          <p:cNvPr id="9" name="Text 4"/>
          <p:cNvSpPr txBox="1"/>
          <p:nvPr/>
        </p:nvSpPr>
        <p:spPr>
          <a:xfrm>
            <a:off x="4617720" y="3337560"/>
            <a:ext cx="4206240" cy="3840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mz.muttaqin1@gmail.com</a:t>
            </a:r>
            <a:endParaRPr lang="en-US" sz="1300" dirty="0"/>
          </a:p>
        </p:txBody>
      </p:sp>
      <p:sp>
        <p:nvSpPr>
          <p:cNvPr id="10" name="Text 5"/>
          <p:cNvSpPr txBox="1"/>
          <p:nvPr/>
        </p:nvSpPr>
        <p:spPr>
          <a:xfrm>
            <a:off x="4206240" y="4206240"/>
            <a:ext cx="4572000" cy="320040"/>
          </a:xfrm>
          <a:prstGeom prst="rect">
            <a:avLst/>
          </a:prstGeom>
          <a:noFill/>
          <a:ln/>
        </p:spPr>
        <p:txBody>
          <a:bodyPr wrap="square" lIns="0" tIns="0" rIns="0" bIns="0" rtlCol="0" anchor="ctr"/>
          <a:lstStyle/>
          <a:p>
            <a:pPr indent="0" marL="0">
              <a:buNone/>
            </a:pPr>
            <a:r>
              <a:rPr lang="en-US" sz="1100" dirty="0">
                <a:solidFill>
                  <a:srgbClr val="A9C9A4"/>
                </a:solidFill>
                <a:latin typeface="Calibri" pitchFamily="34" charset="0"/>
                <a:ea typeface="Calibri" pitchFamily="34" charset="-122"/>
                <a:cs typeface="Calibri" pitchFamily="34" charset="-120"/>
              </a:rPr>
              <a:t>Lambung Mangkurat University · Banjarbaru, Indonesia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Multi-View Oil Palm Bunch Counting</dc:title>
  <dc:subject>PptxGenJS Presentation</dc:subject>
  <dc:creator>Muhammad Zainal Muttaqin</dc:creator>
  <cp:lastModifiedBy>Muhammad Zainal Muttaqin</cp:lastModifiedBy>
  <cp:revision>1</cp:revision>
  <dcterms:created xsi:type="dcterms:W3CDTF">2026-09-15T18:50:23Z</dcterms:created>
  <dcterms:modified xsi:type="dcterms:W3CDTF">2026-09-15T18:50:23Z</dcterms:modified>
</cp:coreProperties>
</file>