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I will present our paper, titled "Benchmarking Multi-View Tree-Level Oil Palm Bunch Counting Under a Fixed Detector". I am Muhammad Zainal Muttaqin from Lambung Mangkurat University, and I am presenting this work on behalf of my co-authors.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an oil palm plantation, the manager needs to know how many bunches are on each tree and how ripe they are, in four maturity classes from B1 to B4. Today workers count them by eye, so we want to do it from photos.</a:t>
            </a:r>
          </a:p>
          <a:p>
            <a:r>
              <a:t>One photo cannot see the whole tree, so we take four photos from four sides. The problem is that the same bunch then appears in several photos, almost twice on average, so we cannot simply add up what we see in each photo.</a:t>
            </a:r>
          </a:p>
          <a:p>
            <a:r>
              <a:t>A system for this has two parts. A detector finds the bunches in each photo and draws a box around each one. A counter then takes the boxes from all the photos and gives the final number of bunches for the tree. Our research objective is to find out which part causes the counting error, the detector or the counter.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Other researchers have solved this for mango and apple, but their methods need a camera that moves along the row or many overlapping images. We only have four separate smartphone photos per tree.</a:t>
            </a:r>
          </a:p>
          <a:p>
            <a:r>
              <a:t>For oil palm, earlier work stops at detecting bunches in a single image. And when a counting system is tested, it is tested as a whole, so nobody can tell which of the two parts made the mistake.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separate the two parts, we test every counter twice. The first time, we give it the boxes that experts drew by hand, so the input has no mistakes. The second time, we give it the boxes from a YOLO detector, which misses some bunches and gives some of them the wrong class.</a:t>
            </a:r>
          </a:p>
          <a:p>
            <a:r>
              <a:t>We use one detector model for the whole study and we never retrain it, so every counter receives exactly the same boxes. Because the counter is also the same in both tests, any drop in accuracy comes from the mistakes of the detector.</a:t>
            </a:r>
          </a:p>
          <a:p>
            <a:r>
              <a:t>As counters, we compare two simple rules, such as dividing the total by the average number of repeats, and five regression models. We count a prediction as correct when it is within one bunch of the true number.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has all our results, so let me point to the main numbers. With the expert boxes, the best counter is correct in 98 percent of the cases. With the detector boxes, it drops to 77 percent. That is a loss of about 21 points.</a:t>
            </a:r>
          </a:p>
          <a:p>
            <a:r>
              <a:t>In contrast, when we compare the five counters with each other, they differ by only 3 points, and that difference is not statistically significant.</a:t>
            </a:r>
          </a:p>
          <a:p>
            <a:r>
              <a:t>Why is the loss so large? Because 23 percent of the bunches are not detected in any of the photos, and the counter cannot count a bunch that it never receives. The detector also often labels B2 bunches as B3.</a:t>
            </a:r>
          </a:p>
          <a:p>
            <a:r>
              <a:t>Giving the counter more information improved it by only about one point. And when we repeated the comparison with another detector and with cross-validation, the gap stayed between 23 and 25 points.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to answer our question: on this dataset, the count depends much more on the detector than on the choice of counter. The next improvement should therefore be in the detector, especially for the unripe classes B3 and B4.</a:t>
            </a:r>
          </a:p>
          <a:p>
            <a:r>
              <a:t>We also suggest that counting methods be reported with both expert boxes and detector boxes, so that the two sources of error stay visible.</a:t>
            </a:r>
          </a:p>
          <a:p>
            <a:r>
              <a:t>Our data come from only two estates, so we still need to test this on an independent plantation.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Our code and results are on GitHub, and I am happy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91D"/>
        </a:solidFill>
        <a:effectLst/>
      </p:bgPr>
    </p:bg>
    <p:spTree>
      <p:nvGrpSpPr>
        <p:cNvPr id="1" name=""/>
        <p:cNvGrpSpPr/>
        <p:nvPr/>
      </p:nvGrpSpPr>
      <p:grpSpPr/>
      <p:pic>
        <p:nvPicPr>
          <p:cNvPr id="2" name="Picture 1" descr="s01_0.jpg"/>
          <p:cNvPicPr>
            <a:picLocks noChangeAspect="1"/>
          </p:cNvPicPr>
          <p:nvPr/>
        </p:nvPicPr>
        <p:blipFill>
          <a:blip r:embed="rId2"/>
          <a:srcRect t="2060" b="2060"/>
          <a:stretch>
            <a:fillRect/>
          </a:stretch>
        </p:blipFill>
        <p:spPr>
          <a:xfrm>
            <a:off x="5120640" y="0"/>
            <a:ext cx="4023360" cy="5143500"/>
          </a:xfrm>
          <a:prstGeom prst="rect">
            <a:avLst/>
          </a:prstGeom>
        </p:spPr>
      </p:pic>
      <p:sp>
        <p:nvSpPr>
          <p:cNvPr id="3" name="TextBox 2"/>
          <p:cNvSpPr txBox="1"/>
          <p:nvPr/>
        </p:nvSpPr>
        <p:spPr>
          <a:xfrm>
            <a:off x="457200" y="411480"/>
            <a:ext cx="4572000" cy="457200"/>
          </a:xfrm>
          <a:prstGeom prst="rect">
            <a:avLst/>
          </a:prstGeom>
          <a:noFill/>
        </p:spPr>
        <p:txBody>
          <a:bodyPr wrap="square" lIns="27432" rIns="27432" tIns="27432" bIns="27432" anchor="t">
            <a:noAutofit/>
          </a:bodyPr>
          <a:lstStyle/>
          <a:p>
            <a:pPr algn="l">
              <a:spcBef>
                <a:spcPts val="0"/>
              </a:spcBef>
              <a:spcAft>
                <a:spcPts val="0"/>
              </a:spcAft>
            </a:pPr>
            <a:r>
              <a:rPr sz="1100" b="0">
                <a:solidFill>
                  <a:srgbClr val="A9C9A4"/>
                </a:solidFill>
                <a:latin typeface="Calibri"/>
              </a:rPr>
              <a:t>ICIC 2026  ·  The Tenth International Conference on Informatics and Computing</a:t>
            </a:r>
          </a:p>
        </p:txBody>
      </p:sp>
      <p:sp>
        <p:nvSpPr>
          <p:cNvPr id="4" name="TextBox 3"/>
          <p:cNvSpPr txBox="1"/>
          <p:nvPr/>
        </p:nvSpPr>
        <p:spPr>
          <a:xfrm>
            <a:off x="457200" y="1005840"/>
            <a:ext cx="4480560" cy="2011680"/>
          </a:xfrm>
          <a:prstGeom prst="rect">
            <a:avLst/>
          </a:prstGeom>
          <a:noFill/>
        </p:spPr>
        <p:txBody>
          <a:bodyPr wrap="square" lIns="27432" rIns="27432" tIns="27432" bIns="27432" anchor="t">
            <a:noAutofit/>
          </a:bodyPr>
          <a:lstStyle/>
          <a:p>
            <a:pPr algn="l">
              <a:spcBef>
                <a:spcPts val="0"/>
              </a:spcBef>
              <a:spcAft>
                <a:spcPts val="0"/>
              </a:spcAft>
            </a:pPr>
            <a:r>
              <a:rPr sz="2800" b="1">
                <a:solidFill>
                  <a:srgbClr val="FFFFFF"/>
                </a:solidFill>
                <a:latin typeface="Cambria"/>
              </a:rPr>
              <a:t>Benchmarking Multi-View Tree-Level Oil Palm Bunch Counting Under a Fixed Detector</a:t>
            </a:r>
          </a:p>
        </p:txBody>
      </p:sp>
      <p:sp>
        <p:nvSpPr>
          <p:cNvPr id="5" name="TextBox 4"/>
          <p:cNvSpPr txBox="1"/>
          <p:nvPr/>
        </p:nvSpPr>
        <p:spPr>
          <a:xfrm>
            <a:off x="457200" y="3429000"/>
            <a:ext cx="4480560" cy="914400"/>
          </a:xfrm>
          <a:prstGeom prst="rect">
            <a:avLst/>
          </a:prstGeom>
          <a:noFill/>
        </p:spPr>
        <p:txBody>
          <a:bodyPr wrap="square" lIns="27432" rIns="27432" tIns="27432" bIns="27432" anchor="t">
            <a:noAutofit/>
          </a:bodyPr>
          <a:lstStyle/>
          <a:p>
            <a:pPr algn="l">
              <a:spcBef>
                <a:spcPts val="0"/>
              </a:spcBef>
              <a:spcAft>
                <a:spcPts val="200"/>
              </a:spcAft>
            </a:pPr>
            <a:r>
              <a:rPr sz="1100" b="1">
                <a:solidFill>
                  <a:srgbClr val="FFFFFF"/>
                </a:solidFill>
                <a:latin typeface="Calibri"/>
              </a:rPr>
              <a:t>Muhammad Zainal Muttaqin</a:t>
            </a:r>
          </a:p>
          <a:p>
            <a:pPr algn="l">
              <a:spcBef>
                <a:spcPts val="0"/>
              </a:spcBef>
              <a:spcAft>
                <a:spcPts val="200"/>
              </a:spcAft>
            </a:pPr>
            <a:r>
              <a:rPr sz="1100" b="0">
                <a:solidFill>
                  <a:srgbClr val="DCE8DE"/>
                </a:solidFill>
                <a:latin typeface="Calibri"/>
              </a:rPr>
              <a:t>F. Indriani, S. W. Saputro, A. Rahmi, T. H. Saragih, Hartoni, D. Kartini, N. Said</a:t>
            </a:r>
          </a:p>
          <a:p>
            <a:pPr algn="l">
              <a:spcBef>
                <a:spcPts val="0"/>
              </a:spcBef>
              <a:spcAft>
                <a:spcPts val="0"/>
              </a:spcAft>
            </a:pPr>
            <a:r>
              <a:rPr sz="1100" b="0">
                <a:solidFill>
                  <a:srgbClr val="DCE8DE"/>
                </a:solidFill>
                <a:latin typeface="Calibri"/>
              </a:rPr>
              <a:t>Lambung Mangkurat University, Banjarbaru, Indonesia</a:t>
            </a:r>
          </a:p>
        </p:txBody>
      </p:sp>
      <p:sp>
        <p:nvSpPr>
          <p:cNvPr id="6" name="TextBox 5"/>
          <p:cNvSpPr txBox="1"/>
          <p:nvPr/>
        </p:nvSpPr>
        <p:spPr>
          <a:xfrm>
            <a:off x="457200" y="4526280"/>
            <a:ext cx="4480560" cy="274320"/>
          </a:xfrm>
          <a:prstGeom prst="rect">
            <a:avLst/>
          </a:prstGeom>
          <a:noFill/>
        </p:spPr>
        <p:txBody>
          <a:bodyPr wrap="square" lIns="27432" rIns="27432" tIns="27432" bIns="27432" anchor="t">
            <a:noAutofit/>
          </a:bodyPr>
          <a:lstStyle/>
          <a:p>
            <a:pPr algn="l">
              <a:spcBef>
                <a:spcPts val="0"/>
              </a:spcBef>
              <a:spcAft>
                <a:spcPts val="0"/>
              </a:spcAft>
            </a:pPr>
            <a:r>
              <a:rPr sz="900" b="0">
                <a:solidFill>
                  <a:srgbClr val="A9C9A4"/>
                </a:solidFill>
                <a:latin typeface="Calibri"/>
              </a:rPr>
              <a:t>Paper 057  ·  Funded by BPDP, Indonesia (PRJ-36/BPDP/2026)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0"/>
          </a:xfrm>
          <a:prstGeom prst="rect">
            <a:avLst/>
          </a:prstGeom>
          <a:solidFill>
            <a:srgbClr val="122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6675120" cy="402336"/>
          </a:xfrm>
          <a:prstGeom prst="rect">
            <a:avLst/>
          </a:prstGeom>
          <a:noFill/>
        </p:spPr>
        <p:txBody>
          <a:bodyPr wrap="square" lIns="27432" rIns="27432" tIns="27432" bIns="27432" anchor="ctr">
            <a:noAutofit/>
          </a:bodyPr>
          <a:lstStyle/>
          <a:p>
            <a:pPr algn="l">
              <a:spcBef>
                <a:spcPts val="0"/>
              </a:spcBef>
              <a:spcAft>
                <a:spcPts val="0"/>
              </a:spcAft>
            </a:pPr>
            <a:r>
              <a:rPr sz="2000" b="1">
                <a:solidFill>
                  <a:srgbClr val="FFFFFF"/>
                </a:solidFill>
                <a:latin typeface="Cambria"/>
              </a:rPr>
              <a:t>Problem and research objective</a:t>
            </a:r>
          </a:p>
        </p:txBody>
      </p:sp>
      <p:sp>
        <p:nvSpPr>
          <p:cNvPr id="4" name="TextBox 3"/>
          <p:cNvSpPr txBox="1"/>
          <p:nvPr/>
        </p:nvSpPr>
        <p:spPr>
          <a:xfrm>
            <a:off x="6949440" y="73152"/>
            <a:ext cx="1874519" cy="402336"/>
          </a:xfrm>
          <a:prstGeom prst="rect">
            <a:avLst/>
          </a:prstGeom>
          <a:noFill/>
        </p:spPr>
        <p:txBody>
          <a:bodyPr wrap="square" lIns="27432" rIns="27432" tIns="27432" bIns="27432" anchor="ctr">
            <a:noAutofit/>
          </a:bodyPr>
          <a:lstStyle/>
          <a:p>
            <a:pPr algn="r">
              <a:spcBef>
                <a:spcPts val="0"/>
              </a:spcBef>
              <a:spcAft>
                <a:spcPts val="0"/>
              </a:spcAft>
            </a:pPr>
            <a:r>
              <a:rPr sz="1000" b="1">
                <a:solidFill>
                  <a:srgbClr val="A9C9A4"/>
                </a:solidFill>
                <a:latin typeface="Calibri"/>
              </a:rPr>
              <a:t>1 · Introduction</a:t>
            </a:r>
          </a:p>
        </p:txBody>
      </p:sp>
      <p:sp>
        <p:nvSpPr>
          <p:cNvPr id="5" name="TextBox 4"/>
          <p:cNvSpPr txBox="1"/>
          <p:nvPr/>
        </p:nvSpPr>
        <p:spPr>
          <a:xfrm>
            <a:off x="320040" y="4910328"/>
            <a:ext cx="7680960" cy="182880"/>
          </a:xfrm>
          <a:prstGeom prst="rect">
            <a:avLst/>
          </a:prstGeom>
          <a:noFill/>
        </p:spPr>
        <p:txBody>
          <a:bodyPr wrap="square" lIns="27432" rIns="27432" tIns="27432" bIns="27432" anchor="t">
            <a:noAutofit/>
          </a:bodyPr>
          <a:lstStyle/>
          <a:p>
            <a:pPr algn="l">
              <a:spcBef>
                <a:spcPts val="0"/>
              </a:spcBef>
              <a:spcAft>
                <a:spcPts val="0"/>
              </a:spcAft>
            </a:pPr>
            <a:r>
              <a:rPr sz="750" b="0">
                <a:solidFill>
                  <a:srgbClr val="5B6B62"/>
                </a:solidFill>
                <a:latin typeface="Calibri"/>
              </a:rPr>
              <a:t>Muttaqin et al. · Benchmarking Multi-View Tree-Level Oil Palm Bunch Counting Under a Fixed Detector · ICIC 2026</a:t>
            </a:r>
          </a:p>
        </p:txBody>
      </p:sp>
      <p:sp>
        <p:nvSpPr>
          <p:cNvPr id="6" name="TextBox 5"/>
          <p:cNvSpPr txBox="1"/>
          <p:nvPr/>
        </p:nvSpPr>
        <p:spPr>
          <a:xfrm>
            <a:off x="8229600" y="4910328"/>
            <a:ext cx="594360" cy="182880"/>
          </a:xfrm>
          <a:prstGeom prst="rect">
            <a:avLst/>
          </a:prstGeom>
          <a:noFill/>
        </p:spPr>
        <p:txBody>
          <a:bodyPr wrap="square" lIns="27432" rIns="27432" tIns="27432" bIns="27432" anchor="t">
            <a:noAutofit/>
          </a:bodyPr>
          <a:lstStyle/>
          <a:p>
            <a:pPr algn="r">
              <a:spcBef>
                <a:spcPts val="0"/>
              </a:spcBef>
              <a:spcAft>
                <a:spcPts val="0"/>
              </a:spcAft>
            </a:pPr>
            <a:r>
              <a:rPr sz="800" b="0">
                <a:solidFill>
                  <a:srgbClr val="5B6B62"/>
                </a:solidFill>
                <a:latin typeface="Calibri"/>
              </a:rPr>
              <a:t>2</a:t>
            </a:r>
          </a:p>
        </p:txBody>
      </p:sp>
      <p:sp>
        <p:nvSpPr>
          <p:cNvPr id="7" name="TextBox 6"/>
          <p:cNvSpPr txBox="1"/>
          <p:nvPr/>
        </p:nvSpPr>
        <p:spPr>
          <a:xfrm>
            <a:off x="320040" y="658368"/>
            <a:ext cx="4160520" cy="201168"/>
          </a:xfrm>
          <a:prstGeom prst="rect">
            <a:avLst/>
          </a:prstGeom>
          <a:noFill/>
        </p:spPr>
        <p:txBody>
          <a:bodyPr wrap="square" lIns="27432" rIns="27432" tIns="27432" bIns="27432" anchor="ctr">
            <a:noAutofit/>
          </a:bodyPr>
          <a:lstStyle/>
          <a:p>
            <a:pPr algn="l">
              <a:spcBef>
                <a:spcPts val="0"/>
              </a:spcBef>
              <a:spcAft>
                <a:spcPts val="0"/>
              </a:spcAft>
            </a:pPr>
            <a:r>
              <a:rPr sz="1050" b="1">
                <a:solidFill>
                  <a:srgbClr val="1F4D36"/>
                </a:solidFill>
                <a:latin typeface="Calibri"/>
              </a:rPr>
              <a:t>Black Bunch Census: the plantation survey of bunches on each tree</a:t>
            </a:r>
          </a:p>
        </p:txBody>
      </p:sp>
      <p:pic>
        <p:nvPicPr>
          <p:cNvPr id="8" name="Picture 7" descr="s02_0.jpg"/>
          <p:cNvPicPr>
            <a:picLocks noChangeAspect="1"/>
          </p:cNvPicPr>
          <p:nvPr/>
        </p:nvPicPr>
        <p:blipFill>
          <a:blip r:embed="rId2"/>
          <a:srcRect t="2941" b="2941"/>
          <a:stretch>
            <a:fillRect/>
          </a:stretch>
        </p:blipFill>
        <p:spPr>
          <a:xfrm>
            <a:off x="320040" y="896112"/>
            <a:ext cx="932688" cy="877824"/>
          </a:xfrm>
          <a:prstGeom prst="rect">
            <a:avLst/>
          </a:prstGeom>
        </p:spPr>
      </p:pic>
      <p:sp>
        <p:nvSpPr>
          <p:cNvPr id="9" name="Rounded Rectangle 8"/>
          <p:cNvSpPr/>
          <p:nvPr/>
        </p:nvSpPr>
        <p:spPr>
          <a:xfrm>
            <a:off x="356615" y="932688"/>
            <a:ext cx="329184" cy="182880"/>
          </a:xfrm>
          <a:prstGeom prst="roundRect">
            <a:avLst>
              <a:gd name="adj" fmla="val 20000"/>
            </a:avLst>
          </a:prstGeom>
          <a:solidFill>
            <a:srgbClr val="1F4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5" y="932688"/>
            <a:ext cx="329184" cy="182880"/>
          </a:xfrm>
          <a:prstGeom prst="rect">
            <a:avLst/>
          </a:prstGeom>
          <a:noFill/>
        </p:spPr>
        <p:txBody>
          <a:bodyPr wrap="square" lIns="27432" rIns="27432" tIns="27432" bIns="27432" anchor="ctr">
            <a:noAutofit/>
          </a:bodyPr>
          <a:lstStyle/>
          <a:p>
            <a:pPr algn="ctr">
              <a:spcBef>
                <a:spcPts val="0"/>
              </a:spcBef>
              <a:spcAft>
                <a:spcPts val="0"/>
              </a:spcAft>
            </a:pPr>
            <a:r>
              <a:rPr sz="900" b="1">
                <a:solidFill>
                  <a:srgbClr val="FFFFFF"/>
                </a:solidFill>
                <a:latin typeface="Calibri"/>
              </a:rPr>
              <a:t>B1</a:t>
            </a:r>
          </a:p>
        </p:txBody>
      </p:sp>
      <p:sp>
        <p:nvSpPr>
          <p:cNvPr id="11" name="TextBox 10"/>
          <p:cNvSpPr txBox="1"/>
          <p:nvPr/>
        </p:nvSpPr>
        <p:spPr>
          <a:xfrm>
            <a:off x="274320" y="1783080"/>
            <a:ext cx="1024128" cy="365760"/>
          </a:xfrm>
          <a:prstGeom prst="rect">
            <a:avLst/>
          </a:prstGeom>
          <a:noFill/>
        </p:spPr>
        <p:txBody>
          <a:bodyPr wrap="square" lIns="27432" rIns="27432" tIns="27432" bIns="27432" anchor="t">
            <a:noAutofit/>
          </a:bodyPr>
          <a:lstStyle/>
          <a:p>
            <a:pPr algn="ctr">
              <a:spcBef>
                <a:spcPts val="0"/>
              </a:spcBef>
              <a:spcAft>
                <a:spcPts val="0"/>
              </a:spcAft>
            </a:pPr>
            <a:r>
              <a:rPr sz="950" b="1">
                <a:solidFill>
                  <a:srgbClr val="1E2B24"/>
                </a:solidFill>
                <a:latin typeface="Calibri"/>
              </a:rPr>
              <a:t>Ripe</a:t>
            </a:r>
          </a:p>
          <a:p>
            <a:pPr algn="ctr">
              <a:spcBef>
                <a:spcPts val="0"/>
              </a:spcBef>
              <a:spcAft>
                <a:spcPts val="0"/>
              </a:spcAft>
            </a:pPr>
            <a:r>
              <a:rPr sz="850" b="0">
                <a:solidFill>
                  <a:srgbClr val="5B6B62"/>
                </a:solidFill>
                <a:latin typeface="Calibri"/>
              </a:rPr>
              <a:t>Red, large, round</a:t>
            </a:r>
          </a:p>
        </p:txBody>
      </p:sp>
      <p:pic>
        <p:nvPicPr>
          <p:cNvPr id="12" name="Picture 11" descr="s02_1.jpg"/>
          <p:cNvPicPr>
            <a:picLocks noChangeAspect="1"/>
          </p:cNvPicPr>
          <p:nvPr/>
        </p:nvPicPr>
        <p:blipFill>
          <a:blip r:embed="rId3"/>
          <a:srcRect t="2941" b="2941"/>
          <a:stretch>
            <a:fillRect/>
          </a:stretch>
        </p:blipFill>
        <p:spPr>
          <a:xfrm>
            <a:off x="1362455" y="896112"/>
            <a:ext cx="932688" cy="877824"/>
          </a:xfrm>
          <a:prstGeom prst="rect">
            <a:avLst/>
          </a:prstGeom>
        </p:spPr>
      </p:pic>
      <p:sp>
        <p:nvSpPr>
          <p:cNvPr id="13" name="Rounded Rectangle 12"/>
          <p:cNvSpPr/>
          <p:nvPr/>
        </p:nvSpPr>
        <p:spPr>
          <a:xfrm>
            <a:off x="1399031" y="932688"/>
            <a:ext cx="329184" cy="182880"/>
          </a:xfrm>
          <a:prstGeom prst="roundRect">
            <a:avLst>
              <a:gd name="adj" fmla="val 20000"/>
            </a:avLst>
          </a:prstGeom>
          <a:solidFill>
            <a:srgbClr val="1F4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99031" y="932688"/>
            <a:ext cx="329184" cy="182880"/>
          </a:xfrm>
          <a:prstGeom prst="rect">
            <a:avLst/>
          </a:prstGeom>
          <a:noFill/>
        </p:spPr>
        <p:txBody>
          <a:bodyPr wrap="square" lIns="27432" rIns="27432" tIns="27432" bIns="27432" anchor="ctr">
            <a:noAutofit/>
          </a:bodyPr>
          <a:lstStyle/>
          <a:p>
            <a:pPr algn="ctr">
              <a:spcBef>
                <a:spcPts val="0"/>
              </a:spcBef>
              <a:spcAft>
                <a:spcPts val="0"/>
              </a:spcAft>
            </a:pPr>
            <a:r>
              <a:rPr sz="900" b="1">
                <a:solidFill>
                  <a:srgbClr val="FFFFFF"/>
                </a:solidFill>
                <a:latin typeface="Calibri"/>
              </a:rPr>
              <a:t>B2</a:t>
            </a:r>
          </a:p>
        </p:txBody>
      </p:sp>
      <p:sp>
        <p:nvSpPr>
          <p:cNvPr id="15" name="TextBox 14"/>
          <p:cNvSpPr txBox="1"/>
          <p:nvPr/>
        </p:nvSpPr>
        <p:spPr>
          <a:xfrm>
            <a:off x="1316735" y="1783080"/>
            <a:ext cx="1024128" cy="365760"/>
          </a:xfrm>
          <a:prstGeom prst="rect">
            <a:avLst/>
          </a:prstGeom>
          <a:noFill/>
        </p:spPr>
        <p:txBody>
          <a:bodyPr wrap="square" lIns="27432" rIns="27432" tIns="27432" bIns="27432" anchor="t">
            <a:noAutofit/>
          </a:bodyPr>
          <a:lstStyle/>
          <a:p>
            <a:pPr algn="ctr">
              <a:spcBef>
                <a:spcPts val="0"/>
              </a:spcBef>
              <a:spcAft>
                <a:spcPts val="0"/>
              </a:spcAft>
            </a:pPr>
            <a:r>
              <a:rPr sz="950" b="1">
                <a:solidFill>
                  <a:srgbClr val="1E2B24"/>
                </a:solidFill>
                <a:latin typeface="Calibri"/>
              </a:rPr>
              <a:t>Transitioning</a:t>
            </a:r>
          </a:p>
          <a:p>
            <a:pPr algn="ctr">
              <a:spcBef>
                <a:spcPts val="0"/>
              </a:spcBef>
              <a:spcAft>
                <a:spcPts val="0"/>
              </a:spcAft>
            </a:pPr>
            <a:r>
              <a:rPr sz="850" b="0">
                <a:solidFill>
                  <a:srgbClr val="5B6B62"/>
                </a:solidFill>
                <a:latin typeface="Calibri"/>
              </a:rPr>
              <a:t>Dark, turning red</a:t>
            </a:r>
          </a:p>
        </p:txBody>
      </p:sp>
      <p:pic>
        <p:nvPicPr>
          <p:cNvPr id="16" name="Picture 15" descr="s02_2.jpg"/>
          <p:cNvPicPr>
            <a:picLocks noChangeAspect="1"/>
          </p:cNvPicPr>
          <p:nvPr/>
        </p:nvPicPr>
        <p:blipFill>
          <a:blip r:embed="rId4"/>
          <a:srcRect t="2941" b="2941"/>
          <a:stretch>
            <a:fillRect/>
          </a:stretch>
        </p:blipFill>
        <p:spPr>
          <a:xfrm>
            <a:off x="2404872" y="896112"/>
            <a:ext cx="932688" cy="877824"/>
          </a:xfrm>
          <a:prstGeom prst="rect">
            <a:avLst/>
          </a:prstGeom>
        </p:spPr>
      </p:pic>
      <p:sp>
        <p:nvSpPr>
          <p:cNvPr id="17" name="Rounded Rectangle 16"/>
          <p:cNvSpPr/>
          <p:nvPr/>
        </p:nvSpPr>
        <p:spPr>
          <a:xfrm>
            <a:off x="2441448" y="932688"/>
            <a:ext cx="329184" cy="182880"/>
          </a:xfrm>
          <a:prstGeom prst="roundRect">
            <a:avLst>
              <a:gd name="adj" fmla="val 20000"/>
            </a:avLst>
          </a:prstGeom>
          <a:solidFill>
            <a:srgbClr val="1F4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441448" y="932688"/>
            <a:ext cx="329184" cy="182880"/>
          </a:xfrm>
          <a:prstGeom prst="rect">
            <a:avLst/>
          </a:prstGeom>
          <a:noFill/>
        </p:spPr>
        <p:txBody>
          <a:bodyPr wrap="square" lIns="27432" rIns="27432" tIns="27432" bIns="27432" anchor="ctr">
            <a:noAutofit/>
          </a:bodyPr>
          <a:lstStyle/>
          <a:p>
            <a:pPr algn="ctr">
              <a:spcBef>
                <a:spcPts val="0"/>
              </a:spcBef>
              <a:spcAft>
                <a:spcPts val="0"/>
              </a:spcAft>
            </a:pPr>
            <a:r>
              <a:rPr sz="900" b="1">
                <a:solidFill>
                  <a:srgbClr val="FFFFFF"/>
                </a:solidFill>
                <a:latin typeface="Calibri"/>
              </a:rPr>
              <a:t>B3</a:t>
            </a:r>
          </a:p>
        </p:txBody>
      </p:sp>
      <p:sp>
        <p:nvSpPr>
          <p:cNvPr id="19" name="TextBox 18"/>
          <p:cNvSpPr txBox="1"/>
          <p:nvPr/>
        </p:nvSpPr>
        <p:spPr>
          <a:xfrm>
            <a:off x="2359152" y="1783080"/>
            <a:ext cx="1024128" cy="365760"/>
          </a:xfrm>
          <a:prstGeom prst="rect">
            <a:avLst/>
          </a:prstGeom>
          <a:noFill/>
        </p:spPr>
        <p:txBody>
          <a:bodyPr wrap="square" lIns="27432" rIns="27432" tIns="27432" bIns="27432" anchor="t">
            <a:noAutofit/>
          </a:bodyPr>
          <a:lstStyle/>
          <a:p>
            <a:pPr algn="ctr">
              <a:spcBef>
                <a:spcPts val="0"/>
              </a:spcBef>
              <a:spcAft>
                <a:spcPts val="0"/>
              </a:spcAft>
            </a:pPr>
            <a:r>
              <a:rPr sz="950" b="1">
                <a:solidFill>
                  <a:srgbClr val="1E2B24"/>
                </a:solidFill>
                <a:latin typeface="Calibri"/>
              </a:rPr>
              <a:t>Unripe</a:t>
            </a:r>
          </a:p>
          <a:p>
            <a:pPr algn="ctr">
              <a:spcBef>
                <a:spcPts val="0"/>
              </a:spcBef>
              <a:spcAft>
                <a:spcPts val="0"/>
              </a:spcAft>
            </a:pPr>
            <a:r>
              <a:rPr sz="850" b="0">
                <a:solidFill>
                  <a:srgbClr val="5B6B62"/>
                </a:solidFill>
                <a:latin typeface="Calibri"/>
              </a:rPr>
              <a:t>Black, spiny</a:t>
            </a:r>
          </a:p>
        </p:txBody>
      </p:sp>
      <p:pic>
        <p:nvPicPr>
          <p:cNvPr id="20" name="Picture 19" descr="s02_3.jpg"/>
          <p:cNvPicPr>
            <a:picLocks noChangeAspect="1"/>
          </p:cNvPicPr>
          <p:nvPr/>
        </p:nvPicPr>
        <p:blipFill>
          <a:blip r:embed="rId5"/>
          <a:srcRect t="2941" b="2941"/>
          <a:stretch>
            <a:fillRect/>
          </a:stretch>
        </p:blipFill>
        <p:spPr>
          <a:xfrm>
            <a:off x="3447288" y="896112"/>
            <a:ext cx="932688" cy="877824"/>
          </a:xfrm>
          <a:prstGeom prst="rect">
            <a:avLst/>
          </a:prstGeom>
        </p:spPr>
      </p:pic>
      <p:sp>
        <p:nvSpPr>
          <p:cNvPr id="21" name="Rounded Rectangle 20"/>
          <p:cNvSpPr/>
          <p:nvPr/>
        </p:nvSpPr>
        <p:spPr>
          <a:xfrm>
            <a:off x="3483864" y="932688"/>
            <a:ext cx="329184" cy="182880"/>
          </a:xfrm>
          <a:prstGeom prst="roundRect">
            <a:avLst>
              <a:gd name="adj" fmla="val 20000"/>
            </a:avLst>
          </a:prstGeom>
          <a:solidFill>
            <a:srgbClr val="1F4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83864" y="932688"/>
            <a:ext cx="329184" cy="182880"/>
          </a:xfrm>
          <a:prstGeom prst="rect">
            <a:avLst/>
          </a:prstGeom>
          <a:noFill/>
        </p:spPr>
        <p:txBody>
          <a:bodyPr wrap="square" lIns="27432" rIns="27432" tIns="27432" bIns="27432" anchor="ctr">
            <a:noAutofit/>
          </a:bodyPr>
          <a:lstStyle/>
          <a:p>
            <a:pPr algn="ctr">
              <a:spcBef>
                <a:spcPts val="0"/>
              </a:spcBef>
              <a:spcAft>
                <a:spcPts val="0"/>
              </a:spcAft>
            </a:pPr>
            <a:r>
              <a:rPr sz="900" b="1">
                <a:solidFill>
                  <a:srgbClr val="FFFFFF"/>
                </a:solidFill>
                <a:latin typeface="Calibri"/>
              </a:rPr>
              <a:t>B4</a:t>
            </a:r>
          </a:p>
        </p:txBody>
      </p:sp>
      <p:sp>
        <p:nvSpPr>
          <p:cNvPr id="23" name="TextBox 22"/>
          <p:cNvSpPr txBox="1"/>
          <p:nvPr/>
        </p:nvSpPr>
        <p:spPr>
          <a:xfrm>
            <a:off x="3401568" y="1783080"/>
            <a:ext cx="1024128" cy="365760"/>
          </a:xfrm>
          <a:prstGeom prst="rect">
            <a:avLst/>
          </a:prstGeom>
          <a:noFill/>
        </p:spPr>
        <p:txBody>
          <a:bodyPr wrap="square" lIns="27432" rIns="27432" tIns="27432" bIns="27432" anchor="t">
            <a:noAutofit/>
          </a:bodyPr>
          <a:lstStyle/>
          <a:p>
            <a:pPr algn="ctr">
              <a:spcBef>
                <a:spcPts val="0"/>
              </a:spcBef>
              <a:spcAft>
                <a:spcPts val="0"/>
              </a:spcAft>
            </a:pPr>
            <a:r>
              <a:rPr sz="950" b="1">
                <a:solidFill>
                  <a:srgbClr val="1E2B24"/>
                </a:solidFill>
                <a:latin typeface="Calibri"/>
              </a:rPr>
              <a:t>Very unripe</a:t>
            </a:r>
          </a:p>
          <a:p>
            <a:pPr algn="ctr">
              <a:spcBef>
                <a:spcPts val="0"/>
              </a:spcBef>
              <a:spcAft>
                <a:spcPts val="0"/>
              </a:spcAft>
            </a:pPr>
            <a:r>
              <a:rPr sz="850" b="0">
                <a:solidFill>
                  <a:srgbClr val="5B6B62"/>
                </a:solidFill>
                <a:latin typeface="Calibri"/>
              </a:rPr>
              <a:t>Small, black to green</a:t>
            </a:r>
          </a:p>
        </p:txBody>
      </p:sp>
      <p:sp>
        <p:nvSpPr>
          <p:cNvPr id="24" name="TextBox 23"/>
          <p:cNvSpPr txBox="1"/>
          <p:nvPr/>
        </p:nvSpPr>
        <p:spPr>
          <a:xfrm>
            <a:off x="320040" y="2194560"/>
            <a:ext cx="4160520" cy="932688"/>
          </a:xfrm>
          <a:prstGeom prst="rect">
            <a:avLst/>
          </a:prstGeom>
          <a:noFill/>
        </p:spPr>
        <p:txBody>
          <a:bodyPr wrap="square" lIns="27432" rIns="27432" tIns="27432" bIns="27432" anchor="t">
            <a:noAutofit/>
          </a:bodyPr>
          <a:lstStyle/>
          <a:p>
            <a:pPr algn="l" marL="118872" indent="-118872">
              <a:spcBef>
                <a:spcPts val="0"/>
              </a:spcBef>
              <a:spcAft>
                <a:spcPts val="300"/>
              </a:spcAft>
              <a:buChar char="•"/>
            </a:pPr>
            <a:r>
              <a:rPr sz="1000" b="0">
                <a:solidFill>
                  <a:srgbClr val="1E2B24"/>
                </a:solidFill>
                <a:latin typeface="Calibri"/>
              </a:rPr>
              <a:t>The survey sorts every bunch on a tree into four maturity classes, B1 (ripe) to B4 (very unripe).</a:t>
            </a:r>
          </a:p>
          <a:p>
            <a:pPr algn="l" marL="118872" indent="-118872">
              <a:spcBef>
                <a:spcPts val="0"/>
              </a:spcBef>
              <a:spcAft>
                <a:spcPts val="300"/>
              </a:spcAft>
              <a:buChar char="•"/>
            </a:pPr>
            <a:r>
              <a:rPr sz="1000" b="0">
                <a:solidFill>
                  <a:srgbClr val="1E2B24"/>
                </a:solidFill>
                <a:latin typeface="Calibri"/>
              </a:rPr>
              <a:t>Managers use the count of each class on every tree to plan the harvest.</a:t>
            </a:r>
          </a:p>
          <a:p>
            <a:pPr algn="l" marL="118872" indent="-118872">
              <a:spcBef>
                <a:spcPts val="0"/>
              </a:spcBef>
              <a:spcAft>
                <a:spcPts val="0"/>
              </a:spcAft>
              <a:buChar char="•"/>
            </a:pPr>
            <a:r>
              <a:rPr sz="1000" b="0">
                <a:solidFill>
                  <a:srgbClr val="1E2B24"/>
                </a:solidFill>
                <a:latin typeface="Calibri"/>
              </a:rPr>
              <a:t>Today workers count by eye, tree by tree. We want to count from photos.</a:t>
            </a:r>
          </a:p>
        </p:txBody>
      </p:sp>
      <p:sp>
        <p:nvSpPr>
          <p:cNvPr id="25" name="TextBox 24"/>
          <p:cNvSpPr txBox="1"/>
          <p:nvPr/>
        </p:nvSpPr>
        <p:spPr>
          <a:xfrm>
            <a:off x="4663440" y="658368"/>
            <a:ext cx="4160520" cy="201168"/>
          </a:xfrm>
          <a:prstGeom prst="rect">
            <a:avLst/>
          </a:prstGeom>
          <a:noFill/>
        </p:spPr>
        <p:txBody>
          <a:bodyPr wrap="square" lIns="27432" rIns="27432" tIns="27432" bIns="27432" anchor="ctr">
            <a:noAutofit/>
          </a:bodyPr>
          <a:lstStyle/>
          <a:p>
            <a:pPr algn="l">
              <a:spcBef>
                <a:spcPts val="0"/>
              </a:spcBef>
              <a:spcAft>
                <a:spcPts val="0"/>
              </a:spcAft>
            </a:pPr>
            <a:r>
              <a:rPr sz="1050" b="1">
                <a:solidFill>
                  <a:srgbClr val="1F4D36"/>
                </a:solidFill>
                <a:latin typeface="Calibri"/>
              </a:rPr>
              <a:t>One tree, several photos: the same bunch is seen again</a:t>
            </a:r>
          </a:p>
        </p:txBody>
      </p:sp>
      <p:pic>
        <p:nvPicPr>
          <p:cNvPr id="26" name="Picture 25" descr="s04_0.png"/>
          <p:cNvPicPr>
            <a:picLocks noChangeAspect="1"/>
          </p:cNvPicPr>
          <p:nvPr/>
        </p:nvPicPr>
        <p:blipFill>
          <a:blip r:embed="rId6"/>
          <a:srcRect t="2206" b="2206"/>
          <a:stretch>
            <a:fillRect/>
          </a:stretch>
        </p:blipFill>
        <p:spPr>
          <a:xfrm>
            <a:off x="4663440" y="896112"/>
            <a:ext cx="1243584" cy="1188720"/>
          </a:xfrm>
          <a:prstGeom prst="rect">
            <a:avLst/>
          </a:prstGeom>
        </p:spPr>
      </p:pic>
      <p:sp>
        <p:nvSpPr>
          <p:cNvPr id="27" name="Rounded Rectangle 26"/>
          <p:cNvSpPr/>
          <p:nvPr/>
        </p:nvSpPr>
        <p:spPr>
          <a:xfrm>
            <a:off x="4700016" y="932688"/>
            <a:ext cx="548640" cy="182880"/>
          </a:xfrm>
          <a:prstGeom prst="roundRect">
            <a:avLst>
              <a:gd name="adj" fmla="val 20000"/>
            </a:avLst>
          </a:prstGeom>
          <a:solidFill>
            <a:srgbClr val="122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932688"/>
            <a:ext cx="548640" cy="182880"/>
          </a:xfrm>
          <a:prstGeom prst="rect">
            <a:avLst/>
          </a:prstGeom>
          <a:noFill/>
        </p:spPr>
        <p:txBody>
          <a:bodyPr wrap="square" lIns="27432" rIns="27432" tIns="27432" bIns="27432" anchor="ctr">
            <a:noAutofit/>
          </a:bodyPr>
          <a:lstStyle/>
          <a:p>
            <a:pPr algn="ctr">
              <a:spcBef>
                <a:spcPts val="0"/>
              </a:spcBef>
              <a:spcAft>
                <a:spcPts val="0"/>
              </a:spcAft>
            </a:pPr>
            <a:r>
              <a:rPr sz="850" b="1">
                <a:solidFill>
                  <a:srgbClr val="FFFFFF"/>
                </a:solidFill>
                <a:latin typeface="Calibri"/>
              </a:rPr>
              <a:t>Photo 1</a:t>
            </a:r>
          </a:p>
        </p:txBody>
      </p:sp>
      <p:pic>
        <p:nvPicPr>
          <p:cNvPr id="29" name="Picture 28" descr="s04_1.png"/>
          <p:cNvPicPr>
            <a:picLocks noChangeAspect="1"/>
          </p:cNvPicPr>
          <p:nvPr/>
        </p:nvPicPr>
        <p:blipFill>
          <a:blip r:embed="rId7"/>
          <a:srcRect t="2206" b="2206"/>
          <a:stretch>
            <a:fillRect/>
          </a:stretch>
        </p:blipFill>
        <p:spPr>
          <a:xfrm>
            <a:off x="6121907" y="896112"/>
            <a:ext cx="1243584" cy="1188720"/>
          </a:xfrm>
          <a:prstGeom prst="rect">
            <a:avLst/>
          </a:prstGeom>
        </p:spPr>
      </p:pic>
      <p:sp>
        <p:nvSpPr>
          <p:cNvPr id="30" name="Rounded Rectangle 29"/>
          <p:cNvSpPr/>
          <p:nvPr/>
        </p:nvSpPr>
        <p:spPr>
          <a:xfrm>
            <a:off x="6158483" y="932688"/>
            <a:ext cx="548640" cy="182880"/>
          </a:xfrm>
          <a:prstGeom prst="roundRect">
            <a:avLst>
              <a:gd name="adj" fmla="val 20000"/>
            </a:avLst>
          </a:prstGeom>
          <a:solidFill>
            <a:srgbClr val="122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58483" y="932688"/>
            <a:ext cx="548640" cy="182880"/>
          </a:xfrm>
          <a:prstGeom prst="rect">
            <a:avLst/>
          </a:prstGeom>
          <a:noFill/>
        </p:spPr>
        <p:txBody>
          <a:bodyPr wrap="square" lIns="27432" rIns="27432" tIns="27432" bIns="27432" anchor="ctr">
            <a:noAutofit/>
          </a:bodyPr>
          <a:lstStyle/>
          <a:p>
            <a:pPr algn="ctr">
              <a:spcBef>
                <a:spcPts val="0"/>
              </a:spcBef>
              <a:spcAft>
                <a:spcPts val="0"/>
              </a:spcAft>
            </a:pPr>
            <a:r>
              <a:rPr sz="850" b="1">
                <a:solidFill>
                  <a:srgbClr val="FFFFFF"/>
                </a:solidFill>
                <a:latin typeface="Calibri"/>
              </a:rPr>
              <a:t>Photo 2</a:t>
            </a:r>
          </a:p>
        </p:txBody>
      </p:sp>
      <p:pic>
        <p:nvPicPr>
          <p:cNvPr id="32" name="Picture 31" descr="s04_2.png"/>
          <p:cNvPicPr>
            <a:picLocks noChangeAspect="1"/>
          </p:cNvPicPr>
          <p:nvPr/>
        </p:nvPicPr>
        <p:blipFill>
          <a:blip r:embed="rId8"/>
          <a:srcRect t="2206" b="2206"/>
          <a:stretch>
            <a:fillRect/>
          </a:stretch>
        </p:blipFill>
        <p:spPr>
          <a:xfrm>
            <a:off x="7580375" y="896112"/>
            <a:ext cx="1243584" cy="1188720"/>
          </a:xfrm>
          <a:prstGeom prst="rect">
            <a:avLst/>
          </a:prstGeom>
        </p:spPr>
      </p:pic>
      <p:sp>
        <p:nvSpPr>
          <p:cNvPr id="33" name="Rounded Rectangle 32"/>
          <p:cNvSpPr/>
          <p:nvPr/>
        </p:nvSpPr>
        <p:spPr>
          <a:xfrm>
            <a:off x="7616951" y="932688"/>
            <a:ext cx="548640" cy="182880"/>
          </a:xfrm>
          <a:prstGeom prst="roundRect">
            <a:avLst>
              <a:gd name="adj" fmla="val 20000"/>
            </a:avLst>
          </a:prstGeom>
          <a:solidFill>
            <a:srgbClr val="122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16951" y="932688"/>
            <a:ext cx="548640" cy="182880"/>
          </a:xfrm>
          <a:prstGeom prst="rect">
            <a:avLst/>
          </a:prstGeom>
          <a:noFill/>
        </p:spPr>
        <p:txBody>
          <a:bodyPr wrap="square" lIns="27432" rIns="27432" tIns="27432" bIns="27432" anchor="ctr">
            <a:noAutofit/>
          </a:bodyPr>
          <a:lstStyle/>
          <a:p>
            <a:pPr algn="ctr">
              <a:spcBef>
                <a:spcPts val="0"/>
              </a:spcBef>
              <a:spcAft>
                <a:spcPts val="0"/>
              </a:spcAft>
            </a:pPr>
            <a:r>
              <a:rPr sz="850" b="1">
                <a:solidFill>
                  <a:srgbClr val="FFFFFF"/>
                </a:solidFill>
                <a:latin typeface="Calibri"/>
              </a:rPr>
              <a:t>Photo 3</a:t>
            </a:r>
          </a:p>
        </p:txBody>
      </p:sp>
      <p:sp>
        <p:nvSpPr>
          <p:cNvPr id="35" name="TextBox 34"/>
          <p:cNvSpPr txBox="1"/>
          <p:nvPr/>
        </p:nvSpPr>
        <p:spPr>
          <a:xfrm>
            <a:off x="4663440" y="2093976"/>
            <a:ext cx="4160520" cy="201168"/>
          </a:xfrm>
          <a:prstGeom prst="rect">
            <a:avLst/>
          </a:prstGeom>
          <a:noFill/>
        </p:spPr>
        <p:txBody>
          <a:bodyPr wrap="square" lIns="27432" rIns="27432" tIns="27432" bIns="27432" anchor="t">
            <a:noAutofit/>
          </a:bodyPr>
          <a:lstStyle/>
          <a:p>
            <a:pPr algn="ctr">
              <a:spcBef>
                <a:spcPts val="0"/>
              </a:spcBef>
              <a:spcAft>
                <a:spcPts val="0"/>
              </a:spcAft>
            </a:pPr>
            <a:r>
              <a:rPr sz="950" b="0">
                <a:solidFill>
                  <a:srgbClr val="5B6B62"/>
                </a:solidFill>
                <a:latin typeface="Calibri"/>
              </a:rPr>
              <a:t>The orange box marks one B3 bunch: 3 boxes in 3 photos, but only 1 bunch</a:t>
            </a:r>
          </a:p>
        </p:txBody>
      </p:sp>
      <p:sp>
        <p:nvSpPr>
          <p:cNvPr id="36" name="Rounded Rectangle 35"/>
          <p:cNvSpPr/>
          <p:nvPr/>
        </p:nvSpPr>
        <p:spPr>
          <a:xfrm>
            <a:off x="4663440" y="2359152"/>
            <a:ext cx="2011680" cy="768096"/>
          </a:xfrm>
          <a:prstGeom prst="roundRect">
            <a:avLst>
              <a:gd name="adj" fmla="val 7142"/>
            </a:avLst>
          </a:prstGeom>
          <a:solidFill>
            <a:srgbClr val="FBE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54879" y="2377440"/>
            <a:ext cx="1828800" cy="731520"/>
          </a:xfrm>
          <a:prstGeom prst="rect">
            <a:avLst/>
          </a:prstGeom>
          <a:noFill/>
        </p:spPr>
        <p:txBody>
          <a:bodyPr wrap="square" lIns="27432" rIns="27432" tIns="27432" bIns="27432" anchor="ctr">
            <a:noAutofit/>
          </a:bodyPr>
          <a:lstStyle/>
          <a:p>
            <a:pPr algn="l">
              <a:spcBef>
                <a:spcPts val="0"/>
              </a:spcBef>
              <a:spcAft>
                <a:spcPts val="0"/>
              </a:spcAft>
            </a:pPr>
            <a:r>
              <a:rPr sz="1900" b="1">
                <a:solidFill>
                  <a:srgbClr val="C8511B"/>
                </a:solidFill>
                <a:latin typeface="Cambria"/>
              </a:rPr>
              <a:t>1.89×</a:t>
            </a:r>
          </a:p>
          <a:p>
            <a:pPr algn="l">
              <a:spcBef>
                <a:spcPts val="0"/>
              </a:spcBef>
              <a:spcAft>
                <a:spcPts val="0"/>
              </a:spcAft>
            </a:pPr>
            <a:r>
              <a:rPr sz="950" b="0">
                <a:solidFill>
                  <a:srgbClr val="1E2B24"/>
                </a:solidFill>
                <a:latin typeface="Calibri"/>
              </a:rPr>
              <a:t>average number of photos in which one bunch appears</a:t>
            </a:r>
          </a:p>
        </p:txBody>
      </p:sp>
      <p:sp>
        <p:nvSpPr>
          <p:cNvPr id="38" name="Rounded Rectangle 37"/>
          <p:cNvSpPr/>
          <p:nvPr/>
        </p:nvSpPr>
        <p:spPr>
          <a:xfrm>
            <a:off x="6766560" y="2359152"/>
            <a:ext cx="2057400" cy="768096"/>
          </a:xfrm>
          <a:prstGeom prst="roundRect">
            <a:avLst>
              <a:gd name="adj" fmla="val 7142"/>
            </a:avLst>
          </a:prstGeom>
          <a:solidFill>
            <a:srgbClr val="FBE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0" y="2377440"/>
            <a:ext cx="1874519" cy="731520"/>
          </a:xfrm>
          <a:prstGeom prst="rect">
            <a:avLst/>
          </a:prstGeom>
          <a:noFill/>
        </p:spPr>
        <p:txBody>
          <a:bodyPr wrap="square" lIns="27432" rIns="27432" tIns="27432" bIns="27432" anchor="ctr">
            <a:noAutofit/>
          </a:bodyPr>
          <a:lstStyle/>
          <a:p>
            <a:pPr algn="l">
              <a:spcBef>
                <a:spcPts val="0"/>
              </a:spcBef>
              <a:spcAft>
                <a:spcPts val="0"/>
              </a:spcAft>
            </a:pPr>
            <a:r>
              <a:rPr sz="1900" b="1">
                <a:solidFill>
                  <a:srgbClr val="C8511B"/>
                </a:solidFill>
                <a:latin typeface="Cambria"/>
              </a:rPr>
              <a:t>50%</a:t>
            </a:r>
          </a:p>
          <a:p>
            <a:pPr algn="l">
              <a:spcBef>
                <a:spcPts val="0"/>
              </a:spcBef>
              <a:spcAft>
                <a:spcPts val="0"/>
              </a:spcAft>
            </a:pPr>
            <a:r>
              <a:rPr sz="950" b="0">
                <a:solidFill>
                  <a:srgbClr val="1E2B24"/>
                </a:solidFill>
                <a:latin typeface="Calibri"/>
              </a:rPr>
              <a:t>of the class counts are right when all boxes are simply added up</a:t>
            </a:r>
          </a:p>
        </p:txBody>
      </p:sp>
      <p:sp>
        <p:nvSpPr>
          <p:cNvPr id="40" name="TextBox 39"/>
          <p:cNvSpPr txBox="1"/>
          <p:nvPr/>
        </p:nvSpPr>
        <p:spPr>
          <a:xfrm>
            <a:off x="320040" y="3172968"/>
            <a:ext cx="8503920" cy="201168"/>
          </a:xfrm>
          <a:prstGeom prst="rect">
            <a:avLst/>
          </a:prstGeom>
          <a:noFill/>
        </p:spPr>
        <p:txBody>
          <a:bodyPr wrap="square" lIns="27432" rIns="27432" tIns="27432" bIns="27432" anchor="ctr">
            <a:noAutofit/>
          </a:bodyPr>
          <a:lstStyle/>
          <a:p>
            <a:pPr algn="l">
              <a:spcBef>
                <a:spcPts val="0"/>
              </a:spcBef>
              <a:spcAft>
                <a:spcPts val="0"/>
              </a:spcAft>
            </a:pPr>
            <a:r>
              <a:rPr sz="1050" b="1">
                <a:solidFill>
                  <a:srgbClr val="1F4D36"/>
                </a:solidFill>
                <a:latin typeface="Calibri"/>
              </a:rPr>
              <a:t>How an automatic count works: two parts, and either part can cause the error</a:t>
            </a:r>
          </a:p>
        </p:txBody>
      </p:sp>
      <p:sp>
        <p:nvSpPr>
          <p:cNvPr id="41" name="Rounded Rectangle 40"/>
          <p:cNvSpPr/>
          <p:nvPr/>
        </p:nvSpPr>
        <p:spPr>
          <a:xfrm>
            <a:off x="320040" y="3401568"/>
            <a:ext cx="1600200" cy="512064"/>
          </a:xfrm>
          <a:prstGeom prst="roundRect">
            <a:avLst>
              <a:gd name="adj" fmla="val 8928"/>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74904" y="3410712"/>
            <a:ext cx="1490472" cy="493776"/>
          </a:xfrm>
          <a:prstGeom prst="rect">
            <a:avLst/>
          </a:prstGeom>
          <a:noFill/>
        </p:spPr>
        <p:txBody>
          <a:bodyPr wrap="square" lIns="27432" rIns="27432" tIns="27432" bIns="27432" anchor="ctr">
            <a:noAutofit/>
          </a:bodyPr>
          <a:lstStyle/>
          <a:p>
            <a:pPr algn="l">
              <a:spcBef>
                <a:spcPts val="0"/>
              </a:spcBef>
              <a:spcAft>
                <a:spcPts val="0"/>
              </a:spcAft>
            </a:pPr>
            <a:r>
              <a:rPr sz="1000" b="1">
                <a:solidFill>
                  <a:srgbClr val="1E2B24"/>
                </a:solidFill>
                <a:latin typeface="Calibri"/>
              </a:rPr>
              <a:t>Photos of one tree</a:t>
            </a:r>
          </a:p>
          <a:p>
            <a:pPr algn="l">
              <a:spcBef>
                <a:spcPts val="0"/>
              </a:spcBef>
              <a:spcAft>
                <a:spcPts val="0"/>
              </a:spcAft>
            </a:pPr>
            <a:r>
              <a:rPr sz="850" b="0">
                <a:solidFill>
                  <a:srgbClr val="1E2B24"/>
                </a:solidFill>
                <a:latin typeface="Calibri"/>
              </a:rPr>
              <a:t>4 sides (8 sides for 45 trees)</a:t>
            </a:r>
          </a:p>
        </p:txBody>
      </p:sp>
      <p:sp>
        <p:nvSpPr>
          <p:cNvPr id="43" name="TextBox 42"/>
          <p:cNvSpPr txBox="1"/>
          <p:nvPr/>
        </p:nvSpPr>
        <p:spPr>
          <a:xfrm>
            <a:off x="1920240" y="3401568"/>
            <a:ext cx="246888" cy="512064"/>
          </a:xfrm>
          <a:prstGeom prst="rect">
            <a:avLst/>
          </a:prstGeom>
          <a:noFill/>
        </p:spPr>
        <p:txBody>
          <a:bodyPr wrap="square" lIns="27432" rIns="27432" tIns="27432" bIns="27432" anchor="ctr">
            <a:noAutofit/>
          </a:bodyPr>
          <a:lstStyle/>
          <a:p>
            <a:pPr algn="ctr">
              <a:spcBef>
                <a:spcPts val="0"/>
              </a:spcBef>
              <a:spcAft>
                <a:spcPts val="0"/>
              </a:spcAft>
            </a:pPr>
            <a:r>
              <a:rPr sz="1400" b="1">
                <a:solidFill>
                  <a:srgbClr val="5B6B62"/>
                </a:solidFill>
                <a:latin typeface="Cambria"/>
              </a:rPr>
              <a:t>→</a:t>
            </a:r>
          </a:p>
        </p:txBody>
      </p:sp>
      <p:sp>
        <p:nvSpPr>
          <p:cNvPr id="44" name="Rounded Rectangle 43"/>
          <p:cNvSpPr/>
          <p:nvPr/>
        </p:nvSpPr>
        <p:spPr>
          <a:xfrm>
            <a:off x="2167128" y="3401568"/>
            <a:ext cx="2377440" cy="512064"/>
          </a:xfrm>
          <a:prstGeom prst="roundRect">
            <a:avLst>
              <a:gd name="adj" fmla="val 8928"/>
            </a:avLst>
          </a:prstGeom>
          <a:solidFill>
            <a:srgbClr val="FBE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221992" y="3410712"/>
            <a:ext cx="2267712" cy="493776"/>
          </a:xfrm>
          <a:prstGeom prst="rect">
            <a:avLst/>
          </a:prstGeom>
          <a:noFill/>
        </p:spPr>
        <p:txBody>
          <a:bodyPr wrap="square" lIns="27432" rIns="27432" tIns="27432" bIns="27432" anchor="ctr">
            <a:noAutofit/>
          </a:bodyPr>
          <a:lstStyle/>
          <a:p>
            <a:pPr algn="l">
              <a:spcBef>
                <a:spcPts val="0"/>
              </a:spcBef>
              <a:spcAft>
                <a:spcPts val="0"/>
              </a:spcAft>
            </a:pPr>
            <a:r>
              <a:rPr sz="1000" b="1">
                <a:solidFill>
                  <a:srgbClr val="C8511B"/>
                </a:solidFill>
                <a:latin typeface="Calibri"/>
              </a:rPr>
              <a:t>Part 1: Detector</a:t>
            </a:r>
          </a:p>
          <a:p>
            <a:pPr algn="l">
              <a:spcBef>
                <a:spcPts val="0"/>
              </a:spcBef>
              <a:spcAft>
                <a:spcPts val="0"/>
              </a:spcAft>
            </a:pPr>
            <a:r>
              <a:rPr sz="850" b="0">
                <a:solidFill>
                  <a:srgbClr val="1E2B24"/>
                </a:solidFill>
                <a:latin typeface="Calibri"/>
              </a:rPr>
              <a:t>finds every bunch in each photo, draws a box around it and gives it a class</a:t>
            </a:r>
          </a:p>
        </p:txBody>
      </p:sp>
      <p:sp>
        <p:nvSpPr>
          <p:cNvPr id="46" name="TextBox 45"/>
          <p:cNvSpPr txBox="1"/>
          <p:nvPr/>
        </p:nvSpPr>
        <p:spPr>
          <a:xfrm>
            <a:off x="4544568" y="3401568"/>
            <a:ext cx="246888" cy="512064"/>
          </a:xfrm>
          <a:prstGeom prst="rect">
            <a:avLst/>
          </a:prstGeom>
          <a:noFill/>
        </p:spPr>
        <p:txBody>
          <a:bodyPr wrap="square" lIns="27432" rIns="27432" tIns="27432" bIns="27432" anchor="ctr">
            <a:noAutofit/>
          </a:bodyPr>
          <a:lstStyle/>
          <a:p>
            <a:pPr algn="ctr">
              <a:spcBef>
                <a:spcPts val="0"/>
              </a:spcBef>
              <a:spcAft>
                <a:spcPts val="0"/>
              </a:spcAft>
            </a:pPr>
            <a:r>
              <a:rPr sz="1400" b="1">
                <a:solidFill>
                  <a:srgbClr val="5B6B62"/>
                </a:solidFill>
                <a:latin typeface="Cambria"/>
              </a:rPr>
              <a:t>→</a:t>
            </a:r>
          </a:p>
        </p:txBody>
      </p:sp>
      <p:sp>
        <p:nvSpPr>
          <p:cNvPr id="47" name="Rounded Rectangle 46"/>
          <p:cNvSpPr/>
          <p:nvPr/>
        </p:nvSpPr>
        <p:spPr>
          <a:xfrm>
            <a:off x="4791456" y="3401568"/>
            <a:ext cx="2377440" cy="512064"/>
          </a:xfrm>
          <a:prstGeom prst="roundRect">
            <a:avLst>
              <a:gd name="adj" fmla="val 8928"/>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846320" y="3410712"/>
            <a:ext cx="2267712" cy="493776"/>
          </a:xfrm>
          <a:prstGeom prst="rect">
            <a:avLst/>
          </a:prstGeom>
          <a:noFill/>
        </p:spPr>
        <p:txBody>
          <a:bodyPr wrap="square" lIns="27432" rIns="27432" tIns="27432" bIns="27432" anchor="ctr">
            <a:noAutofit/>
          </a:bodyPr>
          <a:lstStyle/>
          <a:p>
            <a:pPr algn="l">
              <a:spcBef>
                <a:spcPts val="0"/>
              </a:spcBef>
              <a:spcAft>
                <a:spcPts val="0"/>
              </a:spcAft>
            </a:pPr>
            <a:r>
              <a:rPr sz="1000" b="1">
                <a:solidFill>
                  <a:srgbClr val="1F4D36"/>
                </a:solidFill>
                <a:latin typeface="Calibri"/>
              </a:rPr>
              <a:t>Part 2: Counter</a:t>
            </a:r>
          </a:p>
          <a:p>
            <a:pPr algn="l">
              <a:spcBef>
                <a:spcPts val="0"/>
              </a:spcBef>
              <a:spcAft>
                <a:spcPts val="0"/>
              </a:spcAft>
            </a:pPr>
            <a:r>
              <a:rPr sz="850" b="0">
                <a:solidFill>
                  <a:srgbClr val="1E2B24"/>
                </a:solidFill>
                <a:latin typeface="Calibri"/>
              </a:rPr>
              <a:t>turns the boxes of all photos into one count per class, without double counting</a:t>
            </a:r>
          </a:p>
        </p:txBody>
      </p:sp>
      <p:sp>
        <p:nvSpPr>
          <p:cNvPr id="49" name="TextBox 48"/>
          <p:cNvSpPr txBox="1"/>
          <p:nvPr/>
        </p:nvSpPr>
        <p:spPr>
          <a:xfrm>
            <a:off x="7168896" y="3401568"/>
            <a:ext cx="246888" cy="512064"/>
          </a:xfrm>
          <a:prstGeom prst="rect">
            <a:avLst/>
          </a:prstGeom>
          <a:noFill/>
        </p:spPr>
        <p:txBody>
          <a:bodyPr wrap="square" lIns="27432" rIns="27432" tIns="27432" bIns="27432" anchor="ctr">
            <a:noAutofit/>
          </a:bodyPr>
          <a:lstStyle/>
          <a:p>
            <a:pPr algn="ctr">
              <a:spcBef>
                <a:spcPts val="0"/>
              </a:spcBef>
              <a:spcAft>
                <a:spcPts val="0"/>
              </a:spcAft>
            </a:pPr>
            <a:r>
              <a:rPr sz="1400" b="1">
                <a:solidFill>
                  <a:srgbClr val="5B6B62"/>
                </a:solidFill>
                <a:latin typeface="Cambria"/>
              </a:rPr>
              <a:t>→</a:t>
            </a:r>
          </a:p>
        </p:txBody>
      </p:sp>
      <p:sp>
        <p:nvSpPr>
          <p:cNvPr id="50" name="Rounded Rectangle 49"/>
          <p:cNvSpPr/>
          <p:nvPr/>
        </p:nvSpPr>
        <p:spPr>
          <a:xfrm>
            <a:off x="7415783" y="3401568"/>
            <a:ext cx="1408176" cy="512064"/>
          </a:xfrm>
          <a:prstGeom prst="roundRect">
            <a:avLst>
              <a:gd name="adj" fmla="val 8928"/>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470648" y="3410712"/>
            <a:ext cx="1298448" cy="493776"/>
          </a:xfrm>
          <a:prstGeom prst="rect">
            <a:avLst/>
          </a:prstGeom>
          <a:noFill/>
        </p:spPr>
        <p:txBody>
          <a:bodyPr wrap="square" lIns="27432" rIns="27432" tIns="27432" bIns="27432" anchor="ctr">
            <a:noAutofit/>
          </a:bodyPr>
          <a:lstStyle/>
          <a:p>
            <a:pPr algn="l">
              <a:spcBef>
                <a:spcPts val="0"/>
              </a:spcBef>
              <a:spcAft>
                <a:spcPts val="0"/>
              </a:spcAft>
            </a:pPr>
            <a:r>
              <a:rPr sz="1000" b="1">
                <a:solidFill>
                  <a:srgbClr val="1E2B24"/>
                </a:solidFill>
                <a:latin typeface="Calibri"/>
              </a:rPr>
              <a:t>Count for the tree</a:t>
            </a:r>
          </a:p>
          <a:p>
            <a:pPr algn="l">
              <a:spcBef>
                <a:spcPts val="0"/>
              </a:spcBef>
              <a:spcAft>
                <a:spcPts val="0"/>
              </a:spcAft>
            </a:pPr>
            <a:r>
              <a:rPr sz="850" b="0">
                <a:solidFill>
                  <a:srgbClr val="1E2B24"/>
                </a:solidFill>
                <a:latin typeface="Calibri"/>
              </a:rPr>
              <a:t>B1: 1   B2: 2   B3: 5   B4: 2</a:t>
            </a:r>
          </a:p>
        </p:txBody>
      </p:sp>
      <p:sp>
        <p:nvSpPr>
          <p:cNvPr id="52" name="Rounded Rectangle 51"/>
          <p:cNvSpPr/>
          <p:nvPr/>
        </p:nvSpPr>
        <p:spPr>
          <a:xfrm>
            <a:off x="320040" y="3977639"/>
            <a:ext cx="8503920" cy="347472"/>
          </a:xfrm>
          <a:prstGeom prst="roundRect">
            <a:avLst>
              <a:gd name="adj" fmla="val 13157"/>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11480" y="3977639"/>
            <a:ext cx="1371600" cy="347472"/>
          </a:xfrm>
          <a:prstGeom prst="rect">
            <a:avLst/>
          </a:prstGeom>
          <a:noFill/>
        </p:spPr>
        <p:txBody>
          <a:bodyPr wrap="square" lIns="27432" rIns="27432" tIns="27432" bIns="27432" anchor="ctr">
            <a:noAutofit/>
          </a:bodyPr>
          <a:lstStyle/>
          <a:p>
            <a:pPr algn="l">
              <a:spcBef>
                <a:spcPts val="0"/>
              </a:spcBef>
              <a:spcAft>
                <a:spcPts val="0"/>
              </a:spcAft>
            </a:pPr>
            <a:r>
              <a:rPr sz="1000" b="1">
                <a:solidFill>
                  <a:srgbClr val="1F4D36"/>
                </a:solidFill>
                <a:latin typeface="Calibri"/>
              </a:rPr>
              <a:t>SawitMVC dataset</a:t>
            </a:r>
          </a:p>
        </p:txBody>
      </p:sp>
      <p:sp>
        <p:nvSpPr>
          <p:cNvPr id="54" name="TextBox 53"/>
          <p:cNvSpPr txBox="1"/>
          <p:nvPr/>
        </p:nvSpPr>
        <p:spPr>
          <a:xfrm>
            <a:off x="1691640" y="3977639"/>
            <a:ext cx="868680" cy="347472"/>
          </a:xfrm>
          <a:prstGeom prst="rect">
            <a:avLst/>
          </a:prstGeom>
          <a:noFill/>
        </p:spPr>
        <p:txBody>
          <a:bodyPr wrap="square" lIns="27432" rIns="27432" tIns="27432" bIns="27432" anchor="ctr">
            <a:noAutofit/>
          </a:bodyPr>
          <a:lstStyle/>
          <a:p>
            <a:pPr algn="l">
              <a:spcBef>
                <a:spcPts val="0"/>
              </a:spcBef>
              <a:spcAft>
                <a:spcPts val="0"/>
              </a:spcAft>
            </a:pPr>
            <a:r>
              <a:rPr sz="1250" b="1">
                <a:solidFill>
                  <a:srgbClr val="1E2B24"/>
                </a:solidFill>
                <a:latin typeface="Cambria"/>
              </a:rPr>
              <a:t>953</a:t>
            </a:r>
            <a:r>
              <a:rPr sz="900" b="0">
                <a:solidFill>
                  <a:srgbClr val="5B6B62"/>
                </a:solidFill>
                <a:latin typeface="Calibri"/>
              </a:rPr>
              <a:t> trees</a:t>
            </a:r>
          </a:p>
        </p:txBody>
      </p:sp>
      <p:sp>
        <p:nvSpPr>
          <p:cNvPr id="55" name="TextBox 54"/>
          <p:cNvSpPr txBox="1"/>
          <p:nvPr/>
        </p:nvSpPr>
        <p:spPr>
          <a:xfrm>
            <a:off x="2560320" y="3977639"/>
            <a:ext cx="1051560" cy="347472"/>
          </a:xfrm>
          <a:prstGeom prst="rect">
            <a:avLst/>
          </a:prstGeom>
          <a:noFill/>
        </p:spPr>
        <p:txBody>
          <a:bodyPr wrap="square" lIns="27432" rIns="27432" tIns="27432" bIns="27432" anchor="ctr">
            <a:noAutofit/>
          </a:bodyPr>
          <a:lstStyle/>
          <a:p>
            <a:pPr algn="l">
              <a:spcBef>
                <a:spcPts val="0"/>
              </a:spcBef>
              <a:spcAft>
                <a:spcPts val="0"/>
              </a:spcAft>
            </a:pPr>
            <a:r>
              <a:rPr sz="1250" b="1">
                <a:solidFill>
                  <a:srgbClr val="1E2B24"/>
                </a:solidFill>
                <a:latin typeface="Cambria"/>
              </a:rPr>
              <a:t>3,992</a:t>
            </a:r>
            <a:r>
              <a:rPr sz="900" b="0">
                <a:solidFill>
                  <a:srgbClr val="5B6B62"/>
                </a:solidFill>
                <a:latin typeface="Calibri"/>
              </a:rPr>
              <a:t> photos</a:t>
            </a:r>
          </a:p>
        </p:txBody>
      </p:sp>
      <p:sp>
        <p:nvSpPr>
          <p:cNvPr id="56" name="TextBox 55"/>
          <p:cNvSpPr txBox="1"/>
          <p:nvPr/>
        </p:nvSpPr>
        <p:spPr>
          <a:xfrm>
            <a:off x="3611880" y="3977639"/>
            <a:ext cx="1920240" cy="347472"/>
          </a:xfrm>
          <a:prstGeom prst="rect">
            <a:avLst/>
          </a:prstGeom>
          <a:noFill/>
        </p:spPr>
        <p:txBody>
          <a:bodyPr wrap="square" lIns="27432" rIns="27432" tIns="27432" bIns="27432" anchor="ctr">
            <a:noAutofit/>
          </a:bodyPr>
          <a:lstStyle/>
          <a:p>
            <a:pPr algn="l">
              <a:spcBef>
                <a:spcPts val="0"/>
              </a:spcBef>
              <a:spcAft>
                <a:spcPts val="0"/>
              </a:spcAft>
            </a:pPr>
            <a:r>
              <a:rPr sz="1250" b="1">
                <a:solidFill>
                  <a:srgbClr val="1E2B24"/>
                </a:solidFill>
                <a:latin typeface="Cambria"/>
              </a:rPr>
              <a:t>2</a:t>
            </a:r>
            <a:r>
              <a:rPr sz="900" b="0">
                <a:solidFill>
                  <a:srgbClr val="5B6B62"/>
                </a:solidFill>
                <a:latin typeface="Calibri"/>
              </a:rPr>
              <a:t> estates in South Kalimantan</a:t>
            </a:r>
          </a:p>
        </p:txBody>
      </p:sp>
      <p:sp>
        <p:nvSpPr>
          <p:cNvPr id="57" name="TextBox 56"/>
          <p:cNvSpPr txBox="1"/>
          <p:nvPr/>
        </p:nvSpPr>
        <p:spPr>
          <a:xfrm>
            <a:off x="5532120" y="3977639"/>
            <a:ext cx="3246120" cy="347472"/>
          </a:xfrm>
          <a:prstGeom prst="rect">
            <a:avLst/>
          </a:prstGeom>
          <a:noFill/>
        </p:spPr>
        <p:txBody>
          <a:bodyPr wrap="square" lIns="27432" rIns="27432" tIns="27432" bIns="27432" anchor="ctr">
            <a:noAutofit/>
          </a:bodyPr>
          <a:lstStyle/>
          <a:p>
            <a:pPr algn="l">
              <a:spcBef>
                <a:spcPts val="0"/>
              </a:spcBef>
              <a:spcAft>
                <a:spcPts val="0"/>
              </a:spcAft>
            </a:pPr>
            <a:r>
              <a:rPr sz="1250" b="1">
                <a:solidFill>
                  <a:srgbClr val="1E2B24"/>
                </a:solidFill>
                <a:latin typeface="Cambria"/>
              </a:rPr>
              <a:t>716 / 96 / 141</a:t>
            </a:r>
            <a:r>
              <a:rPr sz="900" b="0">
                <a:solidFill>
                  <a:srgbClr val="5B6B62"/>
                </a:solidFill>
                <a:latin typeface="Calibri"/>
              </a:rPr>
              <a:t> trees: training / validation / test</a:t>
            </a:r>
          </a:p>
        </p:txBody>
      </p:sp>
      <p:sp>
        <p:nvSpPr>
          <p:cNvPr id="58" name="Rounded Rectangle 57"/>
          <p:cNvSpPr/>
          <p:nvPr/>
        </p:nvSpPr>
        <p:spPr>
          <a:xfrm>
            <a:off x="320040" y="4389120"/>
            <a:ext cx="8503920" cy="475488"/>
          </a:xfrm>
          <a:prstGeom prst="roundRect">
            <a:avLst>
              <a:gd name="adj" fmla="val 11538"/>
            </a:avLst>
          </a:prstGeom>
          <a:solidFill>
            <a:srgbClr val="122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4389120"/>
            <a:ext cx="8229600" cy="475488"/>
          </a:xfrm>
          <a:prstGeom prst="rect">
            <a:avLst/>
          </a:prstGeom>
          <a:noFill/>
        </p:spPr>
        <p:txBody>
          <a:bodyPr wrap="square" lIns="27432" rIns="27432" tIns="27432" bIns="27432" anchor="ctr">
            <a:noAutofit/>
          </a:bodyPr>
          <a:lstStyle/>
          <a:p>
            <a:pPr algn="l">
              <a:spcBef>
                <a:spcPts val="0"/>
              </a:spcBef>
              <a:spcAft>
                <a:spcPts val="0"/>
              </a:spcAft>
            </a:pPr>
            <a:r>
              <a:rPr sz="850" b="1">
                <a:solidFill>
                  <a:srgbClr val="F2A36B"/>
                </a:solidFill>
                <a:latin typeface="Calibri"/>
              </a:rPr>
              <a:t>RESEARCH OBJECTIVE</a:t>
            </a:r>
          </a:p>
          <a:p>
            <a:pPr algn="l">
              <a:spcBef>
                <a:spcPts val="0"/>
              </a:spcBef>
              <a:spcAft>
                <a:spcPts val="0"/>
              </a:spcAft>
            </a:pPr>
            <a:r>
              <a:rPr sz="1200" b="0">
                <a:solidFill>
                  <a:srgbClr val="FFFFFF"/>
                </a:solidFill>
                <a:latin typeface="Calibri"/>
              </a:rPr>
              <a:t>To find out which part causes the counting error: the detector or the counter.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0"/>
          </a:xfrm>
          <a:prstGeom prst="rect">
            <a:avLst/>
          </a:prstGeom>
          <a:solidFill>
            <a:srgbClr val="122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6675120" cy="402336"/>
          </a:xfrm>
          <a:prstGeom prst="rect">
            <a:avLst/>
          </a:prstGeom>
          <a:noFill/>
        </p:spPr>
        <p:txBody>
          <a:bodyPr wrap="square" lIns="27432" rIns="27432" tIns="27432" bIns="27432" anchor="ctr">
            <a:noAutofit/>
          </a:bodyPr>
          <a:lstStyle/>
          <a:p>
            <a:pPr algn="l">
              <a:spcBef>
                <a:spcPts val="0"/>
              </a:spcBef>
              <a:spcAft>
                <a:spcPts val="0"/>
              </a:spcAft>
            </a:pPr>
            <a:r>
              <a:rPr sz="2000" b="1">
                <a:solidFill>
                  <a:srgbClr val="FFFFFF"/>
                </a:solidFill>
                <a:latin typeface="Cambria"/>
              </a:rPr>
              <a:t>Related work and research gap</a:t>
            </a:r>
          </a:p>
        </p:txBody>
      </p:sp>
      <p:sp>
        <p:nvSpPr>
          <p:cNvPr id="4" name="TextBox 3"/>
          <p:cNvSpPr txBox="1"/>
          <p:nvPr/>
        </p:nvSpPr>
        <p:spPr>
          <a:xfrm>
            <a:off x="6949440" y="73152"/>
            <a:ext cx="1874519" cy="402336"/>
          </a:xfrm>
          <a:prstGeom prst="rect">
            <a:avLst/>
          </a:prstGeom>
          <a:noFill/>
        </p:spPr>
        <p:txBody>
          <a:bodyPr wrap="square" lIns="27432" rIns="27432" tIns="27432" bIns="27432" anchor="ctr">
            <a:noAutofit/>
          </a:bodyPr>
          <a:lstStyle/>
          <a:p>
            <a:pPr algn="r">
              <a:spcBef>
                <a:spcPts val="0"/>
              </a:spcBef>
              <a:spcAft>
                <a:spcPts val="0"/>
              </a:spcAft>
            </a:pPr>
            <a:r>
              <a:rPr sz="1000" b="1">
                <a:solidFill>
                  <a:srgbClr val="A9C9A4"/>
                </a:solidFill>
                <a:latin typeface="Calibri"/>
              </a:rPr>
              <a:t>2 · Background</a:t>
            </a:r>
          </a:p>
        </p:txBody>
      </p:sp>
      <p:sp>
        <p:nvSpPr>
          <p:cNvPr id="5" name="TextBox 4"/>
          <p:cNvSpPr txBox="1"/>
          <p:nvPr/>
        </p:nvSpPr>
        <p:spPr>
          <a:xfrm>
            <a:off x="320040" y="4910328"/>
            <a:ext cx="7680960" cy="182880"/>
          </a:xfrm>
          <a:prstGeom prst="rect">
            <a:avLst/>
          </a:prstGeom>
          <a:noFill/>
        </p:spPr>
        <p:txBody>
          <a:bodyPr wrap="square" lIns="27432" rIns="27432" tIns="27432" bIns="27432" anchor="t">
            <a:noAutofit/>
          </a:bodyPr>
          <a:lstStyle/>
          <a:p>
            <a:pPr algn="l">
              <a:spcBef>
                <a:spcPts val="0"/>
              </a:spcBef>
              <a:spcAft>
                <a:spcPts val="0"/>
              </a:spcAft>
            </a:pPr>
            <a:r>
              <a:rPr sz="750" b="0">
                <a:solidFill>
                  <a:srgbClr val="5B6B62"/>
                </a:solidFill>
                <a:latin typeface="Calibri"/>
              </a:rPr>
              <a:t>Muttaqin et al. · Benchmarking Multi-View Tree-Level Oil Palm Bunch Counting Under a Fixed Detector · ICIC 2026</a:t>
            </a:r>
          </a:p>
        </p:txBody>
      </p:sp>
      <p:sp>
        <p:nvSpPr>
          <p:cNvPr id="6" name="TextBox 5"/>
          <p:cNvSpPr txBox="1"/>
          <p:nvPr/>
        </p:nvSpPr>
        <p:spPr>
          <a:xfrm>
            <a:off x="8229600" y="4910328"/>
            <a:ext cx="594360" cy="182880"/>
          </a:xfrm>
          <a:prstGeom prst="rect">
            <a:avLst/>
          </a:prstGeom>
          <a:noFill/>
        </p:spPr>
        <p:txBody>
          <a:bodyPr wrap="square" lIns="27432" rIns="27432" tIns="27432" bIns="27432" anchor="t">
            <a:noAutofit/>
          </a:bodyPr>
          <a:lstStyle/>
          <a:p>
            <a:pPr algn="r">
              <a:spcBef>
                <a:spcPts val="0"/>
              </a:spcBef>
              <a:spcAft>
                <a:spcPts val="0"/>
              </a:spcAft>
            </a:pPr>
            <a:r>
              <a:rPr sz="800" b="0">
                <a:solidFill>
                  <a:srgbClr val="5B6B62"/>
                </a:solidFill>
                <a:latin typeface="Calibri"/>
              </a:rPr>
              <a:t>3</a:t>
            </a:r>
          </a:p>
        </p:txBody>
      </p:sp>
      <p:graphicFrame>
        <p:nvGraphicFramePr>
          <p:cNvPr id="7" name="Table 6"/>
          <p:cNvGraphicFramePr>
            <a:graphicFrameLocks noGrp="1"/>
          </p:cNvGraphicFramePr>
          <p:nvPr/>
        </p:nvGraphicFramePr>
        <p:xfrm>
          <a:off x="320040" y="676656"/>
          <a:ext cx="8503920" cy="2322576"/>
        </p:xfrm>
        <a:graphic>
          <a:graphicData uri="http://schemas.openxmlformats.org/drawingml/2006/table">
            <a:tbl>
              <a:tblPr>
                <a:tableStyleId>{5C22544A-7EE6-4342-B048-85BDC9FD1C3A}</a:tableStyleId>
              </a:tblPr>
              <a:tblGrid>
                <a:gridCol w="2103120"/>
                <a:gridCol w="777240"/>
                <a:gridCol w="3154680"/>
                <a:gridCol w="2468880"/>
              </a:tblGrid>
              <a:tr h="219456">
                <a:tc>
                  <a:txBody>
                    <a:bodyPr wrap="square" lIns="45720" rIns="45720" tIns="27432" bIns="27432" anchor="ctr">
                      <a:noAutofit/>
                    </a:bodyPr>
                    <a:lstStyle/>
                    <a:p>
                      <a:pPr algn="l">
                        <a:spcBef>
                          <a:spcPts val="0"/>
                        </a:spcBef>
                        <a:spcAft>
                          <a:spcPts val="0"/>
                        </a:spcAft>
                      </a:pPr>
                      <a:r>
                        <a:rPr sz="900" b="1">
                          <a:solidFill>
                            <a:srgbClr val="FFFFFF"/>
                          </a:solidFill>
                          <a:latin typeface="Calibri"/>
                        </a:rPr>
                        <a:t>Study</a:t>
                      </a:r>
                    </a:p>
                  </a:txBody>
                  <a:tcPr marL="45720" marR="45720" marT="18288" marB="18288" anchor="ctr">
                    <a:solidFill>
                      <a:srgbClr val="1F4D36"/>
                    </a:solidFill>
                  </a:tcPr>
                </a:tc>
                <a:tc>
                  <a:txBody>
                    <a:bodyPr wrap="square" lIns="45720" rIns="45720" tIns="27432" bIns="27432" anchor="ctr">
                      <a:noAutofit/>
                    </a:bodyPr>
                    <a:lstStyle/>
                    <a:p>
                      <a:pPr algn="ctr">
                        <a:spcBef>
                          <a:spcPts val="0"/>
                        </a:spcBef>
                        <a:spcAft>
                          <a:spcPts val="0"/>
                        </a:spcAft>
                      </a:pPr>
                      <a:r>
                        <a:rPr sz="900" b="1">
                          <a:solidFill>
                            <a:srgbClr val="FFFFFF"/>
                          </a:solidFill>
                          <a:latin typeface="Calibri"/>
                        </a:rPr>
                        <a:t>Crop</a:t>
                      </a:r>
                    </a:p>
                  </a:txBody>
                  <a:tcPr marL="45720" marR="45720" marT="18288" marB="18288" anchor="ctr">
                    <a:solidFill>
                      <a:srgbClr val="1F4D36"/>
                    </a:solidFill>
                  </a:tcPr>
                </a:tc>
                <a:tc>
                  <a:txBody>
                    <a:bodyPr wrap="square" lIns="45720" rIns="45720" tIns="27432" bIns="27432" anchor="ctr">
                      <a:noAutofit/>
                    </a:bodyPr>
                    <a:lstStyle/>
                    <a:p>
                      <a:pPr algn="l">
                        <a:spcBef>
                          <a:spcPts val="0"/>
                        </a:spcBef>
                        <a:spcAft>
                          <a:spcPts val="0"/>
                        </a:spcAft>
                      </a:pPr>
                      <a:r>
                        <a:rPr sz="900" b="1">
                          <a:solidFill>
                            <a:srgbClr val="FFFFFF"/>
                          </a:solidFill>
                          <a:latin typeface="Calibri"/>
                        </a:rPr>
                        <a:t>Approach</a:t>
                      </a:r>
                    </a:p>
                  </a:txBody>
                  <a:tcPr marL="45720" marR="45720" marT="18288" marB="18288" anchor="ctr">
                    <a:solidFill>
                      <a:srgbClr val="1F4D36"/>
                    </a:solidFill>
                  </a:tcPr>
                </a:tc>
                <a:tc>
                  <a:txBody>
                    <a:bodyPr wrap="square" lIns="45720" rIns="45720" tIns="27432" bIns="27432" anchor="ctr">
                      <a:noAutofit/>
                    </a:bodyPr>
                    <a:lstStyle/>
                    <a:p>
                      <a:pPr algn="l">
                        <a:spcBef>
                          <a:spcPts val="0"/>
                        </a:spcBef>
                        <a:spcAft>
                          <a:spcPts val="0"/>
                        </a:spcAft>
                      </a:pPr>
                      <a:r>
                        <a:rPr sz="900" b="1">
                          <a:solidFill>
                            <a:srgbClr val="FFFFFF"/>
                          </a:solidFill>
                          <a:latin typeface="Calibri"/>
                        </a:rPr>
                        <a:t>Why it does not fit 4 to 8 separate photos per tree</a:t>
                      </a:r>
                    </a:p>
                  </a:txBody>
                  <a:tcPr marL="45720" marR="45720" marT="18288" marB="18288" anchor="ctr">
                    <a:solidFill>
                      <a:srgbClr val="1F4D36"/>
                    </a:solidFill>
                  </a:tcPr>
                </a:tc>
              </a:tr>
              <a:tr h="329184">
                <a:tc>
                  <a:txBody>
                    <a:bodyPr wrap="square" lIns="45720" rIns="45720" tIns="27432" bIns="27432" anchor="ctr">
                      <a:noAutofit/>
                    </a:bodyPr>
                    <a:lstStyle/>
                    <a:p>
                      <a:pPr algn="l">
                        <a:spcBef>
                          <a:spcPts val="0"/>
                        </a:spcBef>
                        <a:spcAft>
                          <a:spcPts val="0"/>
                        </a:spcAft>
                      </a:pPr>
                      <a:r>
                        <a:rPr sz="900" b="0">
                          <a:solidFill>
                            <a:srgbClr val="1E2B24"/>
                          </a:solidFill>
                          <a:latin typeface="Calibri"/>
                        </a:rPr>
                        <a:t>Stein et al., 2016 [3]</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Mango</a:t>
                      </a:r>
                    </a:p>
                  </a:txBody>
                  <a:tcPr marL="45720" marR="45720" marT="18288" marB="18288" anchor="ctr">
                    <a:solidFill>
                      <a:srgbClr val="EEF4EF"/>
                    </a:solidFill>
                  </a:tcPr>
                </a:tc>
                <a:tc>
                  <a:txBody>
                    <a:bodyPr wrap="square" lIns="45720" rIns="45720" tIns="27432" bIns="27432" anchor="ctr">
                      <a:noAutofit/>
                    </a:bodyPr>
                    <a:lstStyle/>
                    <a:p>
                      <a:pPr algn="l">
                        <a:spcBef>
                          <a:spcPts val="0"/>
                        </a:spcBef>
                        <a:spcAft>
                          <a:spcPts val="0"/>
                        </a:spcAft>
                      </a:pPr>
                      <a:r>
                        <a:rPr sz="900" b="0">
                          <a:solidFill>
                            <a:srgbClr val="1E2B24"/>
                          </a:solidFill>
                          <a:latin typeface="Calibri"/>
                        </a:rPr>
                        <a:t>Associates detections across views with navigation data and canopy geometry</a:t>
                      </a:r>
                    </a:p>
                  </a:txBody>
                  <a:tcPr marL="45720" marR="45720" marT="18288" marB="18288" anchor="ctr">
                    <a:solidFill>
                      <a:srgbClr val="EEF4EF"/>
                    </a:solidFill>
                  </a:tcPr>
                </a:tc>
                <a:tc>
                  <a:txBody>
                    <a:bodyPr wrap="square" lIns="45720" rIns="45720" tIns="27432" bIns="27432" anchor="ctr">
                      <a:noAutofit/>
                    </a:bodyPr>
                    <a:lstStyle/>
                    <a:p>
                      <a:pPr algn="l">
                        <a:spcBef>
                          <a:spcPts val="0"/>
                        </a:spcBef>
                        <a:spcAft>
                          <a:spcPts val="0"/>
                        </a:spcAft>
                      </a:pPr>
                      <a:r>
                        <a:rPr sz="900" b="0">
                          <a:solidFill>
                            <a:srgbClr val="1E2B24"/>
                          </a:solidFill>
                          <a:latin typeface="Calibri"/>
                        </a:rPr>
                        <a:t>Needs a moving platform with navigation data</a:t>
                      </a:r>
                    </a:p>
                  </a:txBody>
                  <a:tcPr marL="45720" marR="45720" marT="18288" marB="18288" anchor="ctr">
                    <a:solidFill>
                      <a:srgbClr val="EEF4EF"/>
                    </a:solidFill>
                  </a:tcPr>
                </a:tc>
              </a:tr>
              <a:tr h="329184">
                <a:tc>
                  <a:txBody>
                    <a:bodyPr wrap="square" lIns="45720" rIns="45720" tIns="27432" bIns="27432" anchor="ctr">
                      <a:noAutofit/>
                    </a:bodyPr>
                    <a:lstStyle/>
                    <a:p>
                      <a:pPr algn="l">
                        <a:spcBef>
                          <a:spcPts val="0"/>
                        </a:spcBef>
                        <a:spcAft>
                          <a:spcPts val="0"/>
                        </a:spcAft>
                      </a:pPr>
                      <a:r>
                        <a:rPr sz="900" b="0">
                          <a:solidFill>
                            <a:srgbClr val="1E2B24"/>
                          </a:solidFill>
                          <a:latin typeface="Calibri"/>
                        </a:rPr>
                        <a:t>Roy et al., 2019 [4]; Häni et al., 2020 [5]</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Apple</a:t>
                      </a:r>
                    </a:p>
                  </a:txBody>
                  <a:tcPr marL="45720" marR="45720" marT="18288" marB="18288" anchor="ctr">
                    <a:solidFill>
                      <a:srgbClr val="F7FAF7"/>
                    </a:solidFill>
                  </a:tcPr>
                </a:tc>
                <a:tc>
                  <a:txBody>
                    <a:bodyPr wrap="square" lIns="45720" rIns="45720" tIns="27432" bIns="27432" anchor="ctr">
                      <a:noAutofit/>
                    </a:bodyPr>
                    <a:lstStyle/>
                    <a:p>
                      <a:pPr algn="l">
                        <a:spcBef>
                          <a:spcPts val="0"/>
                        </a:spcBef>
                        <a:spcAft>
                          <a:spcPts val="0"/>
                        </a:spcAft>
                      </a:pPr>
                      <a:r>
                        <a:rPr sz="900" b="0">
                          <a:solidFill>
                            <a:srgbClr val="1E2B24"/>
                          </a:solidFill>
                          <a:latin typeface="Calibri"/>
                        </a:rPr>
                        <a:t>Builds yield maps from overlapping scans; reports detection quality as a major source of counting error</a:t>
                      </a:r>
                    </a:p>
                  </a:txBody>
                  <a:tcPr marL="45720" marR="45720" marT="18288" marB="18288" anchor="ctr">
                    <a:solidFill>
                      <a:srgbClr val="F7FAF7"/>
                    </a:solidFill>
                  </a:tcPr>
                </a:tc>
                <a:tc>
                  <a:txBody>
                    <a:bodyPr wrap="square" lIns="45720" rIns="45720" tIns="27432" bIns="27432" anchor="ctr">
                      <a:noAutofit/>
                    </a:bodyPr>
                    <a:lstStyle/>
                    <a:p>
                      <a:pPr algn="l">
                        <a:spcBef>
                          <a:spcPts val="0"/>
                        </a:spcBef>
                        <a:spcAft>
                          <a:spcPts val="0"/>
                        </a:spcAft>
                      </a:pPr>
                      <a:r>
                        <a:rPr sz="900" b="0">
                          <a:solidFill>
                            <a:srgbClr val="1E2B24"/>
                          </a:solidFill>
                          <a:latin typeface="Calibri"/>
                        </a:rPr>
                        <a:t>Needs dense image overlap along the row</a:t>
                      </a:r>
                    </a:p>
                  </a:txBody>
                  <a:tcPr marL="45720" marR="45720" marT="18288" marB="18288" anchor="ctr">
                    <a:solidFill>
                      <a:srgbClr val="F7FAF7"/>
                    </a:solidFill>
                  </a:tcPr>
                </a:tc>
              </a:tr>
              <a:tr h="329184">
                <a:tc>
                  <a:txBody>
                    <a:bodyPr wrap="square" lIns="45720" rIns="45720" tIns="27432" bIns="27432" anchor="ctr">
                      <a:noAutofit/>
                    </a:bodyPr>
                    <a:lstStyle/>
                    <a:p>
                      <a:pPr algn="l">
                        <a:spcBef>
                          <a:spcPts val="0"/>
                        </a:spcBef>
                        <a:spcAft>
                          <a:spcPts val="0"/>
                        </a:spcAft>
                      </a:pPr>
                      <a:r>
                        <a:rPr sz="900" b="0">
                          <a:solidFill>
                            <a:srgbClr val="1E2B24"/>
                          </a:solidFill>
                          <a:latin typeface="Calibri"/>
                        </a:rPr>
                        <a:t>Gaillard 2023 [6]; Freeman 2023 [7]; Meyer 2025 [8]</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Other crops</a:t>
                      </a:r>
                    </a:p>
                  </a:txBody>
                  <a:tcPr marL="45720" marR="45720" marT="18288" marB="18288" anchor="ctr">
                    <a:solidFill>
                      <a:srgbClr val="EEF4EF"/>
                    </a:solidFill>
                  </a:tcPr>
                </a:tc>
                <a:tc>
                  <a:txBody>
                    <a:bodyPr wrap="square" lIns="45720" rIns="45720" tIns="27432" bIns="27432" anchor="ctr">
                      <a:noAutofit/>
                    </a:bodyPr>
                    <a:lstStyle/>
                    <a:p>
                      <a:pPr algn="l">
                        <a:spcBef>
                          <a:spcPts val="0"/>
                        </a:spcBef>
                        <a:spcAft>
                          <a:spcPts val="0"/>
                        </a:spcAft>
                      </a:pPr>
                      <a:r>
                        <a:rPr sz="900" b="0">
                          <a:solidFill>
                            <a:srgbClr val="1E2B24"/>
                          </a:solidFill>
                          <a:latin typeface="Calibri"/>
                        </a:rPr>
                        <a:t>Correspondence-free triangulation, few-view 3D reconstruction, neural radiance fields</a:t>
                      </a:r>
                    </a:p>
                  </a:txBody>
                  <a:tcPr marL="45720" marR="45720" marT="18288" marB="18288" anchor="ctr">
                    <a:solidFill>
                      <a:srgbClr val="EEF4EF"/>
                    </a:solidFill>
                  </a:tcPr>
                </a:tc>
                <a:tc>
                  <a:txBody>
                    <a:bodyPr wrap="square" lIns="45720" rIns="45720" tIns="27432" bIns="27432" anchor="ctr">
                      <a:noAutofit/>
                    </a:bodyPr>
                    <a:lstStyle/>
                    <a:p>
                      <a:pPr algn="l">
                        <a:spcBef>
                          <a:spcPts val="0"/>
                        </a:spcBef>
                        <a:spcAft>
                          <a:spcPts val="0"/>
                        </a:spcAft>
                      </a:pPr>
                      <a:r>
                        <a:rPr sz="900" b="0">
                          <a:solidFill>
                            <a:srgbClr val="1E2B24"/>
                          </a:solidFill>
                          <a:latin typeface="Calibri"/>
                        </a:rPr>
                        <a:t>Needs calibrated geometry or many overlapping images</a:t>
                      </a:r>
                    </a:p>
                  </a:txBody>
                  <a:tcPr marL="45720" marR="45720" marT="18288" marB="18288" anchor="ctr">
                    <a:solidFill>
                      <a:srgbClr val="EEF4EF"/>
                    </a:solidFill>
                  </a:tcPr>
                </a:tc>
              </a:tr>
              <a:tr h="329184">
                <a:tc>
                  <a:txBody>
                    <a:bodyPr wrap="square" lIns="45720" rIns="45720" tIns="27432" bIns="27432" anchor="ctr">
                      <a:noAutofit/>
                    </a:bodyPr>
                    <a:lstStyle/>
                    <a:p>
                      <a:pPr algn="l">
                        <a:spcBef>
                          <a:spcPts val="0"/>
                        </a:spcBef>
                        <a:spcAft>
                          <a:spcPts val="0"/>
                        </a:spcAft>
                      </a:pPr>
                      <a:r>
                        <a:rPr sz="900" b="0">
                          <a:solidFill>
                            <a:srgbClr val="1E2B24"/>
                          </a:solidFill>
                          <a:latin typeface="Calibri"/>
                        </a:rPr>
                        <a:t>Prasetyo, Lai, Mansour, Junos, Naftali et al., 2020–2024 [11]–[15]</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Oil palm</a:t>
                      </a:r>
                    </a:p>
                  </a:txBody>
                  <a:tcPr marL="45720" marR="45720" marT="18288" marB="18288" anchor="ctr">
                    <a:solidFill>
                      <a:srgbClr val="F7FAF7"/>
                    </a:solidFill>
                  </a:tcPr>
                </a:tc>
                <a:tc>
                  <a:txBody>
                    <a:bodyPr wrap="square" lIns="45720" rIns="45720" tIns="27432" bIns="27432" anchor="ctr">
                      <a:noAutofit/>
                    </a:bodyPr>
                    <a:lstStyle/>
                    <a:p>
                      <a:pPr algn="l">
                        <a:spcBef>
                          <a:spcPts val="0"/>
                        </a:spcBef>
                        <a:spcAft>
                          <a:spcPts val="0"/>
                        </a:spcAft>
                      </a:pPr>
                      <a:r>
                        <a:rPr sz="900" b="0">
                          <a:solidFill>
                            <a:srgbClr val="1E2B24"/>
                          </a:solidFill>
                          <a:latin typeface="Calibri"/>
                        </a:rPr>
                        <a:t>Faster R-CNN and YOLO detectors for bunch detection and ripeness classification</a:t>
                      </a:r>
                    </a:p>
                  </a:txBody>
                  <a:tcPr marL="45720" marR="45720" marT="18288" marB="18288" anchor="ctr">
                    <a:solidFill>
                      <a:srgbClr val="F7FAF7"/>
                    </a:solidFill>
                  </a:tcPr>
                </a:tc>
                <a:tc>
                  <a:txBody>
                    <a:bodyPr wrap="square" lIns="45720" rIns="45720" tIns="27432" bIns="27432" anchor="ctr">
                      <a:noAutofit/>
                    </a:bodyPr>
                    <a:lstStyle/>
                    <a:p>
                      <a:pPr algn="l">
                        <a:spcBef>
                          <a:spcPts val="0"/>
                        </a:spcBef>
                        <a:spcAft>
                          <a:spcPts val="0"/>
                        </a:spcAft>
                      </a:pPr>
                      <a:r>
                        <a:rPr sz="900" b="0">
                          <a:solidFill>
                            <a:srgbClr val="1E2B24"/>
                          </a:solidFill>
                          <a:latin typeface="Calibri"/>
                        </a:rPr>
                        <a:t>Per-image detection only; occluded bunches and similar classes stay difficult</a:t>
                      </a:r>
                    </a:p>
                  </a:txBody>
                  <a:tcPr marL="45720" marR="45720" marT="18288" marB="18288" anchor="ctr">
                    <a:solidFill>
                      <a:srgbClr val="F7FAF7"/>
                    </a:solidFill>
                  </a:tcPr>
                </a:tc>
              </a:tr>
              <a:tr h="329184">
                <a:tc>
                  <a:txBody>
                    <a:bodyPr wrap="square" lIns="45720" rIns="45720" tIns="27432" bIns="27432" anchor="ctr">
                      <a:noAutofit/>
                    </a:bodyPr>
                    <a:lstStyle/>
                    <a:p>
                      <a:pPr algn="l">
                        <a:spcBef>
                          <a:spcPts val="0"/>
                        </a:spcBef>
                        <a:spcAft>
                          <a:spcPts val="0"/>
                        </a:spcAft>
                      </a:pPr>
                      <a:r>
                        <a:rPr sz="900" b="0">
                          <a:solidFill>
                            <a:srgbClr val="1E2B24"/>
                          </a:solidFill>
                          <a:latin typeface="Calibri"/>
                        </a:rPr>
                        <a:t>Suharjito et al., 2025 [16]</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Oil palm</a:t>
                      </a:r>
                    </a:p>
                  </a:txBody>
                  <a:tcPr marL="45720" marR="45720" marT="18288" marB="18288" anchor="ctr">
                    <a:solidFill>
                      <a:srgbClr val="EEF4EF"/>
                    </a:solidFill>
                  </a:tcPr>
                </a:tc>
                <a:tc>
                  <a:txBody>
                    <a:bodyPr wrap="square" lIns="45720" rIns="45720" tIns="27432" bIns="27432" anchor="ctr">
                      <a:noAutofit/>
                    </a:bodyPr>
                    <a:lstStyle/>
                    <a:p>
                      <a:pPr algn="l">
                        <a:spcBef>
                          <a:spcPts val="0"/>
                        </a:spcBef>
                        <a:spcAft>
                          <a:spcPts val="0"/>
                        </a:spcAft>
                      </a:pPr>
                      <a:r>
                        <a:rPr sz="900" b="0">
                          <a:solidFill>
                            <a:srgbClr val="1E2B24"/>
                          </a:solidFill>
                          <a:latin typeface="Calibri"/>
                        </a:rPr>
                        <a:t>Public video dataset with frame-level annotations</a:t>
                      </a:r>
                    </a:p>
                  </a:txBody>
                  <a:tcPr marL="45720" marR="45720" marT="18288" marB="18288" anchor="ctr">
                    <a:solidFill>
                      <a:srgbClr val="EEF4EF"/>
                    </a:solidFill>
                  </a:tcPr>
                </a:tc>
                <a:tc>
                  <a:txBody>
                    <a:bodyPr wrap="square" lIns="45720" rIns="45720" tIns="27432" bIns="27432" anchor="ctr">
                      <a:noAutofit/>
                    </a:bodyPr>
                    <a:lstStyle/>
                    <a:p>
                      <a:pPr algn="l">
                        <a:spcBef>
                          <a:spcPts val="0"/>
                        </a:spcBef>
                        <a:spcAft>
                          <a:spcPts val="0"/>
                        </a:spcAft>
                      </a:pPr>
                      <a:r>
                        <a:rPr sz="900" b="0">
                          <a:solidFill>
                            <a:srgbClr val="1E2B24"/>
                          </a:solidFill>
                          <a:latin typeface="Calibri"/>
                        </a:rPr>
                        <a:t>No tree-level counting labels, no counting evaluation</a:t>
                      </a:r>
                    </a:p>
                  </a:txBody>
                  <a:tcPr marL="45720" marR="45720" marT="18288" marB="18288" anchor="ctr">
                    <a:solidFill>
                      <a:srgbClr val="EEF4EF"/>
                    </a:solidFill>
                  </a:tcPr>
                </a:tc>
              </a:tr>
              <a:tr h="457200">
                <a:tc>
                  <a:txBody>
                    <a:bodyPr wrap="square" lIns="45720" rIns="45720" tIns="27432" bIns="27432" anchor="ctr">
                      <a:noAutofit/>
                    </a:bodyPr>
                    <a:lstStyle/>
                    <a:p>
                      <a:pPr algn="l">
                        <a:spcBef>
                          <a:spcPts val="0"/>
                        </a:spcBef>
                        <a:spcAft>
                          <a:spcPts val="0"/>
                        </a:spcAft>
                      </a:pPr>
                      <a:r>
                        <a:rPr sz="900" b="1">
                          <a:solidFill>
                            <a:srgbClr val="1E2B24"/>
                          </a:solidFill>
                          <a:latin typeface="Calibri"/>
                        </a:rPr>
                        <a:t>This work</a:t>
                      </a:r>
                    </a:p>
                  </a:txBody>
                  <a:tcPr marL="45720" marR="45720" marT="18288" marB="18288" anchor="ctr">
                    <a:solidFill>
                      <a:srgbClr val="FBEDE5"/>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Oil palm</a:t>
                      </a:r>
                    </a:p>
                  </a:txBody>
                  <a:tcPr marL="45720" marR="45720" marT="18288" marB="18288" anchor="ctr">
                    <a:solidFill>
                      <a:srgbClr val="FBEDE5"/>
                    </a:solidFill>
                  </a:tcPr>
                </a:tc>
                <a:tc>
                  <a:txBody>
                    <a:bodyPr wrap="square" lIns="45720" rIns="45720" tIns="27432" bIns="27432" anchor="ctr">
                      <a:noAutofit/>
                    </a:bodyPr>
                    <a:lstStyle/>
                    <a:p>
                      <a:pPr algn="l">
                        <a:spcBef>
                          <a:spcPts val="0"/>
                        </a:spcBef>
                        <a:spcAft>
                          <a:spcPts val="0"/>
                        </a:spcAft>
                      </a:pPr>
                      <a:r>
                        <a:rPr sz="900" b="0">
                          <a:solidFill>
                            <a:srgbClr val="1E2B24"/>
                          </a:solidFill>
                          <a:latin typeface="Calibri"/>
                        </a:rPr>
                        <a:t>Regression counters on detection statistics from 4 to 8 smartphone views per tree, scored on ground-truth boxes and on detector boxes</a:t>
                      </a:r>
                    </a:p>
                  </a:txBody>
                  <a:tcPr marL="45720" marR="45720" marT="18288" marB="18288" anchor="ctr">
                    <a:solidFill>
                      <a:srgbClr val="FBEDE5"/>
                    </a:solidFill>
                  </a:tcPr>
                </a:tc>
                <a:tc>
                  <a:txBody>
                    <a:bodyPr wrap="square" lIns="45720" rIns="45720" tIns="27432" bIns="27432" anchor="ctr">
                      <a:noAutofit/>
                    </a:bodyPr>
                    <a:lstStyle/>
                    <a:p>
                      <a:pPr algn="l">
                        <a:spcBef>
                          <a:spcPts val="0"/>
                        </a:spcBef>
                        <a:spcAft>
                          <a:spcPts val="0"/>
                        </a:spcAft>
                      </a:pPr>
                      <a:r>
                        <a:rPr sz="900" b="0">
                          <a:solidFill>
                            <a:srgbClr val="1E2B24"/>
                          </a:solidFill>
                          <a:latin typeface="Calibri"/>
                        </a:rPr>
                        <a:t>Does not yet match bunches across photos (future work)</a:t>
                      </a:r>
                    </a:p>
                  </a:txBody>
                  <a:tcPr marL="45720" marR="45720" marT="18288" marB="18288" anchor="ctr">
                    <a:solidFill>
                      <a:srgbClr val="FBEDE5"/>
                    </a:solidFill>
                  </a:tcPr>
                </a:tc>
              </a:tr>
            </a:tbl>
          </a:graphicData>
        </a:graphic>
      </p:graphicFrame>
      <p:sp>
        <p:nvSpPr>
          <p:cNvPr id="8" name="Rounded Rectangle 7"/>
          <p:cNvSpPr/>
          <p:nvPr/>
        </p:nvSpPr>
        <p:spPr>
          <a:xfrm>
            <a:off x="320040" y="3090672"/>
            <a:ext cx="4160520" cy="1764792"/>
          </a:xfrm>
          <a:prstGeom prst="roundRect">
            <a:avLst>
              <a:gd name="adj" fmla="val 3108"/>
            </a:avLst>
          </a:prstGeom>
          <a:solidFill>
            <a:srgbClr val="FBE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3136392"/>
            <a:ext cx="3840480" cy="201168"/>
          </a:xfrm>
          <a:prstGeom prst="rect">
            <a:avLst/>
          </a:prstGeom>
          <a:noFill/>
        </p:spPr>
        <p:txBody>
          <a:bodyPr wrap="square" lIns="27432" rIns="27432" tIns="27432" bIns="27432" anchor="ctr">
            <a:noAutofit/>
          </a:bodyPr>
          <a:lstStyle/>
          <a:p>
            <a:pPr algn="l">
              <a:spcBef>
                <a:spcPts val="0"/>
              </a:spcBef>
              <a:spcAft>
                <a:spcPts val="0"/>
              </a:spcAft>
            </a:pPr>
            <a:r>
              <a:rPr sz="1050" b="1">
                <a:solidFill>
                  <a:srgbClr val="C8511B"/>
                </a:solidFill>
                <a:latin typeface="Calibri"/>
              </a:rPr>
              <a:t>Research gap</a:t>
            </a:r>
          </a:p>
        </p:txBody>
      </p:sp>
      <p:sp>
        <p:nvSpPr>
          <p:cNvPr id="10" name="TextBox 9"/>
          <p:cNvSpPr txBox="1"/>
          <p:nvPr/>
        </p:nvSpPr>
        <p:spPr>
          <a:xfrm>
            <a:off x="457200" y="3364992"/>
            <a:ext cx="3886200" cy="1463040"/>
          </a:xfrm>
          <a:prstGeom prst="rect">
            <a:avLst/>
          </a:prstGeom>
          <a:noFill/>
        </p:spPr>
        <p:txBody>
          <a:bodyPr wrap="square" lIns="27432" rIns="27432" tIns="27432" bIns="27432" anchor="t">
            <a:noAutofit/>
          </a:bodyPr>
          <a:lstStyle/>
          <a:p>
            <a:pPr algn="l" marL="118872" indent="-118872">
              <a:spcBef>
                <a:spcPts val="0"/>
              </a:spcBef>
              <a:spcAft>
                <a:spcPts val="400"/>
              </a:spcAft>
              <a:buChar char="•"/>
            </a:pPr>
            <a:r>
              <a:rPr sz="1000" b="0">
                <a:solidFill>
                  <a:srgbClr val="1E2B24"/>
                </a:solidFill>
                <a:latin typeface="Calibri"/>
              </a:rPr>
              <a:t>Existing multi-view methods need dense overlap, a moving sensor or calibrated cameras. A field survey gives only 4 to 8 separate photos per tree.</a:t>
            </a:r>
          </a:p>
          <a:p>
            <a:pPr algn="l" marL="118872" indent="-118872">
              <a:spcBef>
                <a:spcPts val="0"/>
              </a:spcBef>
              <a:spcAft>
                <a:spcPts val="400"/>
              </a:spcAft>
              <a:buChar char="•"/>
            </a:pPr>
            <a:r>
              <a:rPr sz="1000" b="0">
                <a:solidFill>
                  <a:srgbClr val="1E2B24"/>
                </a:solidFill>
                <a:latin typeface="Calibri"/>
              </a:rPr>
              <a:t>Oil palm studies stop at detection in single images; the public dataset has no count per tree.</a:t>
            </a:r>
          </a:p>
          <a:p>
            <a:pPr algn="l" marL="118872" indent="-118872">
              <a:spcBef>
                <a:spcPts val="0"/>
              </a:spcBef>
              <a:spcAft>
                <a:spcPts val="0"/>
              </a:spcAft>
              <a:buChar char="•"/>
            </a:pPr>
            <a:r>
              <a:rPr sz="1000" b="0">
                <a:solidFill>
                  <a:srgbClr val="1E2B24"/>
                </a:solidFill>
                <a:latin typeface="Calibri"/>
              </a:rPr>
              <a:t>Counting systems are tested as a whole, on detector boxes only, so the errors of the detector and of the counter cannot be separated.</a:t>
            </a:r>
          </a:p>
        </p:txBody>
      </p:sp>
      <p:sp>
        <p:nvSpPr>
          <p:cNvPr id="11" name="Rounded Rectangle 10"/>
          <p:cNvSpPr/>
          <p:nvPr/>
        </p:nvSpPr>
        <p:spPr>
          <a:xfrm>
            <a:off x="4663440" y="3090672"/>
            <a:ext cx="4160520" cy="1764792"/>
          </a:xfrm>
          <a:prstGeom prst="roundRect">
            <a:avLst>
              <a:gd name="adj" fmla="val 3108"/>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0600" y="3136392"/>
            <a:ext cx="3840480" cy="201168"/>
          </a:xfrm>
          <a:prstGeom prst="rect">
            <a:avLst/>
          </a:prstGeom>
          <a:noFill/>
        </p:spPr>
        <p:txBody>
          <a:bodyPr wrap="square" lIns="27432" rIns="27432" tIns="27432" bIns="27432" anchor="ctr">
            <a:noAutofit/>
          </a:bodyPr>
          <a:lstStyle/>
          <a:p>
            <a:pPr algn="l">
              <a:spcBef>
                <a:spcPts val="0"/>
              </a:spcBef>
              <a:spcAft>
                <a:spcPts val="0"/>
              </a:spcAft>
            </a:pPr>
            <a:r>
              <a:rPr sz="1050" b="1">
                <a:solidFill>
                  <a:srgbClr val="1F4D36"/>
                </a:solidFill>
                <a:latin typeface="Calibri"/>
              </a:rPr>
              <a:t>This study</a:t>
            </a:r>
          </a:p>
        </p:txBody>
      </p:sp>
      <p:sp>
        <p:nvSpPr>
          <p:cNvPr id="13" name="TextBox 12"/>
          <p:cNvSpPr txBox="1"/>
          <p:nvPr/>
        </p:nvSpPr>
        <p:spPr>
          <a:xfrm>
            <a:off x="4800600" y="3364992"/>
            <a:ext cx="3886200" cy="1463040"/>
          </a:xfrm>
          <a:prstGeom prst="rect">
            <a:avLst/>
          </a:prstGeom>
          <a:noFill/>
        </p:spPr>
        <p:txBody>
          <a:bodyPr wrap="square" lIns="27432" rIns="27432" tIns="27432" bIns="27432" anchor="t">
            <a:noAutofit/>
          </a:bodyPr>
          <a:lstStyle/>
          <a:p>
            <a:pPr algn="l" marL="118872" indent="-118872">
              <a:spcBef>
                <a:spcPts val="0"/>
              </a:spcBef>
              <a:spcAft>
                <a:spcPts val="300"/>
              </a:spcAft>
              <a:buChar char="•"/>
            </a:pPr>
            <a:r>
              <a:rPr sz="1000" b="0">
                <a:solidFill>
                  <a:srgbClr val="1E2B24"/>
                </a:solidFill>
                <a:latin typeface="Calibri"/>
              </a:rPr>
              <a:t>7 counters: 2 simple rules and 5 regression models.</a:t>
            </a:r>
          </a:p>
          <a:p>
            <a:pPr algn="l" marL="118872" indent="-118872">
              <a:spcBef>
                <a:spcPts val="0"/>
              </a:spcBef>
              <a:spcAft>
                <a:spcPts val="300"/>
              </a:spcAft>
              <a:buChar char="•"/>
            </a:pPr>
            <a:r>
              <a:rPr sz="1000" b="0">
                <a:solidFill>
                  <a:srgbClr val="1E2B24"/>
                </a:solidFill>
                <a:latin typeface="Calibri"/>
              </a:rPr>
              <a:t>Each counter is tested twice: on boxes drawn by experts (ground truth) and on the boxes of one YOLO26m detector that is never retrained.</a:t>
            </a:r>
          </a:p>
          <a:p>
            <a:pPr algn="l" marL="118872" indent="-118872">
              <a:spcBef>
                <a:spcPts val="0"/>
              </a:spcBef>
              <a:spcAft>
                <a:spcPts val="300"/>
              </a:spcAft>
              <a:buChar char="•"/>
            </a:pPr>
            <a:r>
              <a:rPr sz="1000" b="0">
                <a:solidFill>
                  <a:srgbClr val="1E2B24"/>
                </a:solidFill>
                <a:latin typeface="Calibri"/>
              </a:rPr>
              <a:t>The difference between the two tests is tested statistically (bootstrap, permutation, Holm).</a:t>
            </a:r>
          </a:p>
          <a:p>
            <a:pPr algn="l" marL="118872" indent="-118872">
              <a:spcBef>
                <a:spcPts val="0"/>
              </a:spcBef>
              <a:spcAft>
                <a:spcPts val="0"/>
              </a:spcAft>
              <a:buChar char="•"/>
            </a:pPr>
            <a:r>
              <a:rPr sz="1000" b="0">
                <a:solidFill>
                  <a:srgbClr val="1E2B24"/>
                </a:solidFill>
                <a:latin typeface="Calibri"/>
              </a:rPr>
              <a:t>Extra checks: a second detector, other checkpoints, other confidence thresholds, cross-validation.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0"/>
          </a:xfrm>
          <a:prstGeom prst="rect">
            <a:avLst/>
          </a:prstGeom>
          <a:solidFill>
            <a:srgbClr val="122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6675120" cy="402336"/>
          </a:xfrm>
          <a:prstGeom prst="rect">
            <a:avLst/>
          </a:prstGeom>
          <a:noFill/>
        </p:spPr>
        <p:txBody>
          <a:bodyPr wrap="square" lIns="27432" rIns="27432" tIns="27432" bIns="27432" anchor="ctr">
            <a:noAutofit/>
          </a:bodyPr>
          <a:lstStyle/>
          <a:p>
            <a:pPr algn="l">
              <a:spcBef>
                <a:spcPts val="0"/>
              </a:spcBef>
              <a:spcAft>
                <a:spcPts val="0"/>
              </a:spcAft>
            </a:pPr>
            <a:r>
              <a:rPr sz="2000" b="1">
                <a:solidFill>
                  <a:srgbClr val="FFFFFF"/>
                </a:solidFill>
                <a:latin typeface="Cambria"/>
              </a:rPr>
              <a:t>Experimental design: one counter, two inputs</a:t>
            </a:r>
          </a:p>
        </p:txBody>
      </p:sp>
      <p:sp>
        <p:nvSpPr>
          <p:cNvPr id="4" name="TextBox 3"/>
          <p:cNvSpPr txBox="1"/>
          <p:nvPr/>
        </p:nvSpPr>
        <p:spPr>
          <a:xfrm>
            <a:off x="6949440" y="73152"/>
            <a:ext cx="1874519" cy="402336"/>
          </a:xfrm>
          <a:prstGeom prst="rect">
            <a:avLst/>
          </a:prstGeom>
          <a:noFill/>
        </p:spPr>
        <p:txBody>
          <a:bodyPr wrap="square" lIns="27432" rIns="27432" tIns="27432" bIns="27432" anchor="ctr">
            <a:noAutofit/>
          </a:bodyPr>
          <a:lstStyle/>
          <a:p>
            <a:pPr algn="r">
              <a:spcBef>
                <a:spcPts val="0"/>
              </a:spcBef>
              <a:spcAft>
                <a:spcPts val="0"/>
              </a:spcAft>
            </a:pPr>
            <a:r>
              <a:rPr sz="1000" b="1">
                <a:solidFill>
                  <a:srgbClr val="A9C9A4"/>
                </a:solidFill>
                <a:latin typeface="Calibri"/>
              </a:rPr>
              <a:t>2 · Background</a:t>
            </a:r>
          </a:p>
        </p:txBody>
      </p:sp>
      <p:sp>
        <p:nvSpPr>
          <p:cNvPr id="5" name="TextBox 4"/>
          <p:cNvSpPr txBox="1"/>
          <p:nvPr/>
        </p:nvSpPr>
        <p:spPr>
          <a:xfrm>
            <a:off x="320040" y="4910328"/>
            <a:ext cx="7680960" cy="182880"/>
          </a:xfrm>
          <a:prstGeom prst="rect">
            <a:avLst/>
          </a:prstGeom>
          <a:noFill/>
        </p:spPr>
        <p:txBody>
          <a:bodyPr wrap="square" lIns="27432" rIns="27432" tIns="27432" bIns="27432" anchor="t">
            <a:noAutofit/>
          </a:bodyPr>
          <a:lstStyle/>
          <a:p>
            <a:pPr algn="l">
              <a:spcBef>
                <a:spcPts val="0"/>
              </a:spcBef>
              <a:spcAft>
                <a:spcPts val="0"/>
              </a:spcAft>
            </a:pPr>
            <a:r>
              <a:rPr sz="750" b="0">
                <a:solidFill>
                  <a:srgbClr val="5B6B62"/>
                </a:solidFill>
                <a:latin typeface="Calibri"/>
              </a:rPr>
              <a:t>Muttaqin et al. · Benchmarking Multi-View Tree-Level Oil Palm Bunch Counting Under a Fixed Detector · ICIC 2026</a:t>
            </a:r>
          </a:p>
        </p:txBody>
      </p:sp>
      <p:sp>
        <p:nvSpPr>
          <p:cNvPr id="6" name="TextBox 5"/>
          <p:cNvSpPr txBox="1"/>
          <p:nvPr/>
        </p:nvSpPr>
        <p:spPr>
          <a:xfrm>
            <a:off x="8229600" y="4910328"/>
            <a:ext cx="594360" cy="182880"/>
          </a:xfrm>
          <a:prstGeom prst="rect">
            <a:avLst/>
          </a:prstGeom>
          <a:noFill/>
        </p:spPr>
        <p:txBody>
          <a:bodyPr wrap="square" lIns="27432" rIns="27432" tIns="27432" bIns="27432" anchor="t">
            <a:noAutofit/>
          </a:bodyPr>
          <a:lstStyle/>
          <a:p>
            <a:pPr algn="r">
              <a:spcBef>
                <a:spcPts val="0"/>
              </a:spcBef>
              <a:spcAft>
                <a:spcPts val="0"/>
              </a:spcAft>
            </a:pPr>
            <a:r>
              <a:rPr sz="800" b="0">
                <a:solidFill>
                  <a:srgbClr val="5B6B62"/>
                </a:solidFill>
                <a:latin typeface="Calibri"/>
              </a:rPr>
              <a:t>4</a:t>
            </a:r>
          </a:p>
        </p:txBody>
      </p:sp>
      <p:pic>
        <p:nvPicPr>
          <p:cNvPr id="7" name="Picture 6" descr="s05_0.jpg"/>
          <p:cNvPicPr>
            <a:picLocks noChangeAspect="1"/>
          </p:cNvPicPr>
          <p:nvPr/>
        </p:nvPicPr>
        <p:blipFill>
          <a:blip r:embed="rId2"/>
          <a:srcRect/>
          <a:stretch>
            <a:fillRect/>
          </a:stretch>
        </p:blipFill>
        <p:spPr>
          <a:xfrm>
            <a:off x="320040" y="676656"/>
            <a:ext cx="2743200" cy="1657350"/>
          </a:xfrm>
          <a:prstGeom prst="rect">
            <a:avLst/>
          </a:prstGeom>
        </p:spPr>
      </p:pic>
      <p:sp>
        <p:nvSpPr>
          <p:cNvPr id="8" name="Rounded Rectangle 7"/>
          <p:cNvSpPr/>
          <p:nvPr/>
        </p:nvSpPr>
        <p:spPr>
          <a:xfrm>
            <a:off x="365760" y="722376"/>
            <a:ext cx="1234440" cy="201168"/>
          </a:xfrm>
          <a:prstGeom prst="roundRect">
            <a:avLst>
              <a:gd name="adj" fmla="val 18181"/>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722376"/>
            <a:ext cx="1234440" cy="201168"/>
          </a:xfrm>
          <a:prstGeom prst="rect">
            <a:avLst/>
          </a:prstGeom>
          <a:noFill/>
        </p:spPr>
        <p:txBody>
          <a:bodyPr wrap="square" lIns="27432" rIns="27432" tIns="27432" bIns="27432" anchor="ctr">
            <a:noAutofit/>
          </a:bodyPr>
          <a:lstStyle/>
          <a:p>
            <a:pPr algn="ctr">
              <a:spcBef>
                <a:spcPts val="0"/>
              </a:spcBef>
              <a:spcAft>
                <a:spcPts val="0"/>
              </a:spcAft>
            </a:pPr>
            <a:r>
              <a:rPr sz="900" b="1">
                <a:solidFill>
                  <a:srgbClr val="FFFFFF"/>
                </a:solidFill>
                <a:latin typeface="Calibri"/>
              </a:rPr>
              <a:t>A · Ground truth</a:t>
            </a:r>
          </a:p>
        </p:txBody>
      </p:sp>
      <p:sp>
        <p:nvSpPr>
          <p:cNvPr id="10" name="TextBox 9"/>
          <p:cNvSpPr txBox="1"/>
          <p:nvPr/>
        </p:nvSpPr>
        <p:spPr>
          <a:xfrm>
            <a:off x="320040" y="2340864"/>
            <a:ext cx="2743200" cy="420624"/>
          </a:xfrm>
          <a:prstGeom prst="rect">
            <a:avLst/>
          </a:prstGeom>
          <a:noFill/>
        </p:spPr>
        <p:txBody>
          <a:bodyPr wrap="square" lIns="27432" rIns="27432" tIns="27432" bIns="27432" anchor="t">
            <a:noAutofit/>
          </a:bodyPr>
          <a:lstStyle/>
          <a:p>
            <a:pPr algn="l">
              <a:spcBef>
                <a:spcPts val="0"/>
              </a:spcBef>
              <a:spcAft>
                <a:spcPts val="0"/>
              </a:spcAft>
            </a:pPr>
            <a:r>
              <a:rPr sz="850" b="1">
                <a:solidFill>
                  <a:srgbClr val="1E2B24"/>
                </a:solidFill>
                <a:latin typeface="Calibri"/>
              </a:rPr>
              <a:t>Boxes and classes drawn by experts. </a:t>
            </a:r>
            <a:r>
              <a:rPr sz="850" b="0">
                <a:solidFill>
                  <a:srgbClr val="1E2B24"/>
                </a:solidFill>
                <a:latin typeface="Calibri"/>
              </a:rPr>
              <a:t>Every bunch is found and every class is correct.</a:t>
            </a:r>
          </a:p>
        </p:txBody>
      </p:sp>
      <p:pic>
        <p:nvPicPr>
          <p:cNvPr id="11" name="Picture 10" descr="s05_1.jpg"/>
          <p:cNvPicPr>
            <a:picLocks noChangeAspect="1"/>
          </p:cNvPicPr>
          <p:nvPr/>
        </p:nvPicPr>
        <p:blipFill>
          <a:blip r:embed="rId3"/>
          <a:srcRect/>
          <a:stretch>
            <a:fillRect/>
          </a:stretch>
        </p:blipFill>
        <p:spPr>
          <a:xfrm>
            <a:off x="320040" y="2761487"/>
            <a:ext cx="2743200" cy="1657350"/>
          </a:xfrm>
          <a:prstGeom prst="rect">
            <a:avLst/>
          </a:prstGeom>
        </p:spPr>
      </p:pic>
      <p:sp>
        <p:nvSpPr>
          <p:cNvPr id="12" name="Rounded Rectangle 11"/>
          <p:cNvSpPr/>
          <p:nvPr/>
        </p:nvSpPr>
        <p:spPr>
          <a:xfrm>
            <a:off x="365760" y="2807207"/>
            <a:ext cx="1234440" cy="201168"/>
          </a:xfrm>
          <a:prstGeom prst="roundRect">
            <a:avLst>
              <a:gd name="adj" fmla="val 18181"/>
            </a:avLst>
          </a:prstGeom>
          <a:solidFill>
            <a:srgbClr val="C85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807207"/>
            <a:ext cx="1234440" cy="201168"/>
          </a:xfrm>
          <a:prstGeom prst="rect">
            <a:avLst/>
          </a:prstGeom>
          <a:noFill/>
        </p:spPr>
        <p:txBody>
          <a:bodyPr wrap="square" lIns="27432" rIns="27432" tIns="27432" bIns="27432" anchor="ctr">
            <a:noAutofit/>
          </a:bodyPr>
          <a:lstStyle/>
          <a:p>
            <a:pPr algn="ctr">
              <a:spcBef>
                <a:spcPts val="0"/>
              </a:spcBef>
              <a:spcAft>
                <a:spcPts val="0"/>
              </a:spcAft>
            </a:pPr>
            <a:r>
              <a:rPr sz="900" b="1">
                <a:solidFill>
                  <a:srgbClr val="FFFFFF"/>
                </a:solidFill>
                <a:latin typeface="Calibri"/>
              </a:rPr>
              <a:t>B · Fixed detector</a:t>
            </a:r>
          </a:p>
        </p:txBody>
      </p:sp>
      <p:sp>
        <p:nvSpPr>
          <p:cNvPr id="14" name="TextBox 13"/>
          <p:cNvSpPr txBox="1"/>
          <p:nvPr/>
        </p:nvSpPr>
        <p:spPr>
          <a:xfrm>
            <a:off x="320040" y="4425696"/>
            <a:ext cx="2743200" cy="420624"/>
          </a:xfrm>
          <a:prstGeom prst="rect">
            <a:avLst/>
          </a:prstGeom>
          <a:noFill/>
        </p:spPr>
        <p:txBody>
          <a:bodyPr wrap="square" lIns="27432" rIns="27432" tIns="27432" bIns="27432" anchor="t">
            <a:noAutofit/>
          </a:bodyPr>
          <a:lstStyle/>
          <a:p>
            <a:pPr algn="l">
              <a:spcBef>
                <a:spcPts val="0"/>
              </a:spcBef>
              <a:spcAft>
                <a:spcPts val="0"/>
              </a:spcAft>
            </a:pPr>
            <a:r>
              <a:rPr sz="850" b="1">
                <a:solidFill>
                  <a:srgbClr val="1E2B24"/>
                </a:solidFill>
                <a:latin typeface="Calibri"/>
              </a:rPr>
              <a:t>One YOLO26m model, trained on 716 trees and never retrained. </a:t>
            </a:r>
            <a:r>
              <a:rPr sz="850" b="0">
                <a:solidFill>
                  <a:srgbClr val="1E2B24"/>
                </a:solidFill>
                <a:latin typeface="Calibri"/>
              </a:rPr>
              <a:t>It misses bunches, swaps classes and duplicates boxes.</a:t>
            </a:r>
          </a:p>
        </p:txBody>
      </p:sp>
      <p:sp>
        <p:nvSpPr>
          <p:cNvPr id="15" name="Rounded Rectangle 14"/>
          <p:cNvSpPr/>
          <p:nvPr/>
        </p:nvSpPr>
        <p:spPr>
          <a:xfrm>
            <a:off x="3246120" y="676656"/>
            <a:ext cx="5577840" cy="1152144"/>
          </a:xfrm>
          <a:prstGeom prst="roundRect">
            <a:avLst>
              <a:gd name="adj" fmla="val 4761"/>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319272" y="740664"/>
            <a:ext cx="237744" cy="237744"/>
          </a:xfrm>
          <a:prstGeom prst="ellipse">
            <a:avLst/>
          </a:prstGeom>
          <a:solidFill>
            <a:srgbClr val="1F4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19272" y="740664"/>
            <a:ext cx="237744" cy="237744"/>
          </a:xfrm>
          <a:prstGeom prst="rect">
            <a:avLst/>
          </a:prstGeom>
          <a:noFill/>
        </p:spPr>
        <p:txBody>
          <a:bodyPr wrap="square" lIns="27432" rIns="27432" tIns="27432" bIns="27432" anchor="ctr">
            <a:noAutofit/>
          </a:bodyPr>
          <a:lstStyle/>
          <a:p>
            <a:pPr algn="ctr">
              <a:spcBef>
                <a:spcPts val="0"/>
              </a:spcBef>
              <a:spcAft>
                <a:spcPts val="0"/>
              </a:spcAft>
            </a:pPr>
            <a:r>
              <a:rPr sz="1000" b="1">
                <a:solidFill>
                  <a:srgbClr val="FFFFFF"/>
                </a:solidFill>
                <a:latin typeface="Calibri"/>
              </a:rPr>
              <a:t>1</a:t>
            </a:r>
          </a:p>
        </p:txBody>
      </p:sp>
      <p:sp>
        <p:nvSpPr>
          <p:cNvPr id="18" name="TextBox 17"/>
          <p:cNvSpPr txBox="1"/>
          <p:nvPr/>
        </p:nvSpPr>
        <p:spPr>
          <a:xfrm>
            <a:off x="3621024" y="740664"/>
            <a:ext cx="5029200" cy="237744"/>
          </a:xfrm>
          <a:prstGeom prst="rect">
            <a:avLst/>
          </a:prstGeom>
          <a:noFill/>
        </p:spPr>
        <p:txBody>
          <a:bodyPr wrap="square" lIns="27432" rIns="27432" tIns="27432" bIns="27432" anchor="ctr">
            <a:noAutofit/>
          </a:bodyPr>
          <a:lstStyle/>
          <a:p>
            <a:pPr algn="l">
              <a:spcBef>
                <a:spcPts val="0"/>
              </a:spcBef>
              <a:spcAft>
                <a:spcPts val="0"/>
              </a:spcAft>
            </a:pPr>
            <a:r>
              <a:rPr sz="1100" b="1">
                <a:solidFill>
                  <a:srgbClr val="1F4D36"/>
                </a:solidFill>
                <a:latin typeface="Calibri"/>
              </a:rPr>
              <a:t>Counter input: numbers that summarise the boxes of one tree, not images</a:t>
            </a:r>
          </a:p>
        </p:txBody>
      </p:sp>
      <p:sp>
        <p:nvSpPr>
          <p:cNvPr id="19" name="TextBox 18"/>
          <p:cNvSpPr txBox="1"/>
          <p:nvPr/>
        </p:nvSpPr>
        <p:spPr>
          <a:xfrm>
            <a:off x="3621024" y="978408"/>
            <a:ext cx="5120640" cy="841248"/>
          </a:xfrm>
          <a:prstGeom prst="rect">
            <a:avLst/>
          </a:prstGeom>
          <a:noFill/>
        </p:spPr>
        <p:txBody>
          <a:bodyPr wrap="square" lIns="27432" rIns="27432" tIns="27432" bIns="27432" anchor="t">
            <a:noAutofit/>
          </a:bodyPr>
          <a:lstStyle/>
          <a:p>
            <a:pPr algn="l">
              <a:spcBef>
                <a:spcPts val="0"/>
              </a:spcBef>
              <a:spcAft>
                <a:spcPts val="200"/>
              </a:spcAft>
            </a:pPr>
            <a:r>
              <a:rPr sz="950" b="1">
                <a:solidFill>
                  <a:srgbClr val="1E2B24"/>
                </a:solidFill>
                <a:latin typeface="Calibri"/>
              </a:rPr>
              <a:t>Baseline set F0, 13 numbers: </a:t>
            </a:r>
            <a:r>
              <a:rPr sz="950" b="0">
                <a:solidFill>
                  <a:srgbClr val="1E2B24"/>
                </a:solidFill>
                <a:latin typeface="Calibri"/>
              </a:rPr>
              <a:t>for each class, the number of boxes in all photos, the largest number in one photo and the mean per photo; plus the number of photos.</a:t>
            </a:r>
          </a:p>
          <a:p>
            <a:pPr algn="l">
              <a:spcBef>
                <a:spcPts val="0"/>
              </a:spcBef>
              <a:spcAft>
                <a:spcPts val="200"/>
              </a:spcAft>
            </a:pPr>
            <a:r>
              <a:rPr sz="950" b="1">
                <a:solidFill>
                  <a:srgbClr val="1E2B24"/>
                </a:solidFill>
                <a:latin typeface="Calibri"/>
              </a:rPr>
              <a:t>Full set F_all, 67 numbers: </a:t>
            </a:r>
            <a:r>
              <a:rPr sz="950" b="0">
                <a:solidFill>
                  <a:srgbClr val="1E2B24"/>
                </a:solidFill>
                <a:latin typeface="Calibri"/>
              </a:rPr>
              <a:t>F0 + box confidence (20) + box position and size (8) + spread across photos (20) + class shares (6).</a:t>
            </a:r>
          </a:p>
          <a:p>
            <a:pPr algn="l">
              <a:spcBef>
                <a:spcPts val="0"/>
              </a:spcBef>
              <a:spcAft>
                <a:spcPts val="0"/>
              </a:spcAft>
            </a:pPr>
            <a:r>
              <a:rPr sz="950" b="0">
                <a:solidFill>
                  <a:srgbClr val="5B6B62"/>
                </a:solidFill>
                <a:latin typeface="Calibri"/>
              </a:rPr>
              <a:t>Example, B3 with 2 boxes in each of 4 photos: sum 8, largest 2, mean 2.0; true count 4.</a:t>
            </a:r>
          </a:p>
        </p:txBody>
      </p:sp>
      <p:sp>
        <p:nvSpPr>
          <p:cNvPr id="20" name="Rounded Rectangle 19"/>
          <p:cNvSpPr/>
          <p:nvPr/>
        </p:nvSpPr>
        <p:spPr>
          <a:xfrm>
            <a:off x="3246120" y="1883664"/>
            <a:ext cx="5577840" cy="1060704"/>
          </a:xfrm>
          <a:prstGeom prst="roundRect">
            <a:avLst>
              <a:gd name="adj" fmla="val 5172"/>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319272" y="1947672"/>
            <a:ext cx="237744" cy="237744"/>
          </a:xfrm>
          <a:prstGeom prst="ellipse">
            <a:avLst/>
          </a:prstGeom>
          <a:solidFill>
            <a:srgbClr val="1F4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19272" y="1947672"/>
            <a:ext cx="237744" cy="237744"/>
          </a:xfrm>
          <a:prstGeom prst="rect">
            <a:avLst/>
          </a:prstGeom>
          <a:noFill/>
        </p:spPr>
        <p:txBody>
          <a:bodyPr wrap="square" lIns="27432" rIns="27432" tIns="27432" bIns="27432" anchor="ctr">
            <a:noAutofit/>
          </a:bodyPr>
          <a:lstStyle/>
          <a:p>
            <a:pPr algn="ctr">
              <a:spcBef>
                <a:spcPts val="0"/>
              </a:spcBef>
              <a:spcAft>
                <a:spcPts val="0"/>
              </a:spcAft>
            </a:pPr>
            <a:r>
              <a:rPr sz="1000" b="1">
                <a:solidFill>
                  <a:srgbClr val="FFFFFF"/>
                </a:solidFill>
                <a:latin typeface="Calibri"/>
              </a:rPr>
              <a:t>2</a:t>
            </a:r>
          </a:p>
        </p:txBody>
      </p:sp>
      <p:sp>
        <p:nvSpPr>
          <p:cNvPr id="23" name="TextBox 22"/>
          <p:cNvSpPr txBox="1"/>
          <p:nvPr/>
        </p:nvSpPr>
        <p:spPr>
          <a:xfrm>
            <a:off x="3621024" y="1947672"/>
            <a:ext cx="5029200" cy="237744"/>
          </a:xfrm>
          <a:prstGeom prst="rect">
            <a:avLst/>
          </a:prstGeom>
          <a:noFill/>
        </p:spPr>
        <p:txBody>
          <a:bodyPr wrap="square" lIns="27432" rIns="27432" tIns="27432" bIns="27432" anchor="ctr">
            <a:noAutofit/>
          </a:bodyPr>
          <a:lstStyle/>
          <a:p>
            <a:pPr algn="l">
              <a:spcBef>
                <a:spcPts val="0"/>
              </a:spcBef>
              <a:spcAft>
                <a:spcPts val="0"/>
              </a:spcAft>
            </a:pPr>
            <a:r>
              <a:rPr sz="1100" b="1">
                <a:solidFill>
                  <a:srgbClr val="1F4D36"/>
                </a:solidFill>
                <a:latin typeface="Calibri"/>
              </a:rPr>
              <a:t>Counters: from these numbers to four counts (B1 to B4)</a:t>
            </a:r>
          </a:p>
        </p:txBody>
      </p:sp>
      <p:sp>
        <p:nvSpPr>
          <p:cNvPr id="24" name="TextBox 23"/>
          <p:cNvSpPr txBox="1"/>
          <p:nvPr/>
        </p:nvSpPr>
        <p:spPr>
          <a:xfrm>
            <a:off x="3621024" y="2185416"/>
            <a:ext cx="5120640" cy="749808"/>
          </a:xfrm>
          <a:prstGeom prst="rect">
            <a:avLst/>
          </a:prstGeom>
          <a:noFill/>
        </p:spPr>
        <p:txBody>
          <a:bodyPr wrap="square" lIns="27432" rIns="27432" tIns="27432" bIns="27432" anchor="t">
            <a:noAutofit/>
          </a:bodyPr>
          <a:lstStyle/>
          <a:p>
            <a:pPr algn="l">
              <a:spcBef>
                <a:spcPts val="0"/>
              </a:spcBef>
              <a:spcAft>
                <a:spcPts val="200"/>
              </a:spcAft>
            </a:pPr>
            <a:r>
              <a:rPr sz="950" b="1">
                <a:solidFill>
                  <a:srgbClr val="1E2B24"/>
                </a:solidFill>
                <a:latin typeface="Calibri"/>
              </a:rPr>
              <a:t>2 simple rules: </a:t>
            </a:r>
            <a:r>
              <a:rPr sz="950" b="0">
                <a:solidFill>
                  <a:srgbClr val="1E2B24"/>
                </a:solidFill>
                <a:latin typeface="Calibri"/>
              </a:rPr>
              <a:t>add up all boxes (plain sum); or divide that sum by k, the average number of appearances per bunch in the training trees (global divisor; k = 1.891 for expert boxes, 1.793 for detector boxes).</a:t>
            </a:r>
          </a:p>
          <a:p>
            <a:pPr algn="l">
              <a:spcBef>
                <a:spcPts val="0"/>
              </a:spcBef>
              <a:spcAft>
                <a:spcPts val="0"/>
              </a:spcAft>
            </a:pPr>
            <a:r>
              <a:rPr sz="950" b="1">
                <a:solidFill>
                  <a:srgbClr val="1E2B24"/>
                </a:solidFill>
                <a:latin typeface="Calibri"/>
              </a:rPr>
              <a:t>5 regression models, trained on 716 trees: </a:t>
            </a:r>
            <a:r>
              <a:rPr sz="950" b="0">
                <a:solidFill>
                  <a:srgbClr val="1E2B24"/>
                </a:solidFill>
                <a:latin typeface="Calibri"/>
              </a:rPr>
              <a:t>Linear, Ridge, ElasticNet, SVM, Random Forest.</a:t>
            </a:r>
          </a:p>
        </p:txBody>
      </p:sp>
      <p:sp>
        <p:nvSpPr>
          <p:cNvPr id="25" name="Rounded Rectangle 24"/>
          <p:cNvSpPr/>
          <p:nvPr/>
        </p:nvSpPr>
        <p:spPr>
          <a:xfrm>
            <a:off x="3246120" y="2999232"/>
            <a:ext cx="5577840" cy="1005840"/>
          </a:xfrm>
          <a:prstGeom prst="roundRect">
            <a:avLst>
              <a:gd name="adj" fmla="val 5454"/>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319272" y="3063239"/>
            <a:ext cx="237744" cy="237744"/>
          </a:xfrm>
          <a:prstGeom prst="ellipse">
            <a:avLst/>
          </a:prstGeom>
          <a:solidFill>
            <a:srgbClr val="1F4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19272" y="3063239"/>
            <a:ext cx="237744" cy="237744"/>
          </a:xfrm>
          <a:prstGeom prst="rect">
            <a:avLst/>
          </a:prstGeom>
          <a:noFill/>
        </p:spPr>
        <p:txBody>
          <a:bodyPr wrap="square" lIns="27432" rIns="27432" tIns="27432" bIns="27432" anchor="ctr">
            <a:noAutofit/>
          </a:bodyPr>
          <a:lstStyle/>
          <a:p>
            <a:pPr algn="ctr">
              <a:spcBef>
                <a:spcPts val="0"/>
              </a:spcBef>
              <a:spcAft>
                <a:spcPts val="0"/>
              </a:spcAft>
            </a:pPr>
            <a:r>
              <a:rPr sz="1000" b="1">
                <a:solidFill>
                  <a:srgbClr val="FFFFFF"/>
                </a:solidFill>
                <a:latin typeface="Calibri"/>
              </a:rPr>
              <a:t>3</a:t>
            </a:r>
          </a:p>
        </p:txBody>
      </p:sp>
      <p:sp>
        <p:nvSpPr>
          <p:cNvPr id="28" name="TextBox 27"/>
          <p:cNvSpPr txBox="1"/>
          <p:nvPr/>
        </p:nvSpPr>
        <p:spPr>
          <a:xfrm>
            <a:off x="3621024" y="3063239"/>
            <a:ext cx="5029200" cy="237744"/>
          </a:xfrm>
          <a:prstGeom prst="rect">
            <a:avLst/>
          </a:prstGeom>
          <a:noFill/>
        </p:spPr>
        <p:txBody>
          <a:bodyPr wrap="square" lIns="27432" rIns="27432" tIns="27432" bIns="27432" anchor="ctr">
            <a:noAutofit/>
          </a:bodyPr>
          <a:lstStyle/>
          <a:p>
            <a:pPr algn="l">
              <a:spcBef>
                <a:spcPts val="0"/>
              </a:spcBef>
              <a:spcAft>
                <a:spcPts val="0"/>
              </a:spcAft>
            </a:pPr>
            <a:r>
              <a:rPr sz="1100" b="1">
                <a:solidFill>
                  <a:srgbClr val="1F4D36"/>
                </a:solidFill>
                <a:latin typeface="Calibri"/>
              </a:rPr>
              <a:t>Accuracy on 141 test trees</a:t>
            </a:r>
          </a:p>
        </p:txBody>
      </p:sp>
      <p:sp>
        <p:nvSpPr>
          <p:cNvPr id="29" name="TextBox 28"/>
          <p:cNvSpPr txBox="1"/>
          <p:nvPr/>
        </p:nvSpPr>
        <p:spPr>
          <a:xfrm>
            <a:off x="3621024" y="3300984"/>
            <a:ext cx="3017520" cy="676656"/>
          </a:xfrm>
          <a:prstGeom prst="rect">
            <a:avLst/>
          </a:prstGeom>
          <a:noFill/>
        </p:spPr>
        <p:txBody>
          <a:bodyPr wrap="square" lIns="27432" rIns="27432" tIns="27432" bIns="27432" anchor="t">
            <a:noAutofit/>
          </a:bodyPr>
          <a:lstStyle/>
          <a:p>
            <a:pPr algn="l">
              <a:spcBef>
                <a:spcPts val="0"/>
              </a:spcBef>
              <a:spcAft>
                <a:spcPts val="200"/>
              </a:spcAft>
            </a:pPr>
            <a:r>
              <a:rPr sz="950" b="1">
                <a:solidFill>
                  <a:srgbClr val="1E2B24"/>
                </a:solidFill>
                <a:latin typeface="Calibri"/>
              </a:rPr>
              <a:t>Class ±1: </a:t>
            </a:r>
            <a:r>
              <a:rPr sz="950" b="0">
                <a:solidFill>
                  <a:srgbClr val="1E2B24"/>
                </a:solidFill>
                <a:latin typeface="Calibri"/>
              </a:rPr>
              <a:t>share of class counts that are within one bunch of the true count.</a:t>
            </a:r>
          </a:p>
          <a:p>
            <a:pPr algn="l">
              <a:spcBef>
                <a:spcPts val="0"/>
              </a:spcBef>
              <a:spcAft>
                <a:spcPts val="0"/>
              </a:spcAft>
            </a:pPr>
            <a:r>
              <a:rPr sz="950" b="1">
                <a:solidFill>
                  <a:srgbClr val="1E2B24"/>
                </a:solidFill>
                <a:latin typeface="Calibri"/>
              </a:rPr>
              <a:t>Tree ±1: </a:t>
            </a:r>
            <a:r>
              <a:rPr sz="950" b="0">
                <a:solidFill>
                  <a:srgbClr val="1E2B24"/>
                </a:solidFill>
                <a:latin typeface="Calibri"/>
              </a:rPr>
              <a:t>share of trees where all four class counts are within one bunch.</a:t>
            </a:r>
          </a:p>
        </p:txBody>
      </p:sp>
      <p:graphicFrame>
        <p:nvGraphicFramePr>
          <p:cNvPr id="30" name="Table 29"/>
          <p:cNvGraphicFramePr>
            <a:graphicFrameLocks noGrp="1"/>
          </p:cNvGraphicFramePr>
          <p:nvPr/>
        </p:nvGraphicFramePr>
        <p:xfrm>
          <a:off x="6675120" y="3063240"/>
          <a:ext cx="2011680" cy="548640"/>
        </p:xfrm>
        <a:graphic>
          <a:graphicData uri="http://schemas.openxmlformats.org/drawingml/2006/table">
            <a:tbl>
              <a:tblPr>
                <a:tableStyleId>{5C22544A-7EE6-4342-B048-85BDC9FD1C3A}</a:tableStyleId>
              </a:tblPr>
              <a:tblGrid>
                <a:gridCol w="548640"/>
                <a:gridCol w="365760"/>
                <a:gridCol w="365760"/>
                <a:gridCol w="365760"/>
                <a:gridCol w="365760"/>
              </a:tblGrid>
              <a:tr h="182880">
                <a:tc>
                  <a:txBody>
                    <a:bodyPr wrap="square" lIns="45720" rIns="45720" tIns="27432" bIns="27432" anchor="ctr">
                      <a:noAutofit/>
                    </a:bodyPr>
                    <a:lstStyle/>
                    <a:p>
                      <a:pPr algn="ctr">
                        <a:spcBef>
                          <a:spcPts val="0"/>
                        </a:spcBef>
                        <a:spcAft>
                          <a:spcPts val="0"/>
                        </a:spcAft>
                      </a:pPr>
                      <a:r>
                        <a:rPr sz="900" b="1">
                          <a:solidFill>
                            <a:srgbClr val="FFFFFF"/>
                          </a:solidFill>
                          <a:latin typeface="Calibri"/>
                        </a:rPr>
                        <a:t/>
                      </a:r>
                    </a:p>
                  </a:txBody>
                  <a:tcPr marL="45720" marR="45720" marT="18288" marB="18288" anchor="ctr">
                    <a:solidFill>
                      <a:srgbClr val="1F4D36"/>
                    </a:solidFill>
                  </a:tcPr>
                </a:tc>
                <a:tc>
                  <a:txBody>
                    <a:bodyPr wrap="square" lIns="45720" rIns="45720" tIns="27432" bIns="27432" anchor="ctr">
                      <a:noAutofit/>
                    </a:bodyPr>
                    <a:lstStyle/>
                    <a:p>
                      <a:pPr algn="ctr">
                        <a:spcBef>
                          <a:spcPts val="0"/>
                        </a:spcBef>
                        <a:spcAft>
                          <a:spcPts val="0"/>
                        </a:spcAft>
                      </a:pPr>
                      <a:r>
                        <a:rPr sz="900" b="1">
                          <a:solidFill>
                            <a:srgbClr val="FFFFFF"/>
                          </a:solidFill>
                          <a:latin typeface="Calibri"/>
                        </a:rPr>
                        <a:t>B1</a:t>
                      </a:r>
                    </a:p>
                  </a:txBody>
                  <a:tcPr marL="45720" marR="45720" marT="18288" marB="18288" anchor="ctr">
                    <a:solidFill>
                      <a:srgbClr val="1F4D36"/>
                    </a:solidFill>
                  </a:tcPr>
                </a:tc>
                <a:tc>
                  <a:txBody>
                    <a:bodyPr wrap="square" lIns="45720" rIns="45720" tIns="27432" bIns="27432" anchor="ctr">
                      <a:noAutofit/>
                    </a:bodyPr>
                    <a:lstStyle/>
                    <a:p>
                      <a:pPr algn="ctr">
                        <a:spcBef>
                          <a:spcPts val="0"/>
                        </a:spcBef>
                        <a:spcAft>
                          <a:spcPts val="0"/>
                        </a:spcAft>
                      </a:pPr>
                      <a:r>
                        <a:rPr sz="900" b="1">
                          <a:solidFill>
                            <a:srgbClr val="FFFFFF"/>
                          </a:solidFill>
                          <a:latin typeface="Calibri"/>
                        </a:rPr>
                        <a:t>B2</a:t>
                      </a:r>
                    </a:p>
                  </a:txBody>
                  <a:tcPr marL="45720" marR="45720" marT="18288" marB="18288" anchor="ctr">
                    <a:solidFill>
                      <a:srgbClr val="1F4D36"/>
                    </a:solidFill>
                  </a:tcPr>
                </a:tc>
                <a:tc>
                  <a:txBody>
                    <a:bodyPr wrap="square" lIns="45720" rIns="45720" tIns="27432" bIns="27432" anchor="ctr">
                      <a:noAutofit/>
                    </a:bodyPr>
                    <a:lstStyle/>
                    <a:p>
                      <a:pPr algn="ctr">
                        <a:spcBef>
                          <a:spcPts val="0"/>
                        </a:spcBef>
                        <a:spcAft>
                          <a:spcPts val="0"/>
                        </a:spcAft>
                      </a:pPr>
                      <a:r>
                        <a:rPr sz="900" b="1">
                          <a:solidFill>
                            <a:srgbClr val="FFFFFF"/>
                          </a:solidFill>
                          <a:latin typeface="Calibri"/>
                        </a:rPr>
                        <a:t>B3</a:t>
                      </a:r>
                    </a:p>
                  </a:txBody>
                  <a:tcPr marL="45720" marR="45720" marT="18288" marB="18288" anchor="ctr">
                    <a:solidFill>
                      <a:srgbClr val="1F4D36"/>
                    </a:solidFill>
                  </a:tcPr>
                </a:tc>
                <a:tc>
                  <a:txBody>
                    <a:bodyPr wrap="square" lIns="45720" rIns="45720" tIns="27432" bIns="27432" anchor="ctr">
                      <a:noAutofit/>
                    </a:bodyPr>
                    <a:lstStyle/>
                    <a:p>
                      <a:pPr algn="ctr">
                        <a:spcBef>
                          <a:spcPts val="0"/>
                        </a:spcBef>
                        <a:spcAft>
                          <a:spcPts val="0"/>
                        </a:spcAft>
                      </a:pPr>
                      <a:r>
                        <a:rPr sz="900" b="1">
                          <a:solidFill>
                            <a:srgbClr val="FFFFFF"/>
                          </a:solidFill>
                          <a:latin typeface="Calibri"/>
                        </a:rPr>
                        <a:t>B4</a:t>
                      </a:r>
                    </a:p>
                  </a:txBody>
                  <a:tcPr marL="45720" marR="45720" marT="18288" marB="18288" anchor="ctr">
                    <a:solidFill>
                      <a:srgbClr val="1F4D36"/>
                    </a:solidFill>
                  </a:tcPr>
                </a:tc>
              </a:tr>
              <a:tr h="182880">
                <a:tc>
                  <a:txBody>
                    <a:bodyPr wrap="square" lIns="45720" rIns="45720" tIns="27432" bIns="27432" anchor="ctr">
                      <a:noAutofit/>
                    </a:bodyPr>
                    <a:lstStyle/>
                    <a:p>
                      <a:pPr algn="ctr">
                        <a:spcBef>
                          <a:spcPts val="0"/>
                        </a:spcBef>
                        <a:spcAft>
                          <a:spcPts val="0"/>
                        </a:spcAft>
                      </a:pPr>
                      <a:r>
                        <a:rPr sz="900" b="1">
                          <a:solidFill>
                            <a:srgbClr val="1E2B24"/>
                          </a:solidFill>
                          <a:latin typeface="Calibri"/>
                        </a:rPr>
                        <a:t>True</a:t>
                      </a:r>
                    </a:p>
                  </a:txBody>
                  <a:tcPr marL="45720" marR="45720" marT="18288" marB="18288" anchor="ctr">
                    <a:solidFill>
                      <a:srgbClr val="FFFFFF"/>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1</a:t>
                      </a:r>
                    </a:p>
                  </a:txBody>
                  <a:tcPr marL="45720" marR="45720" marT="18288" marB="18288" anchor="ctr">
                    <a:solidFill>
                      <a:srgbClr val="FFFFFF"/>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2</a:t>
                      </a:r>
                    </a:p>
                  </a:txBody>
                  <a:tcPr marL="45720" marR="45720" marT="18288" marB="18288" anchor="ctr">
                    <a:solidFill>
                      <a:srgbClr val="FFFFFF"/>
                    </a:solidFill>
                  </a:tcPr>
                </a:tc>
                <a:tc>
                  <a:txBody>
                    <a:bodyPr wrap="square" lIns="45720" rIns="45720" tIns="27432" bIns="27432" anchor="ctr">
                      <a:noAutofit/>
                    </a:bodyPr>
                    <a:lstStyle/>
                    <a:p>
                      <a:pPr algn="ctr">
                        <a:spcBef>
                          <a:spcPts val="0"/>
                        </a:spcBef>
                        <a:spcAft>
                          <a:spcPts val="0"/>
                        </a:spcAft>
                      </a:pPr>
                      <a:r>
                        <a:rPr sz="900" b="1">
                          <a:solidFill>
                            <a:srgbClr val="9E2A2B"/>
                          </a:solidFill>
                          <a:latin typeface="Calibri"/>
                        </a:rPr>
                        <a:t>5</a:t>
                      </a:r>
                    </a:p>
                  </a:txBody>
                  <a:tcPr marL="45720" marR="45720" marT="18288" marB="18288" anchor="ctr">
                    <a:solidFill>
                      <a:srgbClr val="FBE3E3"/>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2</a:t>
                      </a:r>
                    </a:p>
                  </a:txBody>
                  <a:tcPr marL="45720" marR="45720" marT="18288" marB="18288" anchor="ctr">
                    <a:solidFill>
                      <a:srgbClr val="FFFFFF"/>
                    </a:solidFill>
                  </a:tcPr>
                </a:tc>
              </a:tr>
              <a:tr h="182880">
                <a:tc>
                  <a:txBody>
                    <a:bodyPr wrap="square" lIns="45720" rIns="45720" tIns="27432" bIns="27432" anchor="ctr">
                      <a:noAutofit/>
                    </a:bodyPr>
                    <a:lstStyle/>
                    <a:p>
                      <a:pPr algn="ctr">
                        <a:spcBef>
                          <a:spcPts val="0"/>
                        </a:spcBef>
                        <a:spcAft>
                          <a:spcPts val="0"/>
                        </a:spcAft>
                      </a:pPr>
                      <a:r>
                        <a:rPr sz="900" b="1">
                          <a:solidFill>
                            <a:srgbClr val="1E2B24"/>
                          </a:solidFill>
                          <a:latin typeface="Calibri"/>
                        </a:rPr>
                        <a:t>Pred.</a:t>
                      </a:r>
                    </a:p>
                  </a:txBody>
                  <a:tcPr marL="45720" marR="45720" marT="18288" marB="18288" anchor="ctr">
                    <a:solidFill>
                      <a:srgbClr val="FFFFFF"/>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1</a:t>
                      </a:r>
                    </a:p>
                  </a:txBody>
                  <a:tcPr marL="45720" marR="45720" marT="18288" marB="18288" anchor="ctr">
                    <a:solidFill>
                      <a:srgbClr val="FFFFFF"/>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3</a:t>
                      </a:r>
                    </a:p>
                  </a:txBody>
                  <a:tcPr marL="45720" marR="45720" marT="18288" marB="18288" anchor="ctr">
                    <a:solidFill>
                      <a:srgbClr val="FFFFFF"/>
                    </a:solidFill>
                  </a:tcPr>
                </a:tc>
                <a:tc>
                  <a:txBody>
                    <a:bodyPr wrap="square" lIns="45720" rIns="45720" tIns="27432" bIns="27432" anchor="ctr">
                      <a:noAutofit/>
                    </a:bodyPr>
                    <a:lstStyle/>
                    <a:p>
                      <a:pPr algn="ctr">
                        <a:spcBef>
                          <a:spcPts val="0"/>
                        </a:spcBef>
                        <a:spcAft>
                          <a:spcPts val="0"/>
                        </a:spcAft>
                      </a:pPr>
                      <a:r>
                        <a:rPr sz="900" b="1">
                          <a:solidFill>
                            <a:srgbClr val="9E2A2B"/>
                          </a:solidFill>
                          <a:latin typeface="Calibri"/>
                        </a:rPr>
                        <a:t>7</a:t>
                      </a:r>
                    </a:p>
                  </a:txBody>
                  <a:tcPr marL="45720" marR="45720" marT="18288" marB="18288" anchor="ctr">
                    <a:solidFill>
                      <a:srgbClr val="FBE3E3"/>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2</a:t>
                      </a:r>
                    </a:p>
                  </a:txBody>
                  <a:tcPr marL="45720" marR="45720" marT="18288" marB="18288" anchor="ctr">
                    <a:solidFill>
                      <a:srgbClr val="FFFFFF"/>
                    </a:solidFill>
                  </a:tcPr>
                </a:tc>
              </a:tr>
            </a:tbl>
          </a:graphicData>
        </a:graphic>
      </p:graphicFrame>
      <p:sp>
        <p:nvSpPr>
          <p:cNvPr id="31" name="TextBox 30"/>
          <p:cNvSpPr txBox="1"/>
          <p:nvPr/>
        </p:nvSpPr>
        <p:spPr>
          <a:xfrm>
            <a:off x="6675120" y="3630168"/>
            <a:ext cx="2057400" cy="365760"/>
          </a:xfrm>
          <a:prstGeom prst="rect">
            <a:avLst/>
          </a:prstGeom>
          <a:noFill/>
        </p:spPr>
        <p:txBody>
          <a:bodyPr wrap="square" lIns="27432" rIns="27432" tIns="27432" bIns="27432" anchor="t">
            <a:noAutofit/>
          </a:bodyPr>
          <a:lstStyle/>
          <a:p>
            <a:pPr algn="ctr">
              <a:spcBef>
                <a:spcPts val="0"/>
              </a:spcBef>
              <a:spcAft>
                <a:spcPts val="0"/>
              </a:spcAft>
            </a:pPr>
            <a:r>
              <a:rPr sz="900" b="1">
                <a:solidFill>
                  <a:srgbClr val="1E2B24"/>
                </a:solidFill>
                <a:latin typeface="Calibri"/>
              </a:rPr>
              <a:t>Class ±1 = 3 of 4 = 75%</a:t>
            </a:r>
          </a:p>
          <a:p>
            <a:pPr algn="ctr">
              <a:spcBef>
                <a:spcPts val="0"/>
              </a:spcBef>
              <a:spcAft>
                <a:spcPts val="0"/>
              </a:spcAft>
            </a:pPr>
            <a:r>
              <a:rPr sz="900" b="1">
                <a:solidFill>
                  <a:srgbClr val="9E2A2B"/>
                </a:solidFill>
                <a:latin typeface="Calibri"/>
              </a:rPr>
              <a:t>Tree ±1 = 0 (B3 is off by 2)</a:t>
            </a:r>
          </a:p>
        </p:txBody>
      </p:sp>
      <p:sp>
        <p:nvSpPr>
          <p:cNvPr id="32" name="Rounded Rectangle 31"/>
          <p:cNvSpPr/>
          <p:nvPr/>
        </p:nvSpPr>
        <p:spPr>
          <a:xfrm>
            <a:off x="3246120" y="4059936"/>
            <a:ext cx="5577840" cy="356616"/>
          </a:xfrm>
          <a:prstGeom prst="roundRect">
            <a:avLst>
              <a:gd name="adj" fmla="val 15384"/>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319272" y="4123944"/>
            <a:ext cx="237744" cy="237744"/>
          </a:xfrm>
          <a:prstGeom prst="ellipse">
            <a:avLst/>
          </a:prstGeom>
          <a:solidFill>
            <a:srgbClr val="1F4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19272" y="4123944"/>
            <a:ext cx="237744" cy="237744"/>
          </a:xfrm>
          <a:prstGeom prst="rect">
            <a:avLst/>
          </a:prstGeom>
          <a:noFill/>
        </p:spPr>
        <p:txBody>
          <a:bodyPr wrap="square" lIns="27432" rIns="27432" tIns="27432" bIns="27432" anchor="ctr">
            <a:noAutofit/>
          </a:bodyPr>
          <a:lstStyle/>
          <a:p>
            <a:pPr algn="ctr">
              <a:spcBef>
                <a:spcPts val="0"/>
              </a:spcBef>
              <a:spcAft>
                <a:spcPts val="0"/>
              </a:spcAft>
            </a:pPr>
            <a:r>
              <a:rPr sz="1000" b="1">
                <a:solidFill>
                  <a:srgbClr val="FFFFFF"/>
                </a:solidFill>
                <a:latin typeface="Calibri"/>
              </a:rPr>
              <a:t>4</a:t>
            </a:r>
          </a:p>
        </p:txBody>
      </p:sp>
      <p:sp>
        <p:nvSpPr>
          <p:cNvPr id="35" name="TextBox 34"/>
          <p:cNvSpPr txBox="1"/>
          <p:nvPr/>
        </p:nvSpPr>
        <p:spPr>
          <a:xfrm>
            <a:off x="3621024" y="4123944"/>
            <a:ext cx="5029200" cy="237744"/>
          </a:xfrm>
          <a:prstGeom prst="rect">
            <a:avLst/>
          </a:prstGeom>
          <a:noFill/>
        </p:spPr>
        <p:txBody>
          <a:bodyPr wrap="square" lIns="27432" rIns="27432" tIns="27432" bIns="27432" anchor="ctr">
            <a:noAutofit/>
          </a:bodyPr>
          <a:lstStyle/>
          <a:p>
            <a:pPr algn="l">
              <a:spcBef>
                <a:spcPts val="0"/>
              </a:spcBef>
              <a:spcAft>
                <a:spcPts val="0"/>
              </a:spcAft>
            </a:pPr>
            <a:r>
              <a:rPr sz="1100" b="1">
                <a:solidFill>
                  <a:srgbClr val="1F4D36"/>
                </a:solidFill>
                <a:latin typeface="Calibri"/>
              </a:rPr>
              <a:t>Statistics</a:t>
            </a:r>
          </a:p>
        </p:txBody>
      </p:sp>
      <p:sp>
        <p:nvSpPr>
          <p:cNvPr id="36" name="TextBox 35"/>
          <p:cNvSpPr txBox="1"/>
          <p:nvPr/>
        </p:nvSpPr>
        <p:spPr>
          <a:xfrm>
            <a:off x="4526280" y="4059936"/>
            <a:ext cx="4251960" cy="356616"/>
          </a:xfrm>
          <a:prstGeom prst="rect">
            <a:avLst/>
          </a:prstGeom>
          <a:noFill/>
        </p:spPr>
        <p:txBody>
          <a:bodyPr wrap="square" lIns="27432" rIns="27432" tIns="27432" bIns="27432" anchor="ctr">
            <a:noAutofit/>
          </a:bodyPr>
          <a:lstStyle/>
          <a:p>
            <a:pPr algn="l">
              <a:spcBef>
                <a:spcPts val="0"/>
              </a:spcBef>
              <a:spcAft>
                <a:spcPts val="0"/>
              </a:spcAft>
            </a:pPr>
            <a:r>
              <a:rPr sz="900" b="0">
                <a:solidFill>
                  <a:srgbClr val="1E2B24"/>
                </a:solidFill>
                <a:latin typeface="Calibri"/>
              </a:rPr>
              <a:t>Bootstrap 95% confidence intervals (10,000 resamples), paired permutation tests, Holm correction for the ten counter pairs.</a:t>
            </a:r>
          </a:p>
        </p:txBody>
      </p:sp>
      <p:sp>
        <p:nvSpPr>
          <p:cNvPr id="37" name="Rounded Rectangle 36"/>
          <p:cNvSpPr/>
          <p:nvPr/>
        </p:nvSpPr>
        <p:spPr>
          <a:xfrm>
            <a:off x="3246120" y="4471416"/>
            <a:ext cx="5577840" cy="384048"/>
          </a:xfrm>
          <a:prstGeom prst="roundRect">
            <a:avLst>
              <a:gd name="adj" fmla="val 14285"/>
            </a:avLst>
          </a:prstGeom>
          <a:solidFill>
            <a:srgbClr val="122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337560" y="4471416"/>
            <a:ext cx="5394960" cy="384048"/>
          </a:xfrm>
          <a:prstGeom prst="rect">
            <a:avLst/>
          </a:prstGeom>
          <a:noFill/>
        </p:spPr>
        <p:txBody>
          <a:bodyPr wrap="square" lIns="27432" rIns="27432" tIns="27432" bIns="27432" anchor="ctr">
            <a:noAutofit/>
          </a:bodyPr>
          <a:lstStyle/>
          <a:p>
            <a:pPr algn="ctr">
              <a:spcBef>
                <a:spcPts val="0"/>
              </a:spcBef>
              <a:spcAft>
                <a:spcPts val="0"/>
              </a:spcAft>
            </a:pPr>
            <a:r>
              <a:rPr sz="1050" b="1">
                <a:solidFill>
                  <a:srgbClr val="FFFFFF"/>
                </a:solidFill>
                <a:latin typeface="Calibri"/>
              </a:rPr>
              <a:t>Same counter, different boxes: the drop in accuracy comes from the detector errors.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0"/>
          </a:xfrm>
          <a:prstGeom prst="rect">
            <a:avLst/>
          </a:prstGeom>
          <a:solidFill>
            <a:srgbClr val="122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6675120" cy="402336"/>
          </a:xfrm>
          <a:prstGeom prst="rect">
            <a:avLst/>
          </a:prstGeom>
          <a:noFill/>
        </p:spPr>
        <p:txBody>
          <a:bodyPr wrap="square" lIns="27432" rIns="27432" tIns="27432" bIns="27432" anchor="ctr">
            <a:noAutofit/>
          </a:bodyPr>
          <a:lstStyle/>
          <a:p>
            <a:pPr algn="l">
              <a:spcBef>
                <a:spcPts val="0"/>
              </a:spcBef>
              <a:spcAft>
                <a:spcPts val="0"/>
              </a:spcAft>
            </a:pPr>
            <a:r>
              <a:rPr sz="2000" b="1">
                <a:solidFill>
                  <a:srgbClr val="FFFFFF"/>
                </a:solidFill>
                <a:latin typeface="Cambria"/>
              </a:rPr>
              <a:t>Results on the 141 test trees</a:t>
            </a:r>
          </a:p>
        </p:txBody>
      </p:sp>
      <p:sp>
        <p:nvSpPr>
          <p:cNvPr id="4" name="TextBox 3"/>
          <p:cNvSpPr txBox="1"/>
          <p:nvPr/>
        </p:nvSpPr>
        <p:spPr>
          <a:xfrm>
            <a:off x="6949440" y="73152"/>
            <a:ext cx="1874519" cy="402336"/>
          </a:xfrm>
          <a:prstGeom prst="rect">
            <a:avLst/>
          </a:prstGeom>
          <a:noFill/>
        </p:spPr>
        <p:txBody>
          <a:bodyPr wrap="square" lIns="27432" rIns="27432" tIns="27432" bIns="27432" anchor="ctr">
            <a:noAutofit/>
          </a:bodyPr>
          <a:lstStyle/>
          <a:p>
            <a:pPr algn="r">
              <a:spcBef>
                <a:spcPts val="0"/>
              </a:spcBef>
              <a:spcAft>
                <a:spcPts val="0"/>
              </a:spcAft>
            </a:pPr>
            <a:r>
              <a:rPr sz="1000" b="1">
                <a:solidFill>
                  <a:srgbClr val="A9C9A4"/>
                </a:solidFill>
                <a:latin typeface="Calibri"/>
              </a:rPr>
              <a:t>3 · Results</a:t>
            </a:r>
          </a:p>
        </p:txBody>
      </p:sp>
      <p:sp>
        <p:nvSpPr>
          <p:cNvPr id="5" name="TextBox 4"/>
          <p:cNvSpPr txBox="1"/>
          <p:nvPr/>
        </p:nvSpPr>
        <p:spPr>
          <a:xfrm>
            <a:off x="320040" y="4910328"/>
            <a:ext cx="7680960" cy="182880"/>
          </a:xfrm>
          <a:prstGeom prst="rect">
            <a:avLst/>
          </a:prstGeom>
          <a:noFill/>
        </p:spPr>
        <p:txBody>
          <a:bodyPr wrap="square" lIns="27432" rIns="27432" tIns="27432" bIns="27432" anchor="t">
            <a:noAutofit/>
          </a:bodyPr>
          <a:lstStyle/>
          <a:p>
            <a:pPr algn="l">
              <a:spcBef>
                <a:spcPts val="0"/>
              </a:spcBef>
              <a:spcAft>
                <a:spcPts val="0"/>
              </a:spcAft>
            </a:pPr>
            <a:r>
              <a:rPr sz="750" b="0">
                <a:solidFill>
                  <a:srgbClr val="5B6B62"/>
                </a:solidFill>
                <a:latin typeface="Calibri"/>
              </a:rPr>
              <a:t>Muttaqin et al. · Benchmarking Multi-View Tree-Level Oil Palm Bunch Counting Under a Fixed Detector · ICIC 2026</a:t>
            </a:r>
          </a:p>
        </p:txBody>
      </p:sp>
      <p:sp>
        <p:nvSpPr>
          <p:cNvPr id="6" name="TextBox 5"/>
          <p:cNvSpPr txBox="1"/>
          <p:nvPr/>
        </p:nvSpPr>
        <p:spPr>
          <a:xfrm>
            <a:off x="8229600" y="4910328"/>
            <a:ext cx="594360" cy="182880"/>
          </a:xfrm>
          <a:prstGeom prst="rect">
            <a:avLst/>
          </a:prstGeom>
          <a:noFill/>
        </p:spPr>
        <p:txBody>
          <a:bodyPr wrap="square" lIns="27432" rIns="27432" tIns="27432" bIns="27432" anchor="t">
            <a:noAutofit/>
          </a:bodyPr>
          <a:lstStyle/>
          <a:p>
            <a:pPr algn="r">
              <a:spcBef>
                <a:spcPts val="0"/>
              </a:spcBef>
              <a:spcAft>
                <a:spcPts val="0"/>
              </a:spcAft>
            </a:pPr>
            <a:r>
              <a:rPr sz="800" b="0">
                <a:solidFill>
                  <a:srgbClr val="5B6B62"/>
                </a:solidFill>
                <a:latin typeface="Calibri"/>
              </a:rPr>
              <a:t>5</a:t>
            </a:r>
          </a:p>
        </p:txBody>
      </p:sp>
      <p:sp>
        <p:nvSpPr>
          <p:cNvPr id="7" name="Rounded Rectangle 6"/>
          <p:cNvSpPr/>
          <p:nvPr/>
        </p:nvSpPr>
        <p:spPr>
          <a:xfrm>
            <a:off x="320040" y="658368"/>
            <a:ext cx="2057400" cy="658368"/>
          </a:xfrm>
          <a:prstGeom prst="roundRect">
            <a:avLst>
              <a:gd name="adj" fmla="val 8333"/>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4904" y="676656"/>
            <a:ext cx="1947672" cy="621792"/>
          </a:xfrm>
          <a:prstGeom prst="rect">
            <a:avLst/>
          </a:prstGeom>
          <a:noFill/>
        </p:spPr>
        <p:txBody>
          <a:bodyPr wrap="square" lIns="27432" rIns="27432" tIns="27432" bIns="27432" anchor="ctr">
            <a:noAutofit/>
          </a:bodyPr>
          <a:lstStyle/>
          <a:p>
            <a:pPr algn="ctr">
              <a:spcBef>
                <a:spcPts val="0"/>
              </a:spcBef>
              <a:spcAft>
                <a:spcPts val="0"/>
              </a:spcAft>
            </a:pPr>
            <a:r>
              <a:rPr sz="850" b="0">
                <a:solidFill>
                  <a:srgbClr val="5B6B62"/>
                </a:solidFill>
                <a:latin typeface="Calibri"/>
              </a:rPr>
              <a:t>Class ±1, best: ground truth → detector</a:t>
            </a:r>
          </a:p>
          <a:p>
            <a:pPr algn="ctr">
              <a:spcBef>
                <a:spcPts val="0"/>
              </a:spcBef>
              <a:spcAft>
                <a:spcPts val="0"/>
              </a:spcAft>
            </a:pPr>
            <a:r>
              <a:rPr sz="1600" b="1">
                <a:solidFill>
                  <a:srgbClr val="1E2B24"/>
                </a:solidFill>
                <a:latin typeface="Cambria"/>
              </a:rPr>
              <a:t>98.05 → 77.48%</a:t>
            </a:r>
          </a:p>
          <a:p>
            <a:pPr algn="ctr">
              <a:spcBef>
                <a:spcPts val="0"/>
              </a:spcBef>
              <a:spcAft>
                <a:spcPts val="0"/>
              </a:spcAft>
            </a:pPr>
            <a:r>
              <a:rPr sz="800" b="0">
                <a:solidFill>
                  <a:srgbClr val="5B6B62"/>
                </a:solidFill>
                <a:latin typeface="Calibri"/>
              </a:rPr>
              <a:t>best counter on each kind of boxes</a:t>
            </a:r>
          </a:p>
        </p:txBody>
      </p:sp>
      <p:sp>
        <p:nvSpPr>
          <p:cNvPr id="9" name="Rounded Rectangle 8"/>
          <p:cNvSpPr/>
          <p:nvPr/>
        </p:nvSpPr>
        <p:spPr>
          <a:xfrm>
            <a:off x="2468880" y="658368"/>
            <a:ext cx="2057400" cy="658368"/>
          </a:xfrm>
          <a:prstGeom prst="roundRect">
            <a:avLst>
              <a:gd name="adj" fmla="val 8333"/>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23744" y="676656"/>
            <a:ext cx="1947672" cy="621792"/>
          </a:xfrm>
          <a:prstGeom prst="rect">
            <a:avLst/>
          </a:prstGeom>
          <a:noFill/>
        </p:spPr>
        <p:txBody>
          <a:bodyPr wrap="square" lIns="27432" rIns="27432" tIns="27432" bIns="27432" anchor="ctr">
            <a:noAutofit/>
          </a:bodyPr>
          <a:lstStyle/>
          <a:p>
            <a:pPr algn="ctr">
              <a:spcBef>
                <a:spcPts val="0"/>
              </a:spcBef>
              <a:spcAft>
                <a:spcPts val="0"/>
              </a:spcAft>
            </a:pPr>
            <a:r>
              <a:rPr sz="850" b="0">
                <a:solidFill>
                  <a:srgbClr val="5B6B62"/>
                </a:solidFill>
                <a:latin typeface="Calibri"/>
              </a:rPr>
              <a:t>Tree ±1, best: ground truth → detector</a:t>
            </a:r>
          </a:p>
          <a:p>
            <a:pPr algn="ctr">
              <a:spcBef>
                <a:spcPts val="0"/>
              </a:spcBef>
              <a:spcAft>
                <a:spcPts val="0"/>
              </a:spcAft>
            </a:pPr>
            <a:r>
              <a:rPr sz="1600" b="1">
                <a:solidFill>
                  <a:srgbClr val="1E2B24"/>
                </a:solidFill>
                <a:latin typeface="Cambria"/>
              </a:rPr>
              <a:t>92.20 → 32.62%</a:t>
            </a:r>
          </a:p>
          <a:p>
            <a:pPr algn="ctr">
              <a:spcBef>
                <a:spcPts val="0"/>
              </a:spcBef>
              <a:spcAft>
                <a:spcPts val="0"/>
              </a:spcAft>
            </a:pPr>
            <a:r>
              <a:rPr sz="800" b="0">
                <a:solidFill>
                  <a:srgbClr val="5B6B62"/>
                </a:solidFill>
                <a:latin typeface="Calibri"/>
              </a:rPr>
              <a:t>trees with all four classes right</a:t>
            </a:r>
          </a:p>
        </p:txBody>
      </p:sp>
      <p:sp>
        <p:nvSpPr>
          <p:cNvPr id="11" name="Rounded Rectangle 10"/>
          <p:cNvSpPr/>
          <p:nvPr/>
        </p:nvSpPr>
        <p:spPr>
          <a:xfrm>
            <a:off x="4617720" y="658368"/>
            <a:ext cx="2057400" cy="658368"/>
          </a:xfrm>
          <a:prstGeom prst="roundRect">
            <a:avLst>
              <a:gd name="adj" fmla="val 8333"/>
            </a:avLst>
          </a:prstGeom>
          <a:solidFill>
            <a:srgbClr val="FBE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72583" y="676656"/>
            <a:ext cx="1947672" cy="621792"/>
          </a:xfrm>
          <a:prstGeom prst="rect">
            <a:avLst/>
          </a:prstGeom>
          <a:noFill/>
        </p:spPr>
        <p:txBody>
          <a:bodyPr wrap="square" lIns="27432" rIns="27432" tIns="27432" bIns="27432" anchor="ctr">
            <a:noAutofit/>
          </a:bodyPr>
          <a:lstStyle/>
          <a:p>
            <a:pPr algn="ctr">
              <a:spcBef>
                <a:spcPts val="0"/>
              </a:spcBef>
              <a:spcAft>
                <a:spcPts val="0"/>
              </a:spcAft>
            </a:pPr>
            <a:r>
              <a:rPr sz="850" b="0">
                <a:solidFill>
                  <a:srgbClr val="5B6B62"/>
                </a:solidFill>
                <a:latin typeface="Calibri"/>
              </a:rPr>
              <a:t>Loss caused by the detector boxes</a:t>
            </a:r>
          </a:p>
          <a:p>
            <a:pPr algn="ctr">
              <a:spcBef>
                <a:spcPts val="0"/>
              </a:spcBef>
              <a:spcAft>
                <a:spcPts val="0"/>
              </a:spcAft>
            </a:pPr>
            <a:r>
              <a:rPr sz="1600" b="1">
                <a:solidFill>
                  <a:srgbClr val="C8511B"/>
                </a:solidFill>
                <a:latin typeface="Cambria"/>
              </a:rPr>
              <a:t>20.57 pp</a:t>
            </a:r>
          </a:p>
          <a:p>
            <a:pPr algn="ctr">
              <a:spcBef>
                <a:spcPts val="0"/>
              </a:spcBef>
              <a:spcAft>
                <a:spcPts val="0"/>
              </a:spcAft>
            </a:pPr>
            <a:r>
              <a:rPr sz="800" b="0">
                <a:solidFill>
                  <a:srgbClr val="5B6B62"/>
                </a:solidFill>
                <a:latin typeface="Calibri"/>
              </a:rPr>
              <a:t>95% CI 17.20 to 23.94, p &lt; 0.001</a:t>
            </a:r>
          </a:p>
        </p:txBody>
      </p:sp>
      <p:sp>
        <p:nvSpPr>
          <p:cNvPr id="13" name="Rounded Rectangle 12"/>
          <p:cNvSpPr/>
          <p:nvPr/>
        </p:nvSpPr>
        <p:spPr>
          <a:xfrm>
            <a:off x="6766560" y="658368"/>
            <a:ext cx="2057400" cy="658368"/>
          </a:xfrm>
          <a:prstGeom prst="roundRect">
            <a:avLst>
              <a:gd name="adj" fmla="val 8333"/>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21424" y="676656"/>
            <a:ext cx="1947672" cy="621792"/>
          </a:xfrm>
          <a:prstGeom prst="rect">
            <a:avLst/>
          </a:prstGeom>
          <a:noFill/>
        </p:spPr>
        <p:txBody>
          <a:bodyPr wrap="square" lIns="27432" rIns="27432" tIns="27432" bIns="27432" anchor="ctr">
            <a:noAutofit/>
          </a:bodyPr>
          <a:lstStyle/>
          <a:p>
            <a:pPr algn="ctr">
              <a:spcBef>
                <a:spcPts val="0"/>
              </a:spcBef>
              <a:spcAft>
                <a:spcPts val="0"/>
              </a:spcAft>
            </a:pPr>
            <a:r>
              <a:rPr sz="850" b="0">
                <a:solidFill>
                  <a:srgbClr val="5B6B62"/>
                </a:solidFill>
                <a:latin typeface="Calibri"/>
              </a:rPr>
              <a:t>Among the 5 regression counters</a:t>
            </a:r>
          </a:p>
          <a:p>
            <a:pPr algn="ctr">
              <a:spcBef>
                <a:spcPts val="0"/>
              </a:spcBef>
              <a:spcAft>
                <a:spcPts val="0"/>
              </a:spcAft>
            </a:pPr>
            <a:r>
              <a:rPr sz="1600" b="1">
                <a:solidFill>
                  <a:srgbClr val="1F4D36"/>
                </a:solidFill>
                <a:latin typeface="Cambria"/>
              </a:rPr>
              <a:t>3.19 pp</a:t>
            </a:r>
          </a:p>
          <a:p>
            <a:pPr algn="ctr">
              <a:spcBef>
                <a:spcPts val="0"/>
              </a:spcBef>
              <a:spcAft>
                <a:spcPts val="0"/>
              </a:spcAft>
            </a:pPr>
            <a:r>
              <a:rPr sz="800" b="0">
                <a:solidFill>
                  <a:srgbClr val="5B6B62"/>
                </a:solidFill>
                <a:latin typeface="Calibri"/>
              </a:rPr>
              <a:t>not significant, Holm p = 0.628</a:t>
            </a:r>
          </a:p>
        </p:txBody>
      </p:sp>
      <p:sp>
        <p:nvSpPr>
          <p:cNvPr id="15" name="TextBox 14"/>
          <p:cNvSpPr txBox="1"/>
          <p:nvPr/>
        </p:nvSpPr>
        <p:spPr>
          <a:xfrm>
            <a:off x="320040" y="1371600"/>
            <a:ext cx="4343400" cy="201168"/>
          </a:xfrm>
          <a:prstGeom prst="rect">
            <a:avLst/>
          </a:prstGeom>
          <a:noFill/>
        </p:spPr>
        <p:txBody>
          <a:bodyPr wrap="square" lIns="27432" rIns="27432" tIns="27432" bIns="27432" anchor="ctr">
            <a:noAutofit/>
          </a:bodyPr>
          <a:lstStyle/>
          <a:p>
            <a:pPr algn="l">
              <a:spcBef>
                <a:spcPts val="0"/>
              </a:spcBef>
              <a:spcAft>
                <a:spcPts val="0"/>
              </a:spcAft>
            </a:pPr>
            <a:r>
              <a:rPr sz="1050" b="1">
                <a:solidFill>
                  <a:srgbClr val="1F4D36"/>
                </a:solidFill>
                <a:latin typeface="Calibri"/>
              </a:rPr>
              <a:t>A · All counters, baseline input F0 (accuracy in %, MAE in bunches)</a:t>
            </a:r>
          </a:p>
        </p:txBody>
      </p:sp>
      <p:graphicFrame>
        <p:nvGraphicFramePr>
          <p:cNvPr id="16" name="Table 15"/>
          <p:cNvGraphicFramePr>
            <a:graphicFrameLocks noGrp="1"/>
          </p:cNvGraphicFramePr>
          <p:nvPr/>
        </p:nvGraphicFramePr>
        <p:xfrm>
          <a:off x="320040" y="1581912"/>
          <a:ext cx="4343400" cy="1604772"/>
        </p:xfrm>
        <a:graphic>
          <a:graphicData uri="http://schemas.openxmlformats.org/drawingml/2006/table">
            <a:tbl>
              <a:tblPr>
                <a:tableStyleId>{5C22544A-7EE6-4342-B048-85BDC9FD1C3A}</a:tableStyleId>
              </a:tblPr>
              <a:tblGrid>
                <a:gridCol w="1161288"/>
                <a:gridCol w="530352"/>
                <a:gridCol w="530352"/>
                <a:gridCol w="530352"/>
                <a:gridCol w="530352"/>
                <a:gridCol w="530352"/>
                <a:gridCol w="530352"/>
              </a:tblGrid>
              <a:tr h="178308">
                <a:tc rowSpan="2">
                  <a:txBody>
                    <a:bodyPr wrap="square" lIns="45720" rIns="45720" tIns="27432" bIns="27432" anchor="ctr">
                      <a:noAutofit/>
                    </a:bodyPr>
                    <a:lstStyle/>
                    <a:p>
                      <a:pPr algn="ctr">
                        <a:spcBef>
                          <a:spcPts val="0"/>
                        </a:spcBef>
                        <a:spcAft>
                          <a:spcPts val="0"/>
                        </a:spcAft>
                      </a:pPr>
                      <a:r>
                        <a:rPr sz="900" b="1">
                          <a:solidFill>
                            <a:srgbClr val="FFFFFF"/>
                          </a:solidFill>
                          <a:latin typeface="Calibri"/>
                        </a:rPr>
                        <a:t>Method</a:t>
                      </a:r>
                    </a:p>
                  </a:txBody>
                  <a:tcPr marL="45720" marR="45720" marT="18288" marB="18288" anchor="ctr">
                    <a:solidFill>
                      <a:srgbClr val="1F4D36"/>
                    </a:solidFill>
                  </a:tcPr>
                </a:tc>
                <a:tc gridSpan="3">
                  <a:txBody>
                    <a:bodyPr wrap="square" lIns="45720" rIns="45720" tIns="27432" bIns="27432" anchor="ctr">
                      <a:noAutofit/>
                    </a:bodyPr>
                    <a:lstStyle/>
                    <a:p>
                      <a:pPr algn="ctr">
                        <a:spcBef>
                          <a:spcPts val="0"/>
                        </a:spcBef>
                        <a:spcAft>
                          <a:spcPts val="0"/>
                        </a:spcAft>
                      </a:pPr>
                      <a:r>
                        <a:rPr sz="900" b="1">
                          <a:solidFill>
                            <a:srgbClr val="FFFFFF"/>
                          </a:solidFill>
                          <a:latin typeface="Calibri"/>
                        </a:rPr>
                        <a:t>Ground-truth boxes</a:t>
                      </a:r>
                    </a:p>
                  </a:txBody>
                  <a:tcPr marL="45720" marR="45720" marT="18288" marB="18288" anchor="ctr">
                    <a:solidFill>
                      <a:srgbClr val="2E9E5B"/>
                    </a:solidFill>
                  </a:tcPr>
                </a:tc>
                <a:tc hMerge="1">
                  <a:txBody>
                    <a:bodyPr/>
                    <a:lstStyle/>
                    <a:p/>
                  </a:txBody>
                  <a:tcPr/>
                </a:tc>
                <a:tc hMerge="1">
                  <a:txBody>
                    <a:bodyPr/>
                    <a:lstStyle/>
                    <a:p/>
                  </a:txBody>
                  <a:tcPr/>
                </a:tc>
                <a:tc gridSpan="3">
                  <a:txBody>
                    <a:bodyPr wrap="square" lIns="45720" rIns="45720" tIns="27432" bIns="27432" anchor="ctr">
                      <a:noAutofit/>
                    </a:bodyPr>
                    <a:lstStyle/>
                    <a:p>
                      <a:pPr algn="ctr">
                        <a:spcBef>
                          <a:spcPts val="0"/>
                        </a:spcBef>
                        <a:spcAft>
                          <a:spcPts val="0"/>
                        </a:spcAft>
                      </a:pPr>
                      <a:r>
                        <a:rPr sz="900" b="1">
                          <a:solidFill>
                            <a:srgbClr val="FFFFFF"/>
                          </a:solidFill>
                          <a:latin typeface="Calibri"/>
                        </a:rPr>
                        <a:t>Fixed detector boxes</a:t>
                      </a:r>
                    </a:p>
                  </a:txBody>
                  <a:tcPr marL="45720" marR="45720" marT="18288" marB="18288" anchor="ctr">
                    <a:solidFill>
                      <a:srgbClr val="C8511B"/>
                    </a:solidFill>
                  </a:tcPr>
                </a:tc>
                <a:tc hMerge="1">
                  <a:txBody>
                    <a:bodyPr/>
                    <a:lstStyle/>
                    <a:p/>
                  </a:txBody>
                  <a:tcPr/>
                </a:tc>
                <a:tc hMerge="1">
                  <a:txBody>
                    <a:bodyPr/>
                    <a:lstStyle/>
                    <a:p/>
                  </a:txBody>
                  <a:tcPr/>
                </a:tc>
              </a:tr>
              <a:tr h="178308">
                <a:tc vMerge="1">
                  <a:txBody>
                    <a:bodyPr/>
                    <a:lstStyle/>
                    <a:p/>
                  </a:txBody>
                  <a:tcPr/>
                </a:tc>
                <a:tc>
                  <a:txBody>
                    <a:bodyPr wrap="square" lIns="45720" rIns="45720" tIns="27432" bIns="27432" anchor="ctr">
                      <a:noAutofit/>
                    </a:bodyPr>
                    <a:lstStyle/>
                    <a:p>
                      <a:pPr algn="ctr">
                        <a:spcBef>
                          <a:spcPts val="0"/>
                        </a:spcBef>
                        <a:spcAft>
                          <a:spcPts val="0"/>
                        </a:spcAft>
                      </a:pPr>
                      <a:r>
                        <a:rPr sz="850" b="1">
                          <a:solidFill>
                            <a:srgbClr val="FFFFFF"/>
                          </a:solidFill>
                          <a:latin typeface="Calibri"/>
                        </a:rPr>
                        <a:t>Class ±1</a:t>
                      </a:r>
                    </a:p>
                  </a:txBody>
                  <a:tcPr marL="45720" marR="45720" marT="18288" marB="18288" anchor="ctr">
                    <a:solidFill>
                      <a:srgbClr val="2E9E5B"/>
                    </a:solidFill>
                  </a:tcPr>
                </a:tc>
                <a:tc>
                  <a:txBody>
                    <a:bodyPr wrap="square" lIns="45720" rIns="45720" tIns="27432" bIns="27432" anchor="ctr">
                      <a:noAutofit/>
                    </a:bodyPr>
                    <a:lstStyle/>
                    <a:p>
                      <a:pPr algn="ctr">
                        <a:spcBef>
                          <a:spcPts val="0"/>
                        </a:spcBef>
                        <a:spcAft>
                          <a:spcPts val="0"/>
                        </a:spcAft>
                      </a:pPr>
                      <a:r>
                        <a:rPr sz="850" b="1">
                          <a:solidFill>
                            <a:srgbClr val="FFFFFF"/>
                          </a:solidFill>
                          <a:latin typeface="Calibri"/>
                        </a:rPr>
                        <a:t>Tree ±1</a:t>
                      </a:r>
                    </a:p>
                  </a:txBody>
                  <a:tcPr marL="45720" marR="45720" marT="18288" marB="18288" anchor="ctr">
                    <a:solidFill>
                      <a:srgbClr val="2E9E5B"/>
                    </a:solidFill>
                  </a:tcPr>
                </a:tc>
                <a:tc>
                  <a:txBody>
                    <a:bodyPr wrap="square" lIns="45720" rIns="45720" tIns="27432" bIns="27432" anchor="ctr">
                      <a:noAutofit/>
                    </a:bodyPr>
                    <a:lstStyle/>
                    <a:p>
                      <a:pPr algn="ctr">
                        <a:spcBef>
                          <a:spcPts val="0"/>
                        </a:spcBef>
                        <a:spcAft>
                          <a:spcPts val="0"/>
                        </a:spcAft>
                      </a:pPr>
                      <a:r>
                        <a:rPr sz="850" b="1">
                          <a:solidFill>
                            <a:srgbClr val="FFFFFF"/>
                          </a:solidFill>
                          <a:latin typeface="Calibri"/>
                        </a:rPr>
                        <a:t>MAE</a:t>
                      </a:r>
                    </a:p>
                  </a:txBody>
                  <a:tcPr marL="45720" marR="45720" marT="18288" marB="18288" anchor="ctr">
                    <a:solidFill>
                      <a:srgbClr val="2E9E5B"/>
                    </a:solidFill>
                  </a:tcPr>
                </a:tc>
                <a:tc>
                  <a:txBody>
                    <a:bodyPr wrap="square" lIns="45720" rIns="45720" tIns="27432" bIns="27432" anchor="ctr">
                      <a:noAutofit/>
                    </a:bodyPr>
                    <a:lstStyle/>
                    <a:p>
                      <a:pPr algn="ctr">
                        <a:spcBef>
                          <a:spcPts val="0"/>
                        </a:spcBef>
                        <a:spcAft>
                          <a:spcPts val="0"/>
                        </a:spcAft>
                      </a:pPr>
                      <a:r>
                        <a:rPr sz="850" b="1">
                          <a:solidFill>
                            <a:srgbClr val="FFFFFF"/>
                          </a:solidFill>
                          <a:latin typeface="Calibri"/>
                        </a:rPr>
                        <a:t>Class ±1</a:t>
                      </a:r>
                    </a:p>
                  </a:txBody>
                  <a:tcPr marL="45720" marR="45720" marT="18288" marB="18288" anchor="ctr">
                    <a:solidFill>
                      <a:srgbClr val="C8511B"/>
                    </a:solidFill>
                  </a:tcPr>
                </a:tc>
                <a:tc>
                  <a:txBody>
                    <a:bodyPr wrap="square" lIns="45720" rIns="45720" tIns="27432" bIns="27432" anchor="ctr">
                      <a:noAutofit/>
                    </a:bodyPr>
                    <a:lstStyle/>
                    <a:p>
                      <a:pPr algn="ctr">
                        <a:spcBef>
                          <a:spcPts val="0"/>
                        </a:spcBef>
                        <a:spcAft>
                          <a:spcPts val="0"/>
                        </a:spcAft>
                      </a:pPr>
                      <a:r>
                        <a:rPr sz="850" b="1">
                          <a:solidFill>
                            <a:srgbClr val="FFFFFF"/>
                          </a:solidFill>
                          <a:latin typeface="Calibri"/>
                        </a:rPr>
                        <a:t>Tree ±1</a:t>
                      </a:r>
                    </a:p>
                  </a:txBody>
                  <a:tcPr marL="45720" marR="45720" marT="18288" marB="18288" anchor="ctr">
                    <a:solidFill>
                      <a:srgbClr val="C8511B"/>
                    </a:solidFill>
                  </a:tcPr>
                </a:tc>
                <a:tc>
                  <a:txBody>
                    <a:bodyPr wrap="square" lIns="45720" rIns="45720" tIns="27432" bIns="27432" anchor="ctr">
                      <a:noAutofit/>
                    </a:bodyPr>
                    <a:lstStyle/>
                    <a:p>
                      <a:pPr algn="ctr">
                        <a:spcBef>
                          <a:spcPts val="0"/>
                        </a:spcBef>
                        <a:spcAft>
                          <a:spcPts val="0"/>
                        </a:spcAft>
                      </a:pPr>
                      <a:r>
                        <a:rPr sz="850" b="1">
                          <a:solidFill>
                            <a:srgbClr val="FFFFFF"/>
                          </a:solidFill>
                          <a:latin typeface="Calibri"/>
                        </a:rPr>
                        <a:t>MAE</a:t>
                      </a:r>
                    </a:p>
                  </a:txBody>
                  <a:tcPr marL="45720" marR="45720" marT="18288" marB="18288" anchor="ctr">
                    <a:solidFill>
                      <a:srgbClr val="C8511B"/>
                    </a:solidFill>
                  </a:tcPr>
                </a:tc>
              </a:tr>
              <a:tr h="178308">
                <a:tc>
                  <a:txBody>
                    <a:bodyPr wrap="square" lIns="45720" rIns="45720" tIns="27432" bIns="27432" anchor="ctr">
                      <a:noAutofit/>
                    </a:bodyPr>
                    <a:lstStyle/>
                    <a:p>
                      <a:pPr algn="l">
                        <a:spcBef>
                          <a:spcPts val="0"/>
                        </a:spcBef>
                        <a:spcAft>
                          <a:spcPts val="0"/>
                        </a:spcAft>
                      </a:pPr>
                      <a:r>
                        <a:rPr sz="900" b="1">
                          <a:solidFill>
                            <a:srgbClr val="1E2B24"/>
                          </a:solidFill>
                          <a:latin typeface="Calibri"/>
                        </a:rPr>
                        <a:t>Plain sum</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5B6B62"/>
                          </a:solidFill>
                          <a:latin typeface="Calibri"/>
                        </a:rPr>
                        <a:t>50.00</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5B6B62"/>
                          </a:solidFill>
                          <a:latin typeface="Calibri"/>
                        </a:rPr>
                        <a:t>6.38</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5B6B62"/>
                          </a:solidFill>
                          <a:latin typeface="Calibri"/>
                        </a:rPr>
                        <a:t>2.142</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5B6B62"/>
                          </a:solidFill>
                          <a:latin typeface="Calibri"/>
                        </a:rPr>
                        <a:t>50.71</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5B6B62"/>
                          </a:solidFill>
                          <a:latin typeface="Calibri"/>
                        </a:rPr>
                        <a:t>10.64</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5B6B62"/>
                          </a:solidFill>
                          <a:latin typeface="Calibri"/>
                        </a:rPr>
                        <a:t>2.447</a:t>
                      </a:r>
                    </a:p>
                  </a:txBody>
                  <a:tcPr marL="45720" marR="45720" marT="18288" marB="18288" anchor="ctr">
                    <a:solidFill>
                      <a:srgbClr val="EEF4EF"/>
                    </a:solidFill>
                  </a:tcPr>
                </a:tc>
              </a:tr>
              <a:tr h="178308">
                <a:tc>
                  <a:txBody>
                    <a:bodyPr wrap="square" lIns="45720" rIns="45720" tIns="27432" bIns="27432" anchor="ctr">
                      <a:noAutofit/>
                    </a:bodyPr>
                    <a:lstStyle/>
                    <a:p>
                      <a:pPr algn="l">
                        <a:spcBef>
                          <a:spcPts val="0"/>
                        </a:spcBef>
                        <a:spcAft>
                          <a:spcPts val="0"/>
                        </a:spcAft>
                      </a:pPr>
                      <a:r>
                        <a:rPr sz="900" b="1">
                          <a:solidFill>
                            <a:srgbClr val="1E2B24"/>
                          </a:solidFill>
                          <a:latin typeface="Calibri"/>
                        </a:rPr>
                        <a:t>Global divisor</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95.57</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86.52</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0.356</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70.21</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22.70</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1.188</a:t>
                      </a:r>
                    </a:p>
                  </a:txBody>
                  <a:tcPr marL="45720" marR="45720" marT="18288" marB="18288" anchor="ctr">
                    <a:solidFill>
                      <a:srgbClr val="F7FAF7"/>
                    </a:solidFill>
                  </a:tcPr>
                </a:tc>
              </a:tr>
              <a:tr h="178308">
                <a:tc>
                  <a:txBody>
                    <a:bodyPr wrap="square" lIns="45720" rIns="45720" tIns="27432" bIns="27432" anchor="ctr">
                      <a:noAutofit/>
                    </a:bodyPr>
                    <a:lstStyle/>
                    <a:p>
                      <a:pPr algn="l">
                        <a:spcBef>
                          <a:spcPts val="0"/>
                        </a:spcBef>
                        <a:spcAft>
                          <a:spcPts val="0"/>
                        </a:spcAft>
                      </a:pPr>
                      <a:r>
                        <a:rPr sz="900" b="1">
                          <a:solidFill>
                            <a:srgbClr val="1E2B24"/>
                          </a:solidFill>
                          <a:latin typeface="Calibri"/>
                        </a:rPr>
                        <a:t>ElasticNet</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1">
                          <a:solidFill>
                            <a:srgbClr val="1E2B24"/>
                          </a:solidFill>
                          <a:latin typeface="Calibri"/>
                        </a:rPr>
                        <a:t>98.05</a:t>
                      </a:r>
                    </a:p>
                  </a:txBody>
                  <a:tcPr marL="45720" marR="45720" marT="18288" marB="18288" anchor="ctr">
                    <a:solidFill>
                      <a:srgbClr val="CFE8D6"/>
                    </a:solidFill>
                  </a:tcPr>
                </a:tc>
                <a:tc>
                  <a:txBody>
                    <a:bodyPr wrap="square" lIns="45720" rIns="45720" tIns="27432" bIns="27432" anchor="ctr">
                      <a:noAutofit/>
                    </a:bodyPr>
                    <a:lstStyle/>
                    <a:p>
                      <a:pPr algn="ctr">
                        <a:spcBef>
                          <a:spcPts val="0"/>
                        </a:spcBef>
                        <a:spcAft>
                          <a:spcPts val="0"/>
                        </a:spcAft>
                      </a:pPr>
                      <a:r>
                        <a:rPr sz="900" b="1">
                          <a:solidFill>
                            <a:srgbClr val="1E2B24"/>
                          </a:solidFill>
                          <a:latin typeface="Calibri"/>
                        </a:rPr>
                        <a:t>92.20</a:t>
                      </a:r>
                    </a:p>
                  </a:txBody>
                  <a:tcPr marL="45720" marR="45720" marT="18288" marB="18288" anchor="ctr">
                    <a:solidFill>
                      <a:srgbClr val="CFE8D6"/>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0.277</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1">
                          <a:solidFill>
                            <a:srgbClr val="1E2B24"/>
                          </a:solidFill>
                          <a:latin typeface="Calibri"/>
                        </a:rPr>
                        <a:t>76.42</a:t>
                      </a:r>
                    </a:p>
                  </a:txBody>
                  <a:tcPr marL="45720" marR="45720" marT="18288" marB="18288" anchor="ctr">
                    <a:solidFill>
                      <a:srgbClr val="F6D5C2"/>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29.79</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1">
                          <a:solidFill>
                            <a:srgbClr val="1E2B24"/>
                          </a:solidFill>
                          <a:latin typeface="Calibri"/>
                        </a:rPr>
                        <a:t>1.043</a:t>
                      </a:r>
                    </a:p>
                  </a:txBody>
                  <a:tcPr marL="45720" marR="45720" marT="18288" marB="18288" anchor="ctr">
                    <a:solidFill>
                      <a:srgbClr val="F6D5C2"/>
                    </a:solidFill>
                  </a:tcPr>
                </a:tc>
              </a:tr>
              <a:tr h="178308">
                <a:tc>
                  <a:txBody>
                    <a:bodyPr wrap="square" lIns="45720" rIns="45720" tIns="27432" bIns="27432" anchor="ctr">
                      <a:noAutofit/>
                    </a:bodyPr>
                    <a:lstStyle/>
                    <a:p>
                      <a:pPr algn="l">
                        <a:spcBef>
                          <a:spcPts val="0"/>
                        </a:spcBef>
                        <a:spcAft>
                          <a:spcPts val="0"/>
                        </a:spcAft>
                      </a:pPr>
                      <a:r>
                        <a:rPr sz="900" b="1">
                          <a:solidFill>
                            <a:srgbClr val="1E2B24"/>
                          </a:solidFill>
                          <a:latin typeface="Calibri"/>
                        </a:rPr>
                        <a:t>SVM</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97.87</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91.49</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1">
                          <a:solidFill>
                            <a:srgbClr val="1E2B24"/>
                          </a:solidFill>
                          <a:latin typeface="Calibri"/>
                        </a:rPr>
                        <a:t>0.266</a:t>
                      </a:r>
                    </a:p>
                  </a:txBody>
                  <a:tcPr marL="45720" marR="45720" marT="18288" marB="18288" anchor="ctr">
                    <a:solidFill>
                      <a:srgbClr val="CFE8D6"/>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74.82</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29.08</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1">
                          <a:solidFill>
                            <a:srgbClr val="1E2B24"/>
                          </a:solidFill>
                          <a:latin typeface="Calibri"/>
                        </a:rPr>
                        <a:t>1.043</a:t>
                      </a:r>
                    </a:p>
                  </a:txBody>
                  <a:tcPr marL="45720" marR="45720" marT="18288" marB="18288" anchor="ctr">
                    <a:solidFill>
                      <a:srgbClr val="F6D5C2"/>
                    </a:solidFill>
                  </a:tcPr>
                </a:tc>
              </a:tr>
              <a:tr h="178308">
                <a:tc>
                  <a:txBody>
                    <a:bodyPr wrap="square" lIns="45720" rIns="45720" tIns="27432" bIns="27432" anchor="ctr">
                      <a:noAutofit/>
                    </a:bodyPr>
                    <a:lstStyle/>
                    <a:p>
                      <a:pPr algn="l">
                        <a:spcBef>
                          <a:spcPts val="0"/>
                        </a:spcBef>
                        <a:spcAft>
                          <a:spcPts val="0"/>
                        </a:spcAft>
                      </a:pPr>
                      <a:r>
                        <a:rPr sz="900" b="1">
                          <a:solidFill>
                            <a:srgbClr val="1E2B24"/>
                          </a:solidFill>
                          <a:latin typeface="Calibri"/>
                        </a:rPr>
                        <a:t>Ridge</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97.70</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90.78</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0.275</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76.06</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28.37</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1.053</a:t>
                      </a:r>
                    </a:p>
                  </a:txBody>
                  <a:tcPr marL="45720" marR="45720" marT="18288" marB="18288" anchor="ctr">
                    <a:solidFill>
                      <a:srgbClr val="EEF4EF"/>
                    </a:solidFill>
                  </a:tcPr>
                </a:tc>
              </a:tr>
              <a:tr h="178308">
                <a:tc>
                  <a:txBody>
                    <a:bodyPr wrap="square" lIns="45720" rIns="45720" tIns="27432" bIns="27432" anchor="ctr">
                      <a:noAutofit/>
                    </a:bodyPr>
                    <a:lstStyle/>
                    <a:p>
                      <a:pPr algn="l">
                        <a:spcBef>
                          <a:spcPts val="0"/>
                        </a:spcBef>
                        <a:spcAft>
                          <a:spcPts val="0"/>
                        </a:spcAft>
                      </a:pPr>
                      <a:r>
                        <a:rPr sz="900" b="1">
                          <a:solidFill>
                            <a:srgbClr val="1E2B24"/>
                          </a:solidFill>
                          <a:latin typeface="Calibri"/>
                        </a:rPr>
                        <a:t>Linear regression</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97.52</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90.07</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0.277</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75.71</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1">
                          <a:solidFill>
                            <a:srgbClr val="1E2B24"/>
                          </a:solidFill>
                          <a:latin typeface="Calibri"/>
                        </a:rPr>
                        <a:t>30.50</a:t>
                      </a:r>
                    </a:p>
                  </a:txBody>
                  <a:tcPr marL="45720" marR="45720" marT="18288" marB="18288" anchor="ctr">
                    <a:solidFill>
                      <a:srgbClr val="F6D5C2"/>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1.048</a:t>
                      </a:r>
                    </a:p>
                  </a:txBody>
                  <a:tcPr marL="45720" marR="45720" marT="18288" marB="18288" anchor="ctr">
                    <a:solidFill>
                      <a:srgbClr val="F7FAF7"/>
                    </a:solidFill>
                  </a:tcPr>
                </a:tc>
              </a:tr>
              <a:tr h="178308">
                <a:tc>
                  <a:txBody>
                    <a:bodyPr wrap="square" lIns="45720" rIns="45720" tIns="27432" bIns="27432" anchor="ctr">
                      <a:noAutofit/>
                    </a:bodyPr>
                    <a:lstStyle/>
                    <a:p>
                      <a:pPr algn="l">
                        <a:spcBef>
                          <a:spcPts val="0"/>
                        </a:spcBef>
                        <a:spcAft>
                          <a:spcPts val="0"/>
                        </a:spcAft>
                      </a:pPr>
                      <a:r>
                        <a:rPr sz="900" b="1">
                          <a:solidFill>
                            <a:srgbClr val="1E2B24"/>
                          </a:solidFill>
                          <a:latin typeface="Calibri"/>
                        </a:rPr>
                        <a:t>Random forest</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95.92</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84.40</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0.365</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73.23</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26.95</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1.110</a:t>
                      </a:r>
                    </a:p>
                  </a:txBody>
                  <a:tcPr marL="45720" marR="45720" marT="18288" marB="18288" anchor="ctr">
                    <a:solidFill>
                      <a:srgbClr val="EEF4EF"/>
                    </a:solidFill>
                  </a:tcPr>
                </a:tc>
              </a:tr>
            </a:tbl>
          </a:graphicData>
        </a:graphic>
      </p:graphicFrame>
      <p:sp>
        <p:nvSpPr>
          <p:cNvPr id="17" name="TextBox 16"/>
          <p:cNvSpPr txBox="1"/>
          <p:nvPr/>
        </p:nvSpPr>
        <p:spPr>
          <a:xfrm>
            <a:off x="4846320" y="1371600"/>
            <a:ext cx="3977639" cy="201168"/>
          </a:xfrm>
          <a:prstGeom prst="rect">
            <a:avLst/>
          </a:prstGeom>
          <a:noFill/>
        </p:spPr>
        <p:txBody>
          <a:bodyPr wrap="square" lIns="27432" rIns="27432" tIns="27432" bIns="27432" anchor="ctr">
            <a:noAutofit/>
          </a:bodyPr>
          <a:lstStyle/>
          <a:p>
            <a:pPr algn="l">
              <a:spcBef>
                <a:spcPts val="0"/>
              </a:spcBef>
              <a:spcAft>
                <a:spcPts val="0"/>
              </a:spcAft>
            </a:pPr>
            <a:r>
              <a:rPr sz="1050" b="1">
                <a:solidFill>
                  <a:srgbClr val="1F4D36"/>
                </a:solidFill>
                <a:latin typeface="Calibri"/>
              </a:rPr>
              <a:t>B · Class ±1 per class (%), loss in red</a:t>
            </a:r>
          </a:p>
        </p:txBody>
      </p:sp>
      <p:sp>
        <p:nvSpPr>
          <p:cNvPr id="18" name="Rectangle 17"/>
          <p:cNvSpPr/>
          <p:nvPr/>
        </p:nvSpPr>
        <p:spPr>
          <a:xfrm>
            <a:off x="7452360" y="1426464"/>
            <a:ext cx="91440" cy="9144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62088" y="1371600"/>
            <a:ext cx="685800" cy="201168"/>
          </a:xfrm>
          <a:prstGeom prst="rect">
            <a:avLst/>
          </a:prstGeom>
          <a:noFill/>
        </p:spPr>
        <p:txBody>
          <a:bodyPr wrap="square" lIns="27432" rIns="27432" tIns="27432" bIns="27432" anchor="ctr">
            <a:noAutofit/>
          </a:bodyPr>
          <a:lstStyle/>
          <a:p>
            <a:pPr algn="l">
              <a:spcBef>
                <a:spcPts val="0"/>
              </a:spcBef>
              <a:spcAft>
                <a:spcPts val="0"/>
              </a:spcAft>
            </a:pPr>
            <a:r>
              <a:rPr sz="800" b="0">
                <a:solidFill>
                  <a:srgbClr val="5B6B62"/>
                </a:solidFill>
                <a:latin typeface="Calibri"/>
              </a:rPr>
              <a:t>ground truth</a:t>
            </a:r>
          </a:p>
        </p:txBody>
      </p:sp>
      <p:sp>
        <p:nvSpPr>
          <p:cNvPr id="20" name="Rectangle 19"/>
          <p:cNvSpPr/>
          <p:nvPr/>
        </p:nvSpPr>
        <p:spPr>
          <a:xfrm>
            <a:off x="8229600" y="1426464"/>
            <a:ext cx="91440" cy="91440"/>
          </a:xfrm>
          <a:prstGeom prst="rect">
            <a:avLst/>
          </a:prstGeom>
          <a:solidFill>
            <a:srgbClr val="C85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39327" y="1371600"/>
            <a:ext cx="502920" cy="201168"/>
          </a:xfrm>
          <a:prstGeom prst="rect">
            <a:avLst/>
          </a:prstGeom>
          <a:noFill/>
        </p:spPr>
        <p:txBody>
          <a:bodyPr wrap="square" lIns="27432" rIns="27432" tIns="27432" bIns="27432" anchor="ctr">
            <a:noAutofit/>
          </a:bodyPr>
          <a:lstStyle/>
          <a:p>
            <a:pPr algn="l">
              <a:spcBef>
                <a:spcPts val="0"/>
              </a:spcBef>
              <a:spcAft>
                <a:spcPts val="0"/>
              </a:spcAft>
            </a:pPr>
            <a:r>
              <a:rPr sz="800" b="0">
                <a:solidFill>
                  <a:srgbClr val="5B6B62"/>
                </a:solidFill>
                <a:latin typeface="Calibri"/>
              </a:rPr>
              <a:t>detector</a:t>
            </a:r>
          </a:p>
        </p:txBody>
      </p:sp>
      <p:sp>
        <p:nvSpPr>
          <p:cNvPr id="22" name="Rectangle 21"/>
          <p:cNvSpPr/>
          <p:nvPr/>
        </p:nvSpPr>
        <p:spPr>
          <a:xfrm>
            <a:off x="4928616" y="1883664"/>
            <a:ext cx="301752" cy="932688"/>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73752" y="1700784"/>
            <a:ext cx="411480" cy="182880"/>
          </a:xfrm>
          <a:prstGeom prst="rect">
            <a:avLst/>
          </a:prstGeom>
          <a:noFill/>
        </p:spPr>
        <p:txBody>
          <a:bodyPr wrap="square" lIns="27432" rIns="27432" tIns="27432" bIns="27432" anchor="b">
            <a:noAutofit/>
          </a:bodyPr>
          <a:lstStyle/>
          <a:p>
            <a:pPr algn="ctr">
              <a:spcBef>
                <a:spcPts val="0"/>
              </a:spcBef>
              <a:spcAft>
                <a:spcPts val="0"/>
              </a:spcAft>
            </a:pPr>
            <a:r>
              <a:rPr sz="750" b="0">
                <a:solidFill>
                  <a:srgbClr val="1E2B24"/>
                </a:solidFill>
                <a:latin typeface="Calibri"/>
              </a:rPr>
              <a:t>100.00</a:t>
            </a:r>
          </a:p>
        </p:txBody>
      </p:sp>
      <p:sp>
        <p:nvSpPr>
          <p:cNvPr id="24" name="Rectangle 23"/>
          <p:cNvSpPr/>
          <p:nvPr/>
        </p:nvSpPr>
        <p:spPr>
          <a:xfrm>
            <a:off x="5257800" y="1910152"/>
            <a:ext cx="301752" cy="906199"/>
          </a:xfrm>
          <a:prstGeom prst="rect">
            <a:avLst/>
          </a:prstGeom>
          <a:solidFill>
            <a:srgbClr val="C85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02936" y="1727272"/>
            <a:ext cx="411480" cy="182880"/>
          </a:xfrm>
          <a:prstGeom prst="rect">
            <a:avLst/>
          </a:prstGeom>
          <a:noFill/>
        </p:spPr>
        <p:txBody>
          <a:bodyPr wrap="square" lIns="27432" rIns="27432" tIns="27432" bIns="27432" anchor="b">
            <a:noAutofit/>
          </a:bodyPr>
          <a:lstStyle/>
          <a:p>
            <a:pPr algn="ctr">
              <a:spcBef>
                <a:spcPts val="0"/>
              </a:spcBef>
              <a:spcAft>
                <a:spcPts val="0"/>
              </a:spcAft>
            </a:pPr>
            <a:r>
              <a:rPr sz="750" b="1">
                <a:solidFill>
                  <a:srgbClr val="1E2B24"/>
                </a:solidFill>
                <a:latin typeface="Calibri"/>
              </a:rPr>
              <a:t>97.16</a:t>
            </a:r>
          </a:p>
        </p:txBody>
      </p:sp>
      <p:sp>
        <p:nvSpPr>
          <p:cNvPr id="26" name="TextBox 25"/>
          <p:cNvSpPr txBox="1"/>
          <p:nvPr/>
        </p:nvSpPr>
        <p:spPr>
          <a:xfrm>
            <a:off x="4882896" y="2825496"/>
            <a:ext cx="722376" cy="201168"/>
          </a:xfrm>
          <a:prstGeom prst="rect">
            <a:avLst/>
          </a:prstGeom>
          <a:noFill/>
        </p:spPr>
        <p:txBody>
          <a:bodyPr wrap="square" lIns="27432" rIns="27432" tIns="27432" bIns="27432" anchor="ctr">
            <a:noAutofit/>
          </a:bodyPr>
          <a:lstStyle/>
          <a:p>
            <a:pPr algn="ctr">
              <a:spcBef>
                <a:spcPts val="0"/>
              </a:spcBef>
              <a:spcAft>
                <a:spcPts val="0"/>
              </a:spcAft>
            </a:pPr>
            <a:r>
              <a:rPr sz="950" b="1">
                <a:solidFill>
                  <a:srgbClr val="1E2B24"/>
                </a:solidFill>
                <a:latin typeface="Calibri"/>
              </a:rPr>
              <a:t>B1</a:t>
            </a:r>
          </a:p>
        </p:txBody>
      </p:sp>
      <p:sp>
        <p:nvSpPr>
          <p:cNvPr id="27" name="TextBox 26"/>
          <p:cNvSpPr txBox="1"/>
          <p:nvPr/>
        </p:nvSpPr>
        <p:spPr>
          <a:xfrm>
            <a:off x="4882896" y="2999232"/>
            <a:ext cx="722376" cy="192024"/>
          </a:xfrm>
          <a:prstGeom prst="rect">
            <a:avLst/>
          </a:prstGeom>
          <a:noFill/>
        </p:spPr>
        <p:txBody>
          <a:bodyPr wrap="square" lIns="27432" rIns="27432" tIns="27432" bIns="27432" anchor="ctr">
            <a:noAutofit/>
          </a:bodyPr>
          <a:lstStyle/>
          <a:p>
            <a:pPr algn="ctr">
              <a:spcBef>
                <a:spcPts val="0"/>
              </a:spcBef>
              <a:spcAft>
                <a:spcPts val="0"/>
              </a:spcAft>
            </a:pPr>
            <a:r>
              <a:rPr sz="850" b="1">
                <a:solidFill>
                  <a:srgbClr val="9E2A2B"/>
                </a:solidFill>
                <a:latin typeface="Calibri"/>
              </a:rPr>
              <a:t>−2.84 pp</a:t>
            </a:r>
          </a:p>
        </p:txBody>
      </p:sp>
      <p:sp>
        <p:nvSpPr>
          <p:cNvPr id="28" name="Rectangle 27"/>
          <p:cNvSpPr/>
          <p:nvPr/>
        </p:nvSpPr>
        <p:spPr>
          <a:xfrm>
            <a:off x="5724144" y="1890286"/>
            <a:ext cx="301752" cy="926065"/>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0" y="1707406"/>
            <a:ext cx="411480" cy="182880"/>
          </a:xfrm>
          <a:prstGeom prst="rect">
            <a:avLst/>
          </a:prstGeom>
          <a:noFill/>
        </p:spPr>
        <p:txBody>
          <a:bodyPr wrap="square" lIns="27432" rIns="27432" tIns="27432" bIns="27432" anchor="b">
            <a:noAutofit/>
          </a:bodyPr>
          <a:lstStyle/>
          <a:p>
            <a:pPr algn="ctr">
              <a:spcBef>
                <a:spcPts val="0"/>
              </a:spcBef>
              <a:spcAft>
                <a:spcPts val="0"/>
              </a:spcAft>
            </a:pPr>
            <a:r>
              <a:rPr sz="750" b="0">
                <a:solidFill>
                  <a:srgbClr val="1E2B24"/>
                </a:solidFill>
                <a:latin typeface="Calibri"/>
              </a:rPr>
              <a:t>99.29</a:t>
            </a:r>
          </a:p>
        </p:txBody>
      </p:sp>
      <p:sp>
        <p:nvSpPr>
          <p:cNvPr id="30" name="Rectangle 29"/>
          <p:cNvSpPr/>
          <p:nvPr/>
        </p:nvSpPr>
        <p:spPr>
          <a:xfrm>
            <a:off x="6053328" y="2042407"/>
            <a:ext cx="301752" cy="773944"/>
          </a:xfrm>
          <a:prstGeom prst="rect">
            <a:avLst/>
          </a:prstGeom>
          <a:solidFill>
            <a:srgbClr val="C85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98464" y="1859527"/>
            <a:ext cx="411480" cy="182880"/>
          </a:xfrm>
          <a:prstGeom prst="rect">
            <a:avLst/>
          </a:prstGeom>
          <a:noFill/>
        </p:spPr>
        <p:txBody>
          <a:bodyPr wrap="square" lIns="27432" rIns="27432" tIns="27432" bIns="27432" anchor="b">
            <a:noAutofit/>
          </a:bodyPr>
          <a:lstStyle/>
          <a:p>
            <a:pPr algn="ctr">
              <a:spcBef>
                <a:spcPts val="0"/>
              </a:spcBef>
              <a:spcAft>
                <a:spcPts val="0"/>
              </a:spcAft>
            </a:pPr>
            <a:r>
              <a:rPr sz="750" b="1">
                <a:solidFill>
                  <a:srgbClr val="1E2B24"/>
                </a:solidFill>
                <a:latin typeface="Calibri"/>
              </a:rPr>
              <a:t>82.98</a:t>
            </a:r>
          </a:p>
        </p:txBody>
      </p:sp>
      <p:sp>
        <p:nvSpPr>
          <p:cNvPr id="32" name="TextBox 31"/>
          <p:cNvSpPr txBox="1"/>
          <p:nvPr/>
        </p:nvSpPr>
        <p:spPr>
          <a:xfrm>
            <a:off x="5678424" y="2825496"/>
            <a:ext cx="722376" cy="201168"/>
          </a:xfrm>
          <a:prstGeom prst="rect">
            <a:avLst/>
          </a:prstGeom>
          <a:noFill/>
        </p:spPr>
        <p:txBody>
          <a:bodyPr wrap="square" lIns="27432" rIns="27432" tIns="27432" bIns="27432" anchor="ctr">
            <a:noAutofit/>
          </a:bodyPr>
          <a:lstStyle/>
          <a:p>
            <a:pPr algn="ctr">
              <a:spcBef>
                <a:spcPts val="0"/>
              </a:spcBef>
              <a:spcAft>
                <a:spcPts val="0"/>
              </a:spcAft>
            </a:pPr>
            <a:r>
              <a:rPr sz="950" b="1">
                <a:solidFill>
                  <a:srgbClr val="1E2B24"/>
                </a:solidFill>
                <a:latin typeface="Calibri"/>
              </a:rPr>
              <a:t>B2</a:t>
            </a:r>
          </a:p>
        </p:txBody>
      </p:sp>
      <p:sp>
        <p:nvSpPr>
          <p:cNvPr id="33" name="TextBox 32"/>
          <p:cNvSpPr txBox="1"/>
          <p:nvPr/>
        </p:nvSpPr>
        <p:spPr>
          <a:xfrm>
            <a:off x="5678424" y="2999232"/>
            <a:ext cx="722376" cy="192024"/>
          </a:xfrm>
          <a:prstGeom prst="rect">
            <a:avLst/>
          </a:prstGeom>
          <a:noFill/>
        </p:spPr>
        <p:txBody>
          <a:bodyPr wrap="square" lIns="27432" rIns="27432" tIns="27432" bIns="27432" anchor="ctr">
            <a:noAutofit/>
          </a:bodyPr>
          <a:lstStyle/>
          <a:p>
            <a:pPr algn="ctr">
              <a:spcBef>
                <a:spcPts val="0"/>
              </a:spcBef>
              <a:spcAft>
                <a:spcPts val="0"/>
              </a:spcAft>
            </a:pPr>
            <a:r>
              <a:rPr sz="850" b="1">
                <a:solidFill>
                  <a:srgbClr val="9E2A2B"/>
                </a:solidFill>
                <a:latin typeface="Calibri"/>
              </a:rPr>
              <a:t>−16.31 pp</a:t>
            </a:r>
          </a:p>
        </p:txBody>
      </p:sp>
      <p:sp>
        <p:nvSpPr>
          <p:cNvPr id="34" name="Rectangle 33"/>
          <p:cNvSpPr/>
          <p:nvPr/>
        </p:nvSpPr>
        <p:spPr>
          <a:xfrm>
            <a:off x="6519672" y="1943169"/>
            <a:ext cx="301752" cy="873182"/>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4808" y="1760289"/>
            <a:ext cx="411480" cy="182880"/>
          </a:xfrm>
          <a:prstGeom prst="rect">
            <a:avLst/>
          </a:prstGeom>
          <a:noFill/>
        </p:spPr>
        <p:txBody>
          <a:bodyPr wrap="square" lIns="27432" rIns="27432" tIns="27432" bIns="27432" anchor="b">
            <a:noAutofit/>
          </a:bodyPr>
          <a:lstStyle/>
          <a:p>
            <a:pPr algn="ctr">
              <a:spcBef>
                <a:spcPts val="0"/>
              </a:spcBef>
              <a:spcAft>
                <a:spcPts val="0"/>
              </a:spcAft>
            </a:pPr>
            <a:r>
              <a:rPr sz="750" b="0">
                <a:solidFill>
                  <a:srgbClr val="1E2B24"/>
                </a:solidFill>
                <a:latin typeface="Calibri"/>
              </a:rPr>
              <a:t>93.62</a:t>
            </a:r>
          </a:p>
        </p:txBody>
      </p:sp>
      <p:sp>
        <p:nvSpPr>
          <p:cNvPr id="36" name="Rectangle 35"/>
          <p:cNvSpPr/>
          <p:nvPr/>
        </p:nvSpPr>
        <p:spPr>
          <a:xfrm>
            <a:off x="6848856" y="2280522"/>
            <a:ext cx="301752" cy="535829"/>
          </a:xfrm>
          <a:prstGeom prst="rect">
            <a:avLst/>
          </a:prstGeom>
          <a:solidFill>
            <a:srgbClr val="C85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93992" y="2097642"/>
            <a:ext cx="411480" cy="182880"/>
          </a:xfrm>
          <a:prstGeom prst="rect">
            <a:avLst/>
          </a:prstGeom>
          <a:noFill/>
        </p:spPr>
        <p:txBody>
          <a:bodyPr wrap="square" lIns="27432" rIns="27432" tIns="27432" bIns="27432" anchor="b">
            <a:noAutofit/>
          </a:bodyPr>
          <a:lstStyle/>
          <a:p>
            <a:pPr algn="ctr">
              <a:spcBef>
                <a:spcPts val="0"/>
              </a:spcBef>
              <a:spcAft>
                <a:spcPts val="0"/>
              </a:spcAft>
            </a:pPr>
            <a:r>
              <a:rPr sz="750" b="1">
                <a:solidFill>
                  <a:srgbClr val="1E2B24"/>
                </a:solidFill>
                <a:latin typeface="Calibri"/>
              </a:rPr>
              <a:t>57.45</a:t>
            </a:r>
          </a:p>
        </p:txBody>
      </p:sp>
      <p:sp>
        <p:nvSpPr>
          <p:cNvPr id="38" name="TextBox 37"/>
          <p:cNvSpPr txBox="1"/>
          <p:nvPr/>
        </p:nvSpPr>
        <p:spPr>
          <a:xfrm>
            <a:off x="6473952" y="2825496"/>
            <a:ext cx="722376" cy="201168"/>
          </a:xfrm>
          <a:prstGeom prst="rect">
            <a:avLst/>
          </a:prstGeom>
          <a:noFill/>
        </p:spPr>
        <p:txBody>
          <a:bodyPr wrap="square" lIns="27432" rIns="27432" tIns="27432" bIns="27432" anchor="ctr">
            <a:noAutofit/>
          </a:bodyPr>
          <a:lstStyle/>
          <a:p>
            <a:pPr algn="ctr">
              <a:spcBef>
                <a:spcPts val="0"/>
              </a:spcBef>
              <a:spcAft>
                <a:spcPts val="0"/>
              </a:spcAft>
            </a:pPr>
            <a:r>
              <a:rPr sz="950" b="1">
                <a:solidFill>
                  <a:srgbClr val="1E2B24"/>
                </a:solidFill>
                <a:latin typeface="Calibri"/>
              </a:rPr>
              <a:t>B3</a:t>
            </a:r>
          </a:p>
        </p:txBody>
      </p:sp>
      <p:sp>
        <p:nvSpPr>
          <p:cNvPr id="39" name="TextBox 38"/>
          <p:cNvSpPr txBox="1"/>
          <p:nvPr/>
        </p:nvSpPr>
        <p:spPr>
          <a:xfrm>
            <a:off x="6473952" y="2999232"/>
            <a:ext cx="722376" cy="192024"/>
          </a:xfrm>
          <a:prstGeom prst="rect">
            <a:avLst/>
          </a:prstGeom>
          <a:noFill/>
        </p:spPr>
        <p:txBody>
          <a:bodyPr wrap="square" lIns="27432" rIns="27432" tIns="27432" bIns="27432" anchor="ctr">
            <a:noAutofit/>
          </a:bodyPr>
          <a:lstStyle/>
          <a:p>
            <a:pPr algn="ctr">
              <a:spcBef>
                <a:spcPts val="0"/>
              </a:spcBef>
              <a:spcAft>
                <a:spcPts val="0"/>
              </a:spcAft>
            </a:pPr>
            <a:r>
              <a:rPr sz="850" b="1">
                <a:solidFill>
                  <a:srgbClr val="9E2A2B"/>
                </a:solidFill>
                <a:latin typeface="Calibri"/>
              </a:rPr>
              <a:t>−36.17 pp</a:t>
            </a:r>
          </a:p>
        </p:txBody>
      </p:sp>
      <p:sp>
        <p:nvSpPr>
          <p:cNvPr id="40" name="Rectangle 39"/>
          <p:cNvSpPr/>
          <p:nvPr/>
        </p:nvSpPr>
        <p:spPr>
          <a:xfrm>
            <a:off x="7315200" y="1890286"/>
            <a:ext cx="301752" cy="926065"/>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60336" y="1707406"/>
            <a:ext cx="411480" cy="182880"/>
          </a:xfrm>
          <a:prstGeom prst="rect">
            <a:avLst/>
          </a:prstGeom>
          <a:noFill/>
        </p:spPr>
        <p:txBody>
          <a:bodyPr wrap="square" lIns="27432" rIns="27432" tIns="27432" bIns="27432" anchor="b">
            <a:noAutofit/>
          </a:bodyPr>
          <a:lstStyle/>
          <a:p>
            <a:pPr algn="ctr">
              <a:spcBef>
                <a:spcPts val="0"/>
              </a:spcBef>
              <a:spcAft>
                <a:spcPts val="0"/>
              </a:spcAft>
            </a:pPr>
            <a:r>
              <a:rPr sz="750" b="0">
                <a:solidFill>
                  <a:srgbClr val="1E2B24"/>
                </a:solidFill>
                <a:latin typeface="Calibri"/>
              </a:rPr>
              <a:t>99.29</a:t>
            </a:r>
          </a:p>
        </p:txBody>
      </p:sp>
      <p:sp>
        <p:nvSpPr>
          <p:cNvPr id="42" name="Rectangle 41"/>
          <p:cNvSpPr/>
          <p:nvPr/>
        </p:nvSpPr>
        <p:spPr>
          <a:xfrm>
            <a:off x="7644383" y="2141645"/>
            <a:ext cx="301752" cy="674706"/>
          </a:xfrm>
          <a:prstGeom prst="rect">
            <a:avLst/>
          </a:prstGeom>
          <a:solidFill>
            <a:srgbClr val="C85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589519" y="1958765"/>
            <a:ext cx="411480" cy="182880"/>
          </a:xfrm>
          <a:prstGeom prst="rect">
            <a:avLst/>
          </a:prstGeom>
          <a:noFill/>
        </p:spPr>
        <p:txBody>
          <a:bodyPr wrap="square" lIns="27432" rIns="27432" tIns="27432" bIns="27432" anchor="b">
            <a:noAutofit/>
          </a:bodyPr>
          <a:lstStyle/>
          <a:p>
            <a:pPr algn="ctr">
              <a:spcBef>
                <a:spcPts val="0"/>
              </a:spcBef>
              <a:spcAft>
                <a:spcPts val="0"/>
              </a:spcAft>
            </a:pPr>
            <a:r>
              <a:rPr sz="750" b="1">
                <a:solidFill>
                  <a:srgbClr val="1E2B24"/>
                </a:solidFill>
                <a:latin typeface="Calibri"/>
              </a:rPr>
              <a:t>72.34</a:t>
            </a:r>
          </a:p>
        </p:txBody>
      </p:sp>
      <p:sp>
        <p:nvSpPr>
          <p:cNvPr id="44" name="TextBox 43"/>
          <p:cNvSpPr txBox="1"/>
          <p:nvPr/>
        </p:nvSpPr>
        <p:spPr>
          <a:xfrm>
            <a:off x="7269480" y="2825496"/>
            <a:ext cx="722376" cy="201168"/>
          </a:xfrm>
          <a:prstGeom prst="rect">
            <a:avLst/>
          </a:prstGeom>
          <a:noFill/>
        </p:spPr>
        <p:txBody>
          <a:bodyPr wrap="square" lIns="27432" rIns="27432" tIns="27432" bIns="27432" anchor="ctr">
            <a:noAutofit/>
          </a:bodyPr>
          <a:lstStyle/>
          <a:p>
            <a:pPr algn="ctr">
              <a:spcBef>
                <a:spcPts val="0"/>
              </a:spcBef>
              <a:spcAft>
                <a:spcPts val="0"/>
              </a:spcAft>
            </a:pPr>
            <a:r>
              <a:rPr sz="950" b="1">
                <a:solidFill>
                  <a:srgbClr val="1E2B24"/>
                </a:solidFill>
                <a:latin typeface="Calibri"/>
              </a:rPr>
              <a:t>B4</a:t>
            </a:r>
          </a:p>
        </p:txBody>
      </p:sp>
      <p:sp>
        <p:nvSpPr>
          <p:cNvPr id="45" name="TextBox 44"/>
          <p:cNvSpPr txBox="1"/>
          <p:nvPr/>
        </p:nvSpPr>
        <p:spPr>
          <a:xfrm>
            <a:off x="7269480" y="2999232"/>
            <a:ext cx="722376" cy="192024"/>
          </a:xfrm>
          <a:prstGeom prst="rect">
            <a:avLst/>
          </a:prstGeom>
          <a:noFill/>
        </p:spPr>
        <p:txBody>
          <a:bodyPr wrap="square" lIns="27432" rIns="27432" tIns="27432" bIns="27432" anchor="ctr">
            <a:noAutofit/>
          </a:bodyPr>
          <a:lstStyle/>
          <a:p>
            <a:pPr algn="ctr">
              <a:spcBef>
                <a:spcPts val="0"/>
              </a:spcBef>
              <a:spcAft>
                <a:spcPts val="0"/>
              </a:spcAft>
            </a:pPr>
            <a:r>
              <a:rPr sz="850" b="1">
                <a:solidFill>
                  <a:srgbClr val="9E2A2B"/>
                </a:solidFill>
                <a:latin typeface="Calibri"/>
              </a:rPr>
              <a:t>−26.95 pp</a:t>
            </a:r>
          </a:p>
        </p:txBody>
      </p:sp>
      <p:sp>
        <p:nvSpPr>
          <p:cNvPr id="46" name="Rounded Rectangle 45"/>
          <p:cNvSpPr/>
          <p:nvPr/>
        </p:nvSpPr>
        <p:spPr>
          <a:xfrm>
            <a:off x="8046719" y="1609344"/>
            <a:ext cx="758952" cy="1591056"/>
          </a:xfrm>
          <a:prstGeom prst="roundRect">
            <a:avLst>
              <a:gd name="adj" fmla="val 6024"/>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110727" y="1901851"/>
            <a:ext cx="301752" cy="914500"/>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55863" y="1718971"/>
            <a:ext cx="411480" cy="182880"/>
          </a:xfrm>
          <a:prstGeom prst="rect">
            <a:avLst/>
          </a:prstGeom>
          <a:noFill/>
        </p:spPr>
        <p:txBody>
          <a:bodyPr wrap="square" lIns="27432" rIns="27432" tIns="27432" bIns="27432" anchor="b">
            <a:noAutofit/>
          </a:bodyPr>
          <a:lstStyle/>
          <a:p>
            <a:pPr algn="ctr">
              <a:spcBef>
                <a:spcPts val="0"/>
              </a:spcBef>
              <a:spcAft>
                <a:spcPts val="0"/>
              </a:spcAft>
            </a:pPr>
            <a:r>
              <a:rPr sz="750" b="0">
                <a:solidFill>
                  <a:srgbClr val="1E2B24"/>
                </a:solidFill>
                <a:latin typeface="Calibri"/>
              </a:rPr>
              <a:t>98.05</a:t>
            </a:r>
          </a:p>
        </p:txBody>
      </p:sp>
      <p:sp>
        <p:nvSpPr>
          <p:cNvPr id="49" name="Rectangle 48"/>
          <p:cNvSpPr/>
          <p:nvPr/>
        </p:nvSpPr>
        <p:spPr>
          <a:xfrm>
            <a:off x="8439911" y="2093705"/>
            <a:ext cx="301752" cy="722646"/>
          </a:xfrm>
          <a:prstGeom prst="rect">
            <a:avLst/>
          </a:prstGeom>
          <a:solidFill>
            <a:srgbClr val="C85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385047" y="1910825"/>
            <a:ext cx="411480" cy="182880"/>
          </a:xfrm>
          <a:prstGeom prst="rect">
            <a:avLst/>
          </a:prstGeom>
          <a:noFill/>
        </p:spPr>
        <p:txBody>
          <a:bodyPr wrap="square" lIns="27432" rIns="27432" tIns="27432" bIns="27432" anchor="b">
            <a:noAutofit/>
          </a:bodyPr>
          <a:lstStyle/>
          <a:p>
            <a:pPr algn="ctr">
              <a:spcBef>
                <a:spcPts val="0"/>
              </a:spcBef>
              <a:spcAft>
                <a:spcPts val="0"/>
              </a:spcAft>
            </a:pPr>
            <a:r>
              <a:rPr sz="750" b="1">
                <a:solidFill>
                  <a:srgbClr val="1E2B24"/>
                </a:solidFill>
                <a:latin typeface="Calibri"/>
              </a:rPr>
              <a:t>77.48</a:t>
            </a:r>
          </a:p>
        </p:txBody>
      </p:sp>
      <p:sp>
        <p:nvSpPr>
          <p:cNvPr id="51" name="TextBox 50"/>
          <p:cNvSpPr txBox="1"/>
          <p:nvPr/>
        </p:nvSpPr>
        <p:spPr>
          <a:xfrm>
            <a:off x="8065007" y="2825496"/>
            <a:ext cx="722376" cy="201168"/>
          </a:xfrm>
          <a:prstGeom prst="rect">
            <a:avLst/>
          </a:prstGeom>
          <a:noFill/>
        </p:spPr>
        <p:txBody>
          <a:bodyPr wrap="square" lIns="27432" rIns="27432" tIns="27432" bIns="27432" anchor="ctr">
            <a:noAutofit/>
          </a:bodyPr>
          <a:lstStyle/>
          <a:p>
            <a:pPr algn="ctr">
              <a:spcBef>
                <a:spcPts val="0"/>
              </a:spcBef>
              <a:spcAft>
                <a:spcPts val="0"/>
              </a:spcAft>
            </a:pPr>
            <a:r>
              <a:rPr sz="950" b="1">
                <a:solidFill>
                  <a:srgbClr val="1E2B24"/>
                </a:solidFill>
                <a:latin typeface="Calibri"/>
              </a:rPr>
              <a:t>All</a:t>
            </a:r>
          </a:p>
        </p:txBody>
      </p:sp>
      <p:sp>
        <p:nvSpPr>
          <p:cNvPr id="52" name="TextBox 51"/>
          <p:cNvSpPr txBox="1"/>
          <p:nvPr/>
        </p:nvSpPr>
        <p:spPr>
          <a:xfrm>
            <a:off x="8065007" y="2999232"/>
            <a:ext cx="722376" cy="192024"/>
          </a:xfrm>
          <a:prstGeom prst="rect">
            <a:avLst/>
          </a:prstGeom>
          <a:noFill/>
        </p:spPr>
        <p:txBody>
          <a:bodyPr wrap="square" lIns="27432" rIns="27432" tIns="27432" bIns="27432" anchor="ctr">
            <a:noAutofit/>
          </a:bodyPr>
          <a:lstStyle/>
          <a:p>
            <a:pPr algn="ctr">
              <a:spcBef>
                <a:spcPts val="0"/>
              </a:spcBef>
              <a:spcAft>
                <a:spcPts val="0"/>
              </a:spcAft>
            </a:pPr>
            <a:r>
              <a:rPr sz="850" b="1">
                <a:solidFill>
                  <a:srgbClr val="9E2A2B"/>
                </a:solidFill>
                <a:latin typeface="Calibri"/>
              </a:rPr>
              <a:t>−20.57 pp</a:t>
            </a:r>
          </a:p>
        </p:txBody>
      </p:sp>
      <p:sp>
        <p:nvSpPr>
          <p:cNvPr id="53" name="Rectangle 52"/>
          <p:cNvSpPr/>
          <p:nvPr/>
        </p:nvSpPr>
        <p:spPr>
          <a:xfrm>
            <a:off x="4846320" y="2816352"/>
            <a:ext cx="3977639" cy="9144"/>
          </a:xfrm>
          <a:prstGeom prst="rect">
            <a:avLst/>
          </a:prstGeom>
          <a:solidFill>
            <a:srgbClr val="5B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20040" y="3273552"/>
            <a:ext cx="4343400" cy="201168"/>
          </a:xfrm>
          <a:prstGeom prst="rect">
            <a:avLst/>
          </a:prstGeom>
          <a:noFill/>
        </p:spPr>
        <p:txBody>
          <a:bodyPr wrap="square" lIns="27432" rIns="27432" tIns="27432" bIns="27432" anchor="ctr">
            <a:noAutofit/>
          </a:bodyPr>
          <a:lstStyle/>
          <a:p>
            <a:pPr algn="l">
              <a:spcBef>
                <a:spcPts val="0"/>
              </a:spcBef>
              <a:spcAft>
                <a:spcPts val="0"/>
              </a:spcAft>
            </a:pPr>
            <a:r>
              <a:rPr sz="1050" b="1">
                <a:solidFill>
                  <a:srgbClr val="1F4D36"/>
                </a:solidFill>
                <a:latin typeface="Calibri"/>
              </a:rPr>
              <a:t>C · What the detector gets wrong (test photos, per class)</a:t>
            </a:r>
          </a:p>
        </p:txBody>
      </p:sp>
      <p:graphicFrame>
        <p:nvGraphicFramePr>
          <p:cNvPr id="55" name="Table 54"/>
          <p:cNvGraphicFramePr>
            <a:graphicFrameLocks noGrp="1"/>
          </p:cNvGraphicFramePr>
          <p:nvPr/>
        </p:nvGraphicFramePr>
        <p:xfrm>
          <a:off x="320040" y="3483864"/>
          <a:ext cx="4343400" cy="1069848"/>
        </p:xfrm>
        <a:graphic>
          <a:graphicData uri="http://schemas.openxmlformats.org/drawingml/2006/table">
            <a:tbl>
              <a:tblPr>
                <a:tableStyleId>{5C22544A-7EE6-4342-B048-85BDC9FD1C3A}</a:tableStyleId>
              </a:tblPr>
              <a:tblGrid>
                <a:gridCol w="457200"/>
                <a:gridCol w="685800"/>
                <a:gridCol w="804672"/>
                <a:gridCol w="548640"/>
                <a:gridCol w="731520"/>
                <a:gridCol w="685800"/>
                <a:gridCol w="429768"/>
              </a:tblGrid>
              <a:tr h="178308">
                <a:tc>
                  <a:txBody>
                    <a:bodyPr wrap="square" lIns="45720" rIns="45720" tIns="27432" bIns="27432" anchor="ctr">
                      <a:noAutofit/>
                    </a:bodyPr>
                    <a:lstStyle/>
                    <a:p>
                      <a:pPr algn="ctr">
                        <a:spcBef>
                          <a:spcPts val="0"/>
                        </a:spcBef>
                        <a:spcAft>
                          <a:spcPts val="0"/>
                        </a:spcAft>
                      </a:pPr>
                      <a:r>
                        <a:rPr sz="850" b="1">
                          <a:solidFill>
                            <a:srgbClr val="FFFFFF"/>
                          </a:solidFill>
                          <a:latin typeface="Calibri"/>
                        </a:rPr>
                        <a:t>Class</a:t>
                      </a:r>
                    </a:p>
                  </a:txBody>
                  <a:tcPr marL="45720" marR="45720" marT="18288" marB="18288" anchor="ctr">
                    <a:solidFill>
                      <a:srgbClr val="1F4D36"/>
                    </a:solidFill>
                  </a:tcPr>
                </a:tc>
                <a:tc>
                  <a:txBody>
                    <a:bodyPr wrap="square" lIns="45720" rIns="45720" tIns="27432" bIns="27432" anchor="ctr">
                      <a:noAutofit/>
                    </a:bodyPr>
                    <a:lstStyle/>
                    <a:p>
                      <a:pPr algn="ctr">
                        <a:spcBef>
                          <a:spcPts val="0"/>
                        </a:spcBef>
                        <a:spcAft>
                          <a:spcPts val="0"/>
                        </a:spcAft>
                      </a:pPr>
                      <a:r>
                        <a:rPr sz="850" b="1">
                          <a:solidFill>
                            <a:srgbClr val="FFFFFF"/>
                          </a:solidFill>
                          <a:latin typeface="Calibri"/>
                        </a:rPr>
                        <a:t>Val. mAP50</a:t>
                      </a:r>
                    </a:p>
                  </a:txBody>
                  <a:tcPr marL="45720" marR="45720" marT="18288" marB="18288" anchor="ctr">
                    <a:solidFill>
                      <a:srgbClr val="1F4D36"/>
                    </a:solidFill>
                  </a:tcPr>
                </a:tc>
                <a:tc>
                  <a:txBody>
                    <a:bodyPr wrap="square" lIns="45720" rIns="45720" tIns="27432" bIns="27432" anchor="ctr">
                      <a:noAutofit/>
                    </a:bodyPr>
                    <a:lstStyle/>
                    <a:p>
                      <a:pPr algn="ctr">
                        <a:spcBef>
                          <a:spcPts val="0"/>
                        </a:spcBef>
                        <a:spcAft>
                          <a:spcPts val="0"/>
                        </a:spcAft>
                      </a:pPr>
                      <a:r>
                        <a:rPr sz="850" b="1">
                          <a:solidFill>
                            <a:srgbClr val="FFFFFF"/>
                          </a:solidFill>
                          <a:latin typeface="Calibri"/>
                        </a:rPr>
                        <a:t>Appearances</a:t>
                      </a:r>
                    </a:p>
                  </a:txBody>
                  <a:tcPr marL="45720" marR="45720" marT="18288" marB="18288" anchor="ctr">
                    <a:solidFill>
                      <a:srgbClr val="1F4D36"/>
                    </a:solidFill>
                  </a:tcPr>
                </a:tc>
                <a:tc>
                  <a:txBody>
                    <a:bodyPr wrap="square" lIns="45720" rIns="45720" tIns="27432" bIns="27432" anchor="ctr">
                      <a:noAutofit/>
                    </a:bodyPr>
                    <a:lstStyle/>
                    <a:p>
                      <a:pPr algn="ctr">
                        <a:spcBef>
                          <a:spcPts val="0"/>
                        </a:spcBef>
                        <a:spcAft>
                          <a:spcPts val="0"/>
                        </a:spcAft>
                      </a:pPr>
                      <a:r>
                        <a:rPr sz="850" b="1">
                          <a:solidFill>
                            <a:srgbClr val="FFFFFF"/>
                          </a:solidFill>
                          <a:latin typeface="Calibri"/>
                        </a:rPr>
                        <a:t>Missed</a:t>
                      </a:r>
                    </a:p>
                  </a:txBody>
                  <a:tcPr marL="45720" marR="45720" marT="18288" marB="18288" anchor="ctr">
                    <a:solidFill>
                      <a:srgbClr val="1F4D36"/>
                    </a:solidFill>
                  </a:tcPr>
                </a:tc>
                <a:tc>
                  <a:txBody>
                    <a:bodyPr wrap="square" lIns="45720" rIns="45720" tIns="27432" bIns="27432" anchor="ctr">
                      <a:noAutofit/>
                    </a:bodyPr>
                    <a:lstStyle/>
                    <a:p>
                      <a:pPr algn="ctr">
                        <a:spcBef>
                          <a:spcPts val="0"/>
                        </a:spcBef>
                        <a:spcAft>
                          <a:spcPts val="0"/>
                        </a:spcAft>
                      </a:pPr>
                      <a:r>
                        <a:rPr sz="850" b="1">
                          <a:solidFill>
                            <a:srgbClr val="FFFFFF"/>
                          </a:solidFill>
                          <a:latin typeface="Calibri"/>
                        </a:rPr>
                        <a:t>Wrong class</a:t>
                      </a:r>
                    </a:p>
                  </a:txBody>
                  <a:tcPr marL="45720" marR="45720" marT="18288" marB="18288" anchor="ctr">
                    <a:solidFill>
                      <a:srgbClr val="1F4D36"/>
                    </a:solidFill>
                  </a:tcPr>
                </a:tc>
                <a:tc>
                  <a:txBody>
                    <a:bodyPr wrap="square" lIns="45720" rIns="45720" tIns="27432" bIns="27432" anchor="ctr">
                      <a:noAutofit/>
                    </a:bodyPr>
                    <a:lstStyle/>
                    <a:p>
                      <a:pPr algn="ctr">
                        <a:spcBef>
                          <a:spcPts val="0"/>
                        </a:spcBef>
                        <a:spcAft>
                          <a:spcPts val="0"/>
                        </a:spcAft>
                      </a:pPr>
                      <a:r>
                        <a:rPr sz="850" b="1">
                          <a:solidFill>
                            <a:srgbClr val="FFFFFF"/>
                          </a:solidFill>
                          <a:latin typeface="Calibri"/>
                        </a:rPr>
                        <a:t>False boxes</a:t>
                      </a:r>
                    </a:p>
                  </a:txBody>
                  <a:tcPr marL="45720" marR="45720" marT="18288" marB="18288" anchor="ctr">
                    <a:solidFill>
                      <a:srgbClr val="1F4D36"/>
                    </a:solidFill>
                  </a:tcPr>
                </a:tc>
                <a:tc>
                  <a:txBody>
                    <a:bodyPr wrap="square" lIns="45720" rIns="45720" tIns="27432" bIns="27432" anchor="ctr">
                      <a:noAutofit/>
                    </a:bodyPr>
                    <a:lstStyle/>
                    <a:p>
                      <a:pPr algn="ctr">
                        <a:spcBef>
                          <a:spcPts val="0"/>
                        </a:spcBef>
                        <a:spcAft>
                          <a:spcPts val="0"/>
                        </a:spcAft>
                      </a:pPr>
                      <a:r>
                        <a:rPr sz="850" b="1">
                          <a:solidFill>
                            <a:srgbClr val="FFFFFF"/>
                          </a:solidFill>
                          <a:latin typeface="Calibri"/>
                        </a:rPr>
                        <a:t>Recall</a:t>
                      </a:r>
                    </a:p>
                  </a:txBody>
                  <a:tcPr marL="45720" marR="45720" marT="18288" marB="18288" anchor="ctr">
                    <a:solidFill>
                      <a:srgbClr val="1F4D36"/>
                    </a:solidFill>
                  </a:tcPr>
                </a:tc>
              </a:tr>
              <a:tr h="178308">
                <a:tc>
                  <a:txBody>
                    <a:bodyPr wrap="square" lIns="45720" rIns="45720" tIns="27432" bIns="27432" anchor="ctr">
                      <a:noAutofit/>
                    </a:bodyPr>
                    <a:lstStyle/>
                    <a:p>
                      <a:pPr algn="ctr">
                        <a:spcBef>
                          <a:spcPts val="0"/>
                        </a:spcBef>
                        <a:spcAft>
                          <a:spcPts val="0"/>
                        </a:spcAft>
                      </a:pPr>
                      <a:r>
                        <a:rPr sz="900" b="1">
                          <a:solidFill>
                            <a:srgbClr val="1E2B24"/>
                          </a:solidFill>
                          <a:latin typeface="Calibri"/>
                        </a:rPr>
                        <a:t>B1</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0.746</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252</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47</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33</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58</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0.683</a:t>
                      </a:r>
                    </a:p>
                  </a:txBody>
                  <a:tcPr marL="45720" marR="45720" marT="18288" marB="18288" anchor="ctr">
                    <a:solidFill>
                      <a:srgbClr val="F7FAF7"/>
                    </a:solidFill>
                  </a:tcPr>
                </a:tc>
              </a:tr>
              <a:tr h="178308">
                <a:tc>
                  <a:txBody>
                    <a:bodyPr wrap="square" lIns="45720" rIns="45720" tIns="27432" bIns="27432" anchor="ctr">
                      <a:noAutofit/>
                    </a:bodyPr>
                    <a:lstStyle/>
                    <a:p>
                      <a:pPr algn="ctr">
                        <a:spcBef>
                          <a:spcPts val="0"/>
                        </a:spcBef>
                        <a:spcAft>
                          <a:spcPts val="0"/>
                        </a:spcAft>
                      </a:pPr>
                      <a:r>
                        <a:rPr sz="900" b="1">
                          <a:solidFill>
                            <a:srgbClr val="1E2B24"/>
                          </a:solidFill>
                          <a:latin typeface="Calibri"/>
                        </a:rPr>
                        <a:t>B2</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0.425</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496</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161</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1">
                          <a:solidFill>
                            <a:srgbClr val="9E2A2B"/>
                          </a:solidFill>
                          <a:latin typeface="Calibri"/>
                        </a:rPr>
                        <a:t>209</a:t>
                      </a:r>
                    </a:p>
                  </a:txBody>
                  <a:tcPr marL="45720" marR="45720" marT="18288" marB="18288" anchor="ctr">
                    <a:solidFill>
                      <a:srgbClr val="FBE3E3"/>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158</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1">
                          <a:solidFill>
                            <a:srgbClr val="9E2A2B"/>
                          </a:solidFill>
                          <a:latin typeface="Calibri"/>
                        </a:rPr>
                        <a:t>0.254</a:t>
                      </a:r>
                    </a:p>
                  </a:txBody>
                  <a:tcPr marL="45720" marR="45720" marT="18288" marB="18288" anchor="ctr">
                    <a:solidFill>
                      <a:srgbClr val="FBE3E3"/>
                    </a:solidFill>
                  </a:tcPr>
                </a:tc>
              </a:tr>
              <a:tr h="178308">
                <a:tc>
                  <a:txBody>
                    <a:bodyPr wrap="square" lIns="45720" rIns="45720" tIns="27432" bIns="27432" anchor="ctr">
                      <a:noAutofit/>
                    </a:bodyPr>
                    <a:lstStyle/>
                    <a:p>
                      <a:pPr algn="ctr">
                        <a:spcBef>
                          <a:spcPts val="0"/>
                        </a:spcBef>
                        <a:spcAft>
                          <a:spcPts val="0"/>
                        </a:spcAft>
                      </a:pPr>
                      <a:r>
                        <a:rPr sz="900" b="1">
                          <a:solidFill>
                            <a:srgbClr val="1E2B24"/>
                          </a:solidFill>
                          <a:latin typeface="Calibri"/>
                        </a:rPr>
                        <a:t>B3</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0.550</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1,409</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1">
                          <a:solidFill>
                            <a:srgbClr val="9E2A2B"/>
                          </a:solidFill>
                          <a:latin typeface="Calibri"/>
                        </a:rPr>
                        <a:t>494</a:t>
                      </a:r>
                    </a:p>
                  </a:txBody>
                  <a:tcPr marL="45720" marR="45720" marT="18288" marB="18288" anchor="ctr">
                    <a:solidFill>
                      <a:srgbClr val="FBE3E3"/>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65</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393</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0.603</a:t>
                      </a:r>
                    </a:p>
                  </a:txBody>
                  <a:tcPr marL="45720" marR="45720" marT="18288" marB="18288" anchor="ctr">
                    <a:solidFill>
                      <a:srgbClr val="F7FAF7"/>
                    </a:solidFill>
                  </a:tcPr>
                </a:tc>
              </a:tr>
              <a:tr h="178308">
                <a:tc>
                  <a:txBody>
                    <a:bodyPr wrap="square" lIns="45720" rIns="45720" tIns="27432" bIns="27432" anchor="ctr">
                      <a:noAutofit/>
                    </a:bodyPr>
                    <a:lstStyle/>
                    <a:p>
                      <a:pPr algn="ctr">
                        <a:spcBef>
                          <a:spcPts val="0"/>
                        </a:spcBef>
                        <a:spcAft>
                          <a:spcPts val="0"/>
                        </a:spcAft>
                      </a:pPr>
                      <a:r>
                        <a:rPr sz="900" b="1">
                          <a:solidFill>
                            <a:srgbClr val="1E2B24"/>
                          </a:solidFill>
                          <a:latin typeface="Calibri"/>
                        </a:rPr>
                        <a:t>B4</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0.363</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455</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1">
                          <a:solidFill>
                            <a:srgbClr val="9E2A2B"/>
                          </a:solidFill>
                          <a:latin typeface="Calibri"/>
                        </a:rPr>
                        <a:t>262</a:t>
                      </a:r>
                    </a:p>
                  </a:txBody>
                  <a:tcPr marL="45720" marR="45720" marT="18288" marB="18288" anchor="ctr">
                    <a:solidFill>
                      <a:srgbClr val="FBE3E3"/>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89</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0">
                          <a:solidFill>
                            <a:srgbClr val="1E2B24"/>
                          </a:solidFill>
                          <a:latin typeface="Calibri"/>
                        </a:rPr>
                        <a:t>97</a:t>
                      </a:r>
                    </a:p>
                  </a:txBody>
                  <a:tcPr marL="45720" marR="45720" marT="18288" marB="18288" anchor="ctr">
                    <a:solidFill>
                      <a:srgbClr val="EEF4EF"/>
                    </a:solidFill>
                  </a:tcPr>
                </a:tc>
                <a:tc>
                  <a:txBody>
                    <a:bodyPr wrap="square" lIns="45720" rIns="45720" tIns="27432" bIns="27432" anchor="ctr">
                      <a:noAutofit/>
                    </a:bodyPr>
                    <a:lstStyle/>
                    <a:p>
                      <a:pPr algn="ctr">
                        <a:spcBef>
                          <a:spcPts val="0"/>
                        </a:spcBef>
                        <a:spcAft>
                          <a:spcPts val="0"/>
                        </a:spcAft>
                      </a:pPr>
                      <a:r>
                        <a:rPr sz="900" b="1">
                          <a:solidFill>
                            <a:srgbClr val="9E2A2B"/>
                          </a:solidFill>
                          <a:latin typeface="Calibri"/>
                        </a:rPr>
                        <a:t>0.229</a:t>
                      </a:r>
                    </a:p>
                  </a:txBody>
                  <a:tcPr marL="45720" marR="45720" marT="18288" marB="18288" anchor="ctr">
                    <a:solidFill>
                      <a:srgbClr val="FBE3E3"/>
                    </a:solidFill>
                  </a:tcPr>
                </a:tc>
              </a:tr>
              <a:tr h="178308">
                <a:tc>
                  <a:txBody>
                    <a:bodyPr wrap="square" lIns="45720" rIns="45720" tIns="27432" bIns="27432" anchor="ctr">
                      <a:noAutofit/>
                    </a:bodyPr>
                    <a:lstStyle/>
                    <a:p>
                      <a:pPr algn="ctr">
                        <a:spcBef>
                          <a:spcPts val="0"/>
                        </a:spcBef>
                        <a:spcAft>
                          <a:spcPts val="0"/>
                        </a:spcAft>
                      </a:pPr>
                      <a:r>
                        <a:rPr sz="900" b="1">
                          <a:solidFill>
                            <a:srgbClr val="1E2B24"/>
                          </a:solidFill>
                          <a:latin typeface="Calibri"/>
                        </a:rPr>
                        <a:t>All</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1">
                          <a:solidFill>
                            <a:srgbClr val="1E2B24"/>
                          </a:solidFill>
                          <a:latin typeface="Calibri"/>
                        </a:rPr>
                        <a:t>0.521</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1">
                          <a:solidFill>
                            <a:srgbClr val="1E2B24"/>
                          </a:solidFill>
                          <a:latin typeface="Calibri"/>
                        </a:rPr>
                        <a:t>2,612</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1">
                          <a:solidFill>
                            <a:srgbClr val="1E2B24"/>
                          </a:solidFill>
                          <a:latin typeface="Calibri"/>
                        </a:rPr>
                        <a:t>964</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1">
                          <a:solidFill>
                            <a:srgbClr val="1E2B24"/>
                          </a:solidFill>
                          <a:latin typeface="Calibri"/>
                        </a:rPr>
                        <a:t>396</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1">
                          <a:solidFill>
                            <a:srgbClr val="1E2B24"/>
                          </a:solidFill>
                          <a:latin typeface="Calibri"/>
                        </a:rPr>
                        <a:t>706</a:t>
                      </a:r>
                    </a:p>
                  </a:txBody>
                  <a:tcPr marL="45720" marR="45720" marT="18288" marB="18288" anchor="ctr">
                    <a:solidFill>
                      <a:srgbClr val="F7FAF7"/>
                    </a:solidFill>
                  </a:tcPr>
                </a:tc>
                <a:tc>
                  <a:txBody>
                    <a:bodyPr wrap="square" lIns="45720" rIns="45720" tIns="27432" bIns="27432" anchor="ctr">
                      <a:noAutofit/>
                    </a:bodyPr>
                    <a:lstStyle/>
                    <a:p>
                      <a:pPr algn="ctr">
                        <a:spcBef>
                          <a:spcPts val="0"/>
                        </a:spcBef>
                        <a:spcAft>
                          <a:spcPts val="0"/>
                        </a:spcAft>
                      </a:pPr>
                      <a:r>
                        <a:rPr sz="900" b="1">
                          <a:solidFill>
                            <a:srgbClr val="1E2B24"/>
                          </a:solidFill>
                          <a:latin typeface="Calibri"/>
                        </a:rPr>
                        <a:t>0.479</a:t>
                      </a:r>
                    </a:p>
                  </a:txBody>
                  <a:tcPr marL="45720" marR="45720" marT="18288" marB="18288" anchor="ctr">
                    <a:solidFill>
                      <a:srgbClr val="F7FAF7"/>
                    </a:solidFill>
                  </a:tcPr>
                </a:tc>
              </a:tr>
            </a:tbl>
          </a:graphicData>
        </a:graphic>
      </p:graphicFrame>
      <p:sp>
        <p:nvSpPr>
          <p:cNvPr id="56" name="TextBox 55"/>
          <p:cNvSpPr txBox="1"/>
          <p:nvPr/>
        </p:nvSpPr>
        <p:spPr>
          <a:xfrm>
            <a:off x="320040" y="4553712"/>
            <a:ext cx="4343400" cy="329184"/>
          </a:xfrm>
          <a:prstGeom prst="rect">
            <a:avLst/>
          </a:prstGeom>
          <a:noFill/>
        </p:spPr>
        <p:txBody>
          <a:bodyPr wrap="square" lIns="27432" rIns="27432" tIns="27432" bIns="27432" anchor="ctr">
            <a:noAutofit/>
          </a:bodyPr>
          <a:lstStyle/>
          <a:p>
            <a:pPr algn="l">
              <a:spcBef>
                <a:spcPts val="0"/>
              </a:spcBef>
              <a:spcAft>
                <a:spcPts val="0"/>
              </a:spcAft>
            </a:pPr>
            <a:r>
              <a:rPr sz="850" b="1">
                <a:solidFill>
                  <a:srgbClr val="1E2B24"/>
                </a:solidFill>
                <a:latin typeface="Calibri"/>
              </a:rPr>
              <a:t>Appearance = one bunch in one photo. </a:t>
            </a:r>
            <a:r>
              <a:rPr sz="850" b="0">
                <a:solidFill>
                  <a:srgbClr val="1E2B24"/>
                </a:solidFill>
                <a:latin typeface="Calibri"/>
              </a:rPr>
              <a:t>Of 2,612 appearances: </a:t>
            </a:r>
            <a:r>
              <a:rPr sz="850" b="1">
                <a:solidFill>
                  <a:srgbClr val="2E9E5B"/>
                </a:solidFill>
                <a:latin typeface="Calibri"/>
              </a:rPr>
              <a:t>47.9% found with the right class</a:t>
            </a:r>
            <a:r>
              <a:rPr sz="850" b="0">
                <a:solidFill>
                  <a:srgbClr val="1E2B24"/>
                </a:solidFill>
                <a:latin typeface="Calibri"/>
              </a:rPr>
              <a:t>, </a:t>
            </a:r>
            <a:r>
              <a:rPr sz="850" b="1">
                <a:solidFill>
                  <a:srgbClr val="9E2A2B"/>
                </a:solidFill>
                <a:latin typeface="Calibri"/>
              </a:rPr>
              <a:t>36.9% missed</a:t>
            </a:r>
            <a:r>
              <a:rPr sz="850" b="0">
                <a:solidFill>
                  <a:srgbClr val="1E2B24"/>
                </a:solidFill>
                <a:latin typeface="Calibri"/>
              </a:rPr>
              <a:t>, </a:t>
            </a:r>
            <a:r>
              <a:rPr sz="850" b="1">
                <a:solidFill>
                  <a:srgbClr val="C8511B"/>
                </a:solidFill>
                <a:latin typeface="Calibri"/>
              </a:rPr>
              <a:t>15.2% wrong class</a:t>
            </a:r>
            <a:r>
              <a:rPr sz="850" b="0">
                <a:solidFill>
                  <a:srgbClr val="1E2B24"/>
                </a:solidFill>
                <a:latin typeface="Calibri"/>
              </a:rPr>
              <a:t>.</a:t>
            </a:r>
          </a:p>
        </p:txBody>
      </p:sp>
      <p:sp>
        <p:nvSpPr>
          <p:cNvPr id="57" name="TextBox 56"/>
          <p:cNvSpPr txBox="1"/>
          <p:nvPr/>
        </p:nvSpPr>
        <p:spPr>
          <a:xfrm>
            <a:off x="4846320" y="3273552"/>
            <a:ext cx="3977639" cy="201168"/>
          </a:xfrm>
          <a:prstGeom prst="rect">
            <a:avLst/>
          </a:prstGeom>
          <a:noFill/>
        </p:spPr>
        <p:txBody>
          <a:bodyPr wrap="square" lIns="27432" rIns="27432" tIns="27432" bIns="27432" anchor="ctr">
            <a:noAutofit/>
          </a:bodyPr>
          <a:lstStyle/>
          <a:p>
            <a:pPr algn="l">
              <a:spcBef>
                <a:spcPts val="0"/>
              </a:spcBef>
              <a:spcAft>
                <a:spcPts val="0"/>
              </a:spcAft>
            </a:pPr>
            <a:r>
              <a:rPr sz="1050" b="1">
                <a:solidFill>
                  <a:srgbClr val="1F4D36"/>
                </a:solidFill>
                <a:latin typeface="Calibri"/>
              </a:rPr>
              <a:t>D · Why the counter cannot repair the detector errors</a:t>
            </a:r>
          </a:p>
        </p:txBody>
      </p:sp>
      <p:sp>
        <p:nvSpPr>
          <p:cNvPr id="58" name="TextBox 57"/>
          <p:cNvSpPr txBox="1"/>
          <p:nvPr/>
        </p:nvSpPr>
        <p:spPr>
          <a:xfrm>
            <a:off x="4846320" y="3483864"/>
            <a:ext cx="3977639" cy="749808"/>
          </a:xfrm>
          <a:prstGeom prst="rect">
            <a:avLst/>
          </a:prstGeom>
          <a:noFill/>
        </p:spPr>
        <p:txBody>
          <a:bodyPr wrap="square" lIns="27432" rIns="27432" tIns="27432" bIns="27432" anchor="t">
            <a:noAutofit/>
          </a:bodyPr>
          <a:lstStyle/>
          <a:p>
            <a:pPr algn="l" marL="118872" indent="-118872">
              <a:spcBef>
                <a:spcPts val="0"/>
              </a:spcBef>
              <a:spcAft>
                <a:spcPts val="200"/>
              </a:spcAft>
              <a:buChar char="•"/>
            </a:pPr>
            <a:r>
              <a:rPr sz="900" b="1">
                <a:solidFill>
                  <a:srgbClr val="9E2A2B"/>
                </a:solidFill>
                <a:latin typeface="Calibri"/>
              </a:rPr>
              <a:t>22.7% of bunches </a:t>
            </a:r>
            <a:r>
              <a:rPr sz="900" b="0">
                <a:solidFill>
                  <a:srgbClr val="1E2B24"/>
                </a:solidFill>
                <a:latin typeface="Calibri"/>
              </a:rPr>
              <a:t>(317 of 1,397) are not detected in any photo of their tree: 8.5% for B1, 42.3% for B4.</a:t>
            </a:r>
          </a:p>
          <a:p>
            <a:pPr algn="l" marL="118872" indent="-118872">
              <a:spcBef>
                <a:spcPts val="0"/>
              </a:spcBef>
              <a:spcAft>
                <a:spcPts val="200"/>
              </a:spcAft>
              <a:buChar char="•"/>
            </a:pPr>
            <a:r>
              <a:rPr sz="900" b="1">
                <a:solidFill>
                  <a:srgbClr val="9E2A2B"/>
                </a:solidFill>
                <a:latin typeface="Calibri"/>
              </a:rPr>
              <a:t>158 of 496 B2 appearances </a:t>
            </a:r>
            <a:r>
              <a:rPr sz="900" b="0">
                <a:solidFill>
                  <a:srgbClr val="1E2B24"/>
                </a:solidFill>
                <a:latin typeface="Calibri"/>
              </a:rPr>
              <a:t>get the label B3: the total is right, the class is wrong.</a:t>
            </a:r>
          </a:p>
          <a:p>
            <a:pPr algn="l" marL="118872" indent="-118872">
              <a:spcBef>
                <a:spcPts val="0"/>
              </a:spcBef>
              <a:spcAft>
                <a:spcPts val="0"/>
              </a:spcAft>
              <a:buChar char="•"/>
            </a:pPr>
            <a:r>
              <a:rPr sz="900" b="1">
                <a:solidFill>
                  <a:srgbClr val="9E2A2B"/>
                </a:solidFill>
                <a:latin typeface="Calibri"/>
              </a:rPr>
              <a:t>Full input F_all (67 numbers instead of 13): +1.42 pp, </a:t>
            </a:r>
            <a:r>
              <a:rPr sz="900" b="0">
                <a:solidFill>
                  <a:srgbClr val="1E2B24"/>
                </a:solidFill>
                <a:latin typeface="Calibri"/>
              </a:rPr>
              <a:t>not significant.</a:t>
            </a:r>
          </a:p>
        </p:txBody>
      </p:sp>
      <p:sp>
        <p:nvSpPr>
          <p:cNvPr id="59" name="TextBox 58"/>
          <p:cNvSpPr txBox="1"/>
          <p:nvPr/>
        </p:nvSpPr>
        <p:spPr>
          <a:xfrm>
            <a:off x="4846320" y="4206240"/>
            <a:ext cx="3977639" cy="182880"/>
          </a:xfrm>
          <a:prstGeom prst="rect">
            <a:avLst/>
          </a:prstGeom>
          <a:noFill/>
        </p:spPr>
        <p:txBody>
          <a:bodyPr wrap="square" lIns="27432" rIns="27432" tIns="27432" bIns="27432" anchor="ctr">
            <a:noAutofit/>
          </a:bodyPr>
          <a:lstStyle/>
          <a:p>
            <a:pPr algn="l">
              <a:spcBef>
                <a:spcPts val="0"/>
              </a:spcBef>
              <a:spcAft>
                <a:spcPts val="0"/>
              </a:spcAft>
            </a:pPr>
            <a:r>
              <a:rPr sz="900" b="1">
                <a:solidFill>
                  <a:srgbClr val="1F4D36"/>
                </a:solidFill>
                <a:latin typeface="Calibri"/>
              </a:rPr>
              <a:t>The loss stays when we change the setup (Class ±1 loss):</a:t>
            </a:r>
          </a:p>
        </p:txBody>
      </p:sp>
      <p:sp>
        <p:nvSpPr>
          <p:cNvPr id="60" name="Rounded Rectangle 59"/>
          <p:cNvSpPr/>
          <p:nvPr/>
        </p:nvSpPr>
        <p:spPr>
          <a:xfrm>
            <a:off x="4846320" y="4407408"/>
            <a:ext cx="960120" cy="457200"/>
          </a:xfrm>
          <a:prstGeom prst="roundRect">
            <a:avLst>
              <a:gd name="adj" fmla="val 10000"/>
            </a:avLst>
          </a:prstGeom>
          <a:solidFill>
            <a:srgbClr val="122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846320" y="4407408"/>
            <a:ext cx="960120" cy="457200"/>
          </a:xfrm>
          <a:prstGeom prst="rect">
            <a:avLst/>
          </a:prstGeom>
          <a:noFill/>
        </p:spPr>
        <p:txBody>
          <a:bodyPr wrap="square" lIns="27432" rIns="27432" tIns="27432" bIns="27432" anchor="ctr">
            <a:noAutofit/>
          </a:bodyPr>
          <a:lstStyle/>
          <a:p>
            <a:pPr algn="ctr">
              <a:spcBef>
                <a:spcPts val="0"/>
              </a:spcBef>
              <a:spcAft>
                <a:spcPts val="0"/>
              </a:spcAft>
            </a:pPr>
            <a:r>
              <a:rPr sz="1000" b="1">
                <a:solidFill>
                  <a:srgbClr val="F2A36B"/>
                </a:solidFill>
                <a:latin typeface="Calibri"/>
              </a:rPr>
              <a:t>23.58 pp</a:t>
            </a:r>
          </a:p>
          <a:p>
            <a:pPr algn="ctr">
              <a:spcBef>
                <a:spcPts val="0"/>
              </a:spcBef>
              <a:spcAft>
                <a:spcPts val="0"/>
              </a:spcAft>
            </a:pPr>
            <a:r>
              <a:rPr sz="750" b="0">
                <a:solidFill>
                  <a:srgbClr val="FFFFFF"/>
                </a:solidFill>
                <a:latin typeface="Calibri"/>
              </a:rPr>
              <a:t>counter chosen on validation trees</a:t>
            </a:r>
          </a:p>
        </p:txBody>
      </p:sp>
      <p:sp>
        <p:nvSpPr>
          <p:cNvPr id="62" name="Rounded Rectangle 61"/>
          <p:cNvSpPr/>
          <p:nvPr/>
        </p:nvSpPr>
        <p:spPr>
          <a:xfrm>
            <a:off x="5852160" y="4407408"/>
            <a:ext cx="960120" cy="457200"/>
          </a:xfrm>
          <a:prstGeom prst="roundRect">
            <a:avLst>
              <a:gd name="adj" fmla="val 10000"/>
            </a:avLst>
          </a:prstGeom>
          <a:solidFill>
            <a:srgbClr val="122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852160" y="4407408"/>
            <a:ext cx="960120" cy="457200"/>
          </a:xfrm>
          <a:prstGeom prst="rect">
            <a:avLst/>
          </a:prstGeom>
          <a:noFill/>
        </p:spPr>
        <p:txBody>
          <a:bodyPr wrap="square" lIns="27432" rIns="27432" tIns="27432" bIns="27432" anchor="ctr">
            <a:noAutofit/>
          </a:bodyPr>
          <a:lstStyle/>
          <a:p>
            <a:pPr algn="ctr">
              <a:spcBef>
                <a:spcPts val="0"/>
              </a:spcBef>
              <a:spcAft>
                <a:spcPts val="0"/>
              </a:spcAft>
            </a:pPr>
            <a:r>
              <a:rPr sz="1000" b="1">
                <a:solidFill>
                  <a:srgbClr val="F2A36B"/>
                </a:solidFill>
                <a:latin typeface="Calibri"/>
              </a:rPr>
              <a:t>25.03 pp</a:t>
            </a:r>
          </a:p>
          <a:p>
            <a:pPr algn="ctr">
              <a:spcBef>
                <a:spcPts val="0"/>
              </a:spcBef>
              <a:spcAft>
                <a:spcPts val="0"/>
              </a:spcAft>
            </a:pPr>
            <a:r>
              <a:rPr sz="750" b="0">
                <a:solidFill>
                  <a:srgbClr val="FFFFFF"/>
                </a:solidFill>
                <a:latin typeface="Calibri"/>
              </a:rPr>
              <a:t>5×5 cross-validation</a:t>
            </a:r>
          </a:p>
        </p:txBody>
      </p:sp>
      <p:sp>
        <p:nvSpPr>
          <p:cNvPr id="64" name="Rounded Rectangle 63"/>
          <p:cNvSpPr/>
          <p:nvPr/>
        </p:nvSpPr>
        <p:spPr>
          <a:xfrm>
            <a:off x="6858000" y="4407408"/>
            <a:ext cx="960120" cy="457200"/>
          </a:xfrm>
          <a:prstGeom prst="roundRect">
            <a:avLst>
              <a:gd name="adj" fmla="val 10000"/>
            </a:avLst>
          </a:prstGeom>
          <a:solidFill>
            <a:srgbClr val="122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858000" y="4407408"/>
            <a:ext cx="960120" cy="457200"/>
          </a:xfrm>
          <a:prstGeom prst="rect">
            <a:avLst/>
          </a:prstGeom>
          <a:noFill/>
        </p:spPr>
        <p:txBody>
          <a:bodyPr wrap="square" lIns="27432" rIns="27432" tIns="27432" bIns="27432" anchor="ctr">
            <a:noAutofit/>
          </a:bodyPr>
          <a:lstStyle/>
          <a:p>
            <a:pPr algn="ctr">
              <a:spcBef>
                <a:spcPts val="0"/>
              </a:spcBef>
              <a:spcAft>
                <a:spcPts val="0"/>
              </a:spcAft>
            </a:pPr>
            <a:r>
              <a:rPr sz="1000" b="1">
                <a:solidFill>
                  <a:srgbClr val="F2A36B"/>
                </a:solidFill>
                <a:latin typeface="Calibri"/>
              </a:rPr>
              <a:t>23.94 pp</a:t>
            </a:r>
          </a:p>
          <a:p>
            <a:pPr algn="ctr">
              <a:spcBef>
                <a:spcPts val="0"/>
              </a:spcBef>
              <a:spcAft>
                <a:spcPts val="0"/>
              </a:spcAft>
            </a:pPr>
            <a:r>
              <a:rPr sz="750" b="0">
                <a:solidFill>
                  <a:srgbClr val="FFFFFF"/>
                </a:solidFill>
                <a:latin typeface="Calibri"/>
              </a:rPr>
              <a:t>other detector (YOLO11m)</a:t>
            </a:r>
          </a:p>
        </p:txBody>
      </p:sp>
      <p:sp>
        <p:nvSpPr>
          <p:cNvPr id="66" name="Rounded Rectangle 65"/>
          <p:cNvSpPr/>
          <p:nvPr/>
        </p:nvSpPr>
        <p:spPr>
          <a:xfrm>
            <a:off x="7863840" y="4407408"/>
            <a:ext cx="960120" cy="457200"/>
          </a:xfrm>
          <a:prstGeom prst="roundRect">
            <a:avLst>
              <a:gd name="adj" fmla="val 10000"/>
            </a:avLst>
          </a:prstGeom>
          <a:solidFill>
            <a:srgbClr val="122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863840" y="4407408"/>
            <a:ext cx="960120" cy="457200"/>
          </a:xfrm>
          <a:prstGeom prst="rect">
            <a:avLst/>
          </a:prstGeom>
          <a:noFill/>
        </p:spPr>
        <p:txBody>
          <a:bodyPr wrap="square" lIns="27432" rIns="27432" tIns="27432" bIns="27432" anchor="ctr">
            <a:noAutofit/>
          </a:bodyPr>
          <a:lstStyle/>
          <a:p>
            <a:pPr algn="ctr">
              <a:spcBef>
                <a:spcPts val="0"/>
              </a:spcBef>
              <a:spcAft>
                <a:spcPts val="0"/>
              </a:spcAft>
            </a:pPr>
            <a:r>
              <a:rPr sz="1000" b="1">
                <a:solidFill>
                  <a:srgbClr val="F2A36B"/>
                </a:solidFill>
                <a:latin typeface="Calibri"/>
              </a:rPr>
              <a:t>23.44 pp</a:t>
            </a:r>
          </a:p>
          <a:p>
            <a:pPr algn="ctr">
              <a:spcBef>
                <a:spcPts val="0"/>
              </a:spcBef>
              <a:spcAft>
                <a:spcPts val="0"/>
              </a:spcAft>
            </a:pPr>
            <a:r>
              <a:rPr sz="750" b="0">
                <a:solidFill>
                  <a:srgbClr val="FFFFFF"/>
                </a:solidFill>
                <a:latin typeface="Calibri"/>
              </a:rPr>
              <a:t>4 YOLO26 checkpoints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0"/>
          </a:xfrm>
          <a:prstGeom prst="rect">
            <a:avLst/>
          </a:prstGeom>
          <a:solidFill>
            <a:srgbClr val="122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73152"/>
            <a:ext cx="6675120" cy="402336"/>
          </a:xfrm>
          <a:prstGeom prst="rect">
            <a:avLst/>
          </a:prstGeom>
          <a:noFill/>
        </p:spPr>
        <p:txBody>
          <a:bodyPr wrap="square" lIns="27432" rIns="27432" tIns="27432" bIns="27432" anchor="ctr">
            <a:noAutofit/>
          </a:bodyPr>
          <a:lstStyle/>
          <a:p>
            <a:pPr algn="l">
              <a:spcBef>
                <a:spcPts val="0"/>
              </a:spcBef>
              <a:spcAft>
                <a:spcPts val="0"/>
              </a:spcAft>
            </a:pPr>
            <a:r>
              <a:rPr sz="2000" b="1">
                <a:solidFill>
                  <a:srgbClr val="FFFFFF"/>
                </a:solidFill>
                <a:latin typeface="Cambria"/>
              </a:rPr>
              <a:t>Conclusions</a:t>
            </a:r>
          </a:p>
        </p:txBody>
      </p:sp>
      <p:sp>
        <p:nvSpPr>
          <p:cNvPr id="4" name="TextBox 3"/>
          <p:cNvSpPr txBox="1"/>
          <p:nvPr/>
        </p:nvSpPr>
        <p:spPr>
          <a:xfrm>
            <a:off x="6949440" y="73152"/>
            <a:ext cx="1874519" cy="402336"/>
          </a:xfrm>
          <a:prstGeom prst="rect">
            <a:avLst/>
          </a:prstGeom>
          <a:noFill/>
        </p:spPr>
        <p:txBody>
          <a:bodyPr wrap="square" lIns="27432" rIns="27432" tIns="27432" bIns="27432" anchor="ctr">
            <a:noAutofit/>
          </a:bodyPr>
          <a:lstStyle/>
          <a:p>
            <a:pPr algn="r">
              <a:spcBef>
                <a:spcPts val="0"/>
              </a:spcBef>
              <a:spcAft>
                <a:spcPts val="0"/>
              </a:spcAft>
            </a:pPr>
            <a:r>
              <a:rPr sz="1000" b="1">
                <a:solidFill>
                  <a:srgbClr val="A9C9A4"/>
                </a:solidFill>
                <a:latin typeface="Calibri"/>
              </a:rPr>
              <a:t>4 · Conclusion</a:t>
            </a:r>
          </a:p>
        </p:txBody>
      </p:sp>
      <p:sp>
        <p:nvSpPr>
          <p:cNvPr id="5" name="TextBox 4"/>
          <p:cNvSpPr txBox="1"/>
          <p:nvPr/>
        </p:nvSpPr>
        <p:spPr>
          <a:xfrm>
            <a:off x="320040" y="4910328"/>
            <a:ext cx="7680960" cy="182880"/>
          </a:xfrm>
          <a:prstGeom prst="rect">
            <a:avLst/>
          </a:prstGeom>
          <a:noFill/>
        </p:spPr>
        <p:txBody>
          <a:bodyPr wrap="square" lIns="27432" rIns="27432" tIns="27432" bIns="27432" anchor="t">
            <a:noAutofit/>
          </a:bodyPr>
          <a:lstStyle/>
          <a:p>
            <a:pPr algn="l">
              <a:spcBef>
                <a:spcPts val="0"/>
              </a:spcBef>
              <a:spcAft>
                <a:spcPts val="0"/>
              </a:spcAft>
            </a:pPr>
            <a:r>
              <a:rPr sz="750" b="0">
                <a:solidFill>
                  <a:srgbClr val="5B6B62"/>
                </a:solidFill>
                <a:latin typeface="Calibri"/>
              </a:rPr>
              <a:t>Muttaqin et al. · Benchmarking Multi-View Tree-Level Oil Palm Bunch Counting Under a Fixed Detector · ICIC 2026</a:t>
            </a:r>
          </a:p>
        </p:txBody>
      </p:sp>
      <p:sp>
        <p:nvSpPr>
          <p:cNvPr id="6" name="TextBox 5"/>
          <p:cNvSpPr txBox="1"/>
          <p:nvPr/>
        </p:nvSpPr>
        <p:spPr>
          <a:xfrm>
            <a:off x="8229600" y="4910328"/>
            <a:ext cx="594360" cy="182880"/>
          </a:xfrm>
          <a:prstGeom prst="rect">
            <a:avLst/>
          </a:prstGeom>
          <a:noFill/>
        </p:spPr>
        <p:txBody>
          <a:bodyPr wrap="square" lIns="27432" rIns="27432" tIns="27432" bIns="27432" anchor="t">
            <a:noAutofit/>
          </a:bodyPr>
          <a:lstStyle/>
          <a:p>
            <a:pPr algn="r">
              <a:spcBef>
                <a:spcPts val="0"/>
              </a:spcBef>
              <a:spcAft>
                <a:spcPts val="0"/>
              </a:spcAft>
            </a:pPr>
            <a:r>
              <a:rPr sz="800" b="0">
                <a:solidFill>
                  <a:srgbClr val="5B6B62"/>
                </a:solidFill>
                <a:latin typeface="Calibri"/>
              </a:rPr>
              <a:t>6</a:t>
            </a:r>
          </a:p>
        </p:txBody>
      </p:sp>
      <p:sp>
        <p:nvSpPr>
          <p:cNvPr id="7" name="Rounded Rectangle 6"/>
          <p:cNvSpPr/>
          <p:nvPr/>
        </p:nvSpPr>
        <p:spPr>
          <a:xfrm>
            <a:off x="320040" y="676656"/>
            <a:ext cx="5166360" cy="804672"/>
          </a:xfrm>
          <a:prstGeom prst="roundRect">
            <a:avLst>
              <a:gd name="adj" fmla="val 6818"/>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411480" y="896112"/>
            <a:ext cx="365760" cy="365760"/>
          </a:xfrm>
          <a:prstGeom prst="ellipse">
            <a:avLst/>
          </a:prstGeom>
          <a:solidFill>
            <a:srgbClr val="1F4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896112"/>
            <a:ext cx="365760" cy="365760"/>
          </a:xfrm>
          <a:prstGeom prst="rect">
            <a:avLst/>
          </a:prstGeom>
          <a:noFill/>
        </p:spPr>
        <p:txBody>
          <a:bodyPr wrap="square" lIns="27432" rIns="27432" tIns="27432" bIns="27432" anchor="ctr">
            <a:noAutofit/>
          </a:bodyPr>
          <a:lstStyle/>
          <a:p>
            <a:pPr algn="ctr">
              <a:spcBef>
                <a:spcPts val="0"/>
              </a:spcBef>
              <a:spcAft>
                <a:spcPts val="0"/>
              </a:spcAft>
            </a:pPr>
            <a:r>
              <a:rPr sz="1500" b="1">
                <a:solidFill>
                  <a:srgbClr val="FFFFFF"/>
                </a:solidFill>
                <a:latin typeface="Cambria"/>
              </a:rPr>
              <a:t>1</a:t>
            </a:r>
          </a:p>
        </p:txBody>
      </p:sp>
      <p:sp>
        <p:nvSpPr>
          <p:cNvPr id="10" name="TextBox 9"/>
          <p:cNvSpPr txBox="1"/>
          <p:nvPr/>
        </p:nvSpPr>
        <p:spPr>
          <a:xfrm>
            <a:off x="886968" y="713232"/>
            <a:ext cx="4526280" cy="731520"/>
          </a:xfrm>
          <a:prstGeom prst="rect">
            <a:avLst/>
          </a:prstGeom>
          <a:noFill/>
        </p:spPr>
        <p:txBody>
          <a:bodyPr wrap="square" lIns="27432" rIns="27432" tIns="27432" bIns="27432" anchor="ctr">
            <a:noAutofit/>
          </a:bodyPr>
          <a:lstStyle/>
          <a:p>
            <a:pPr algn="l">
              <a:spcBef>
                <a:spcPts val="0"/>
              </a:spcBef>
              <a:spcAft>
                <a:spcPts val="100"/>
              </a:spcAft>
            </a:pPr>
            <a:r>
              <a:rPr sz="1150" b="1">
                <a:solidFill>
                  <a:srgbClr val="1F4D36"/>
                </a:solidFill>
                <a:latin typeface="Calibri"/>
              </a:rPr>
              <a:t>The quality of the boxes matters most.</a:t>
            </a:r>
          </a:p>
          <a:p>
            <a:pPr algn="l">
              <a:spcBef>
                <a:spcPts val="0"/>
              </a:spcBef>
              <a:spcAft>
                <a:spcPts val="0"/>
              </a:spcAft>
            </a:pPr>
            <a:r>
              <a:rPr sz="950" b="0">
                <a:solidFill>
                  <a:srgbClr val="1E2B24"/>
                </a:solidFill>
                <a:latin typeface="Calibri"/>
              </a:rPr>
              <a:t>Ground-truth boxes give 20.57 pp more Class ±1 and 59.57 pp more Tree ±1 than detector boxes. The five counters differ by at most 3.19 pp, which is not significant.</a:t>
            </a:r>
          </a:p>
        </p:txBody>
      </p:sp>
      <p:sp>
        <p:nvSpPr>
          <p:cNvPr id="11" name="Rounded Rectangle 10"/>
          <p:cNvSpPr/>
          <p:nvPr/>
        </p:nvSpPr>
        <p:spPr>
          <a:xfrm>
            <a:off x="320040" y="1554480"/>
            <a:ext cx="5166360" cy="804672"/>
          </a:xfrm>
          <a:prstGeom prst="roundRect">
            <a:avLst>
              <a:gd name="adj" fmla="val 6818"/>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11480" y="1773936"/>
            <a:ext cx="365760" cy="365760"/>
          </a:xfrm>
          <a:prstGeom prst="ellipse">
            <a:avLst/>
          </a:prstGeom>
          <a:solidFill>
            <a:srgbClr val="1F4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1773936"/>
            <a:ext cx="365760" cy="365760"/>
          </a:xfrm>
          <a:prstGeom prst="rect">
            <a:avLst/>
          </a:prstGeom>
          <a:noFill/>
        </p:spPr>
        <p:txBody>
          <a:bodyPr wrap="square" lIns="27432" rIns="27432" tIns="27432" bIns="27432" anchor="ctr">
            <a:noAutofit/>
          </a:bodyPr>
          <a:lstStyle/>
          <a:p>
            <a:pPr algn="ctr">
              <a:spcBef>
                <a:spcPts val="0"/>
              </a:spcBef>
              <a:spcAft>
                <a:spcPts val="0"/>
              </a:spcAft>
            </a:pPr>
            <a:r>
              <a:rPr sz="1500" b="1">
                <a:solidFill>
                  <a:srgbClr val="FFFFFF"/>
                </a:solidFill>
                <a:latin typeface="Cambria"/>
              </a:rPr>
              <a:t>2</a:t>
            </a:r>
          </a:p>
        </p:txBody>
      </p:sp>
      <p:sp>
        <p:nvSpPr>
          <p:cNvPr id="14" name="TextBox 13"/>
          <p:cNvSpPr txBox="1"/>
          <p:nvPr/>
        </p:nvSpPr>
        <p:spPr>
          <a:xfrm>
            <a:off x="886968" y="1591056"/>
            <a:ext cx="4526280" cy="731520"/>
          </a:xfrm>
          <a:prstGeom prst="rect">
            <a:avLst/>
          </a:prstGeom>
          <a:noFill/>
        </p:spPr>
        <p:txBody>
          <a:bodyPr wrap="square" lIns="27432" rIns="27432" tIns="27432" bIns="27432" anchor="ctr">
            <a:noAutofit/>
          </a:bodyPr>
          <a:lstStyle/>
          <a:p>
            <a:pPr algn="l">
              <a:spcBef>
                <a:spcPts val="0"/>
              </a:spcBef>
              <a:spcAft>
                <a:spcPts val="100"/>
              </a:spcAft>
            </a:pPr>
            <a:r>
              <a:rPr sz="1150" b="1">
                <a:solidFill>
                  <a:srgbClr val="1F4D36"/>
                </a:solidFill>
                <a:latin typeface="Calibri"/>
              </a:rPr>
              <a:t>The gap is stable.</a:t>
            </a:r>
          </a:p>
          <a:p>
            <a:pPr algn="l">
              <a:spcBef>
                <a:spcPts val="0"/>
              </a:spcBef>
              <a:spcAft>
                <a:spcPts val="0"/>
              </a:spcAft>
            </a:pPr>
            <a:r>
              <a:rPr sz="950" b="0">
                <a:solidFill>
                  <a:srgbClr val="1E2B24"/>
                </a:solidFill>
                <a:latin typeface="Calibri"/>
              </a:rPr>
              <a:t>It stays between 23 and 25 pp with validation-based selection, cross-validation, a YOLO11m detector and four YOLO26 checkpoints.</a:t>
            </a:r>
          </a:p>
        </p:txBody>
      </p:sp>
      <p:sp>
        <p:nvSpPr>
          <p:cNvPr id="15" name="Rounded Rectangle 14"/>
          <p:cNvSpPr/>
          <p:nvPr/>
        </p:nvSpPr>
        <p:spPr>
          <a:xfrm>
            <a:off x="320040" y="2432304"/>
            <a:ext cx="5166360" cy="804672"/>
          </a:xfrm>
          <a:prstGeom prst="roundRect">
            <a:avLst>
              <a:gd name="adj" fmla="val 6818"/>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11480" y="2651760"/>
            <a:ext cx="365760" cy="365760"/>
          </a:xfrm>
          <a:prstGeom prst="ellipse">
            <a:avLst/>
          </a:prstGeom>
          <a:solidFill>
            <a:srgbClr val="1F4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 y="2651760"/>
            <a:ext cx="365760" cy="365760"/>
          </a:xfrm>
          <a:prstGeom prst="rect">
            <a:avLst/>
          </a:prstGeom>
          <a:noFill/>
        </p:spPr>
        <p:txBody>
          <a:bodyPr wrap="square" lIns="27432" rIns="27432" tIns="27432" bIns="27432" anchor="ctr">
            <a:noAutofit/>
          </a:bodyPr>
          <a:lstStyle/>
          <a:p>
            <a:pPr algn="ctr">
              <a:spcBef>
                <a:spcPts val="0"/>
              </a:spcBef>
              <a:spcAft>
                <a:spcPts val="0"/>
              </a:spcAft>
            </a:pPr>
            <a:r>
              <a:rPr sz="1500" b="1">
                <a:solidFill>
                  <a:srgbClr val="FFFFFF"/>
                </a:solidFill>
                <a:latin typeface="Cambria"/>
              </a:rPr>
              <a:t>3</a:t>
            </a:r>
          </a:p>
        </p:txBody>
      </p:sp>
      <p:sp>
        <p:nvSpPr>
          <p:cNvPr id="18" name="TextBox 17"/>
          <p:cNvSpPr txBox="1"/>
          <p:nvPr/>
        </p:nvSpPr>
        <p:spPr>
          <a:xfrm>
            <a:off x="886968" y="2468880"/>
            <a:ext cx="4526280" cy="731520"/>
          </a:xfrm>
          <a:prstGeom prst="rect">
            <a:avLst/>
          </a:prstGeom>
          <a:noFill/>
        </p:spPr>
        <p:txBody>
          <a:bodyPr wrap="square" lIns="27432" rIns="27432" tIns="27432" bIns="27432" anchor="ctr">
            <a:noAutofit/>
          </a:bodyPr>
          <a:lstStyle/>
          <a:p>
            <a:pPr algn="l">
              <a:spcBef>
                <a:spcPts val="0"/>
              </a:spcBef>
              <a:spcAft>
                <a:spcPts val="100"/>
              </a:spcAft>
            </a:pPr>
            <a:r>
              <a:rPr sz="1150" b="1">
                <a:solidFill>
                  <a:srgbClr val="1F4D36"/>
                </a:solidFill>
                <a:latin typeface="Calibri"/>
              </a:rPr>
              <a:t>The loss depends on the class.</a:t>
            </a:r>
          </a:p>
          <a:p>
            <a:pPr algn="l">
              <a:spcBef>
                <a:spcPts val="0"/>
              </a:spcBef>
              <a:spcAft>
                <a:spcPts val="0"/>
              </a:spcAft>
            </a:pPr>
            <a:r>
              <a:rPr sz="950" b="0">
                <a:solidFill>
                  <a:srgbClr val="1E2B24"/>
                </a:solidFill>
                <a:latin typeface="Calibri"/>
              </a:rPr>
              <a:t>B3 −36.17 pp, B4 −26.95 pp, B2 −16.31 pp, B1 −2.84 pp. The detector must find more B3 and B4 bunches and separate B2 from B3.</a:t>
            </a:r>
          </a:p>
        </p:txBody>
      </p:sp>
      <p:sp>
        <p:nvSpPr>
          <p:cNvPr id="19" name="Rounded Rectangle 18"/>
          <p:cNvSpPr/>
          <p:nvPr/>
        </p:nvSpPr>
        <p:spPr>
          <a:xfrm>
            <a:off x="320040" y="3310128"/>
            <a:ext cx="5166360" cy="804672"/>
          </a:xfrm>
          <a:prstGeom prst="roundRect">
            <a:avLst>
              <a:gd name="adj" fmla="val 6818"/>
            </a:avLst>
          </a:prstGeom>
          <a:solidFill>
            <a:srgbClr val="EE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11480" y="3529584"/>
            <a:ext cx="365760" cy="365760"/>
          </a:xfrm>
          <a:prstGeom prst="ellipse">
            <a:avLst/>
          </a:prstGeom>
          <a:solidFill>
            <a:srgbClr val="1F4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3529584"/>
            <a:ext cx="365760" cy="365760"/>
          </a:xfrm>
          <a:prstGeom prst="rect">
            <a:avLst/>
          </a:prstGeom>
          <a:noFill/>
        </p:spPr>
        <p:txBody>
          <a:bodyPr wrap="square" lIns="27432" rIns="27432" tIns="27432" bIns="27432" anchor="ctr">
            <a:noAutofit/>
          </a:bodyPr>
          <a:lstStyle/>
          <a:p>
            <a:pPr algn="ctr">
              <a:spcBef>
                <a:spcPts val="0"/>
              </a:spcBef>
              <a:spcAft>
                <a:spcPts val="0"/>
              </a:spcAft>
            </a:pPr>
            <a:r>
              <a:rPr sz="1500" b="1">
                <a:solidFill>
                  <a:srgbClr val="FFFFFF"/>
                </a:solidFill>
                <a:latin typeface="Cambria"/>
              </a:rPr>
              <a:t>4</a:t>
            </a:r>
          </a:p>
        </p:txBody>
      </p:sp>
      <p:sp>
        <p:nvSpPr>
          <p:cNvPr id="22" name="TextBox 21"/>
          <p:cNvSpPr txBox="1"/>
          <p:nvPr/>
        </p:nvSpPr>
        <p:spPr>
          <a:xfrm>
            <a:off x="886968" y="3346704"/>
            <a:ext cx="4526280" cy="731520"/>
          </a:xfrm>
          <a:prstGeom prst="rect">
            <a:avLst/>
          </a:prstGeom>
          <a:noFill/>
        </p:spPr>
        <p:txBody>
          <a:bodyPr wrap="square" lIns="27432" rIns="27432" tIns="27432" bIns="27432" anchor="ctr">
            <a:noAutofit/>
          </a:bodyPr>
          <a:lstStyle/>
          <a:p>
            <a:pPr algn="l">
              <a:spcBef>
                <a:spcPts val="0"/>
              </a:spcBef>
              <a:spcAft>
                <a:spcPts val="100"/>
              </a:spcAft>
            </a:pPr>
            <a:r>
              <a:rPr sz="1150" b="1">
                <a:solidFill>
                  <a:srgbClr val="1F4D36"/>
                </a:solidFill>
                <a:latin typeface="Calibri"/>
              </a:rPr>
              <a:t>Recommended evaluation protocol.</a:t>
            </a:r>
          </a:p>
          <a:p>
            <a:pPr algn="l">
              <a:spcBef>
                <a:spcPts val="0"/>
              </a:spcBef>
              <a:spcAft>
                <a:spcPts val="0"/>
              </a:spcAft>
            </a:pPr>
            <a:r>
              <a:rPr sz="950" b="0">
                <a:solidFill>
                  <a:srgbClr val="1E2B24"/>
                </a:solidFill>
                <a:latin typeface="Calibri"/>
              </a:rPr>
              <a:t>Report each counter on ground-truth boxes and on detector boxes, per class and per tree, with the direction of the error.</a:t>
            </a:r>
          </a:p>
        </p:txBody>
      </p:sp>
      <p:sp>
        <p:nvSpPr>
          <p:cNvPr id="23" name="Rounded Rectangle 22"/>
          <p:cNvSpPr/>
          <p:nvPr/>
        </p:nvSpPr>
        <p:spPr>
          <a:xfrm>
            <a:off x="5623560" y="676656"/>
            <a:ext cx="3200400" cy="1700784"/>
          </a:xfrm>
          <a:prstGeom prst="roundRect">
            <a:avLst>
              <a:gd name="adj" fmla="val 3225"/>
            </a:avLst>
          </a:prstGeom>
          <a:solidFill>
            <a:srgbClr val="FBE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42432" y="722376"/>
            <a:ext cx="2926080" cy="201168"/>
          </a:xfrm>
          <a:prstGeom prst="rect">
            <a:avLst/>
          </a:prstGeom>
          <a:noFill/>
        </p:spPr>
        <p:txBody>
          <a:bodyPr wrap="square" lIns="27432" rIns="27432" tIns="27432" bIns="27432" anchor="ctr">
            <a:noAutofit/>
          </a:bodyPr>
          <a:lstStyle/>
          <a:p>
            <a:pPr algn="l">
              <a:spcBef>
                <a:spcPts val="0"/>
              </a:spcBef>
              <a:spcAft>
                <a:spcPts val="0"/>
              </a:spcAft>
            </a:pPr>
            <a:r>
              <a:rPr sz="1050" b="1">
                <a:solidFill>
                  <a:srgbClr val="C8511B"/>
                </a:solidFill>
                <a:latin typeface="Calibri"/>
              </a:rPr>
              <a:t>Limitations</a:t>
            </a:r>
          </a:p>
        </p:txBody>
      </p:sp>
      <p:sp>
        <p:nvSpPr>
          <p:cNvPr id="25" name="TextBox 24"/>
          <p:cNvSpPr txBox="1"/>
          <p:nvPr/>
        </p:nvSpPr>
        <p:spPr>
          <a:xfrm>
            <a:off x="5742432" y="950976"/>
            <a:ext cx="2990088" cy="1389888"/>
          </a:xfrm>
          <a:prstGeom prst="rect">
            <a:avLst/>
          </a:prstGeom>
          <a:noFill/>
        </p:spPr>
        <p:txBody>
          <a:bodyPr wrap="square" lIns="27432" rIns="27432" tIns="27432" bIns="27432" anchor="t">
            <a:noAutofit/>
          </a:bodyPr>
          <a:lstStyle/>
          <a:p>
            <a:pPr algn="l" marL="118872" indent="-118872">
              <a:spcBef>
                <a:spcPts val="0"/>
              </a:spcBef>
              <a:spcAft>
                <a:spcPts val="300"/>
              </a:spcAft>
              <a:buChar char="•"/>
            </a:pPr>
            <a:r>
              <a:rPr sz="950" b="0">
                <a:solidFill>
                  <a:srgbClr val="1E2B24"/>
                </a:solidFill>
                <a:latin typeface="Calibri"/>
              </a:rPr>
              <a:t>One dataset from two estates in South Kalimantan; the smaller has 99 trees.</a:t>
            </a:r>
          </a:p>
          <a:p>
            <a:pPr algn="l" marL="118872" indent="-118872">
              <a:spcBef>
                <a:spcPts val="0"/>
              </a:spcBef>
              <a:spcAft>
                <a:spcPts val="300"/>
              </a:spcAft>
              <a:buChar char="•"/>
            </a:pPr>
            <a:r>
              <a:rPr sz="950" b="0">
                <a:solidFill>
                  <a:srgbClr val="1E2B24"/>
                </a:solidFill>
                <a:latin typeface="Calibri"/>
              </a:rPr>
              <a:t>One training run per detector.</a:t>
            </a:r>
          </a:p>
          <a:p>
            <a:pPr algn="l" marL="118872" indent="-118872">
              <a:spcBef>
                <a:spcPts val="0"/>
              </a:spcBef>
              <a:spcAft>
                <a:spcPts val="300"/>
              </a:spcAft>
              <a:buChar char="•"/>
            </a:pPr>
            <a:r>
              <a:rPr sz="950" b="0">
                <a:solidFill>
                  <a:srgbClr val="1E2B24"/>
                </a:solidFill>
                <a:latin typeface="Calibri"/>
              </a:rPr>
              <a:t>Ground truth is an empirical reference, not an upper bound for future counters.</a:t>
            </a:r>
          </a:p>
          <a:p>
            <a:pPr algn="l" marL="118872" indent="-118872">
              <a:spcBef>
                <a:spcPts val="0"/>
              </a:spcBef>
              <a:spcAft>
                <a:spcPts val="0"/>
              </a:spcAft>
              <a:buChar char="•"/>
            </a:pPr>
            <a:r>
              <a:rPr sz="950" b="0">
                <a:solidFill>
                  <a:srgbClr val="1E2B24"/>
                </a:solidFill>
                <a:latin typeface="Calibri"/>
              </a:rPr>
              <a:t>The test set is reused to highlight the best configurations.</a:t>
            </a:r>
          </a:p>
        </p:txBody>
      </p:sp>
      <p:sp>
        <p:nvSpPr>
          <p:cNvPr id="26" name="Rounded Rectangle 25"/>
          <p:cNvSpPr/>
          <p:nvPr/>
        </p:nvSpPr>
        <p:spPr>
          <a:xfrm>
            <a:off x="5623560" y="2450592"/>
            <a:ext cx="3200400" cy="1664208"/>
          </a:xfrm>
          <a:prstGeom prst="roundRect">
            <a:avLst>
              <a:gd name="adj" fmla="val 3296"/>
            </a:avLst>
          </a:prstGeom>
          <a:solidFill>
            <a:srgbClr val="E3F2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42432" y="2496312"/>
            <a:ext cx="2926080" cy="201168"/>
          </a:xfrm>
          <a:prstGeom prst="rect">
            <a:avLst/>
          </a:prstGeom>
          <a:noFill/>
        </p:spPr>
        <p:txBody>
          <a:bodyPr wrap="square" lIns="27432" rIns="27432" tIns="27432" bIns="27432" anchor="ctr">
            <a:noAutofit/>
          </a:bodyPr>
          <a:lstStyle/>
          <a:p>
            <a:pPr algn="l">
              <a:spcBef>
                <a:spcPts val="0"/>
              </a:spcBef>
              <a:spcAft>
                <a:spcPts val="0"/>
              </a:spcAft>
            </a:pPr>
            <a:r>
              <a:rPr sz="1050" b="1">
                <a:solidFill>
                  <a:srgbClr val="1F4D36"/>
                </a:solidFill>
                <a:latin typeface="Calibri"/>
              </a:rPr>
              <a:t>Future work</a:t>
            </a:r>
          </a:p>
        </p:txBody>
      </p:sp>
      <p:sp>
        <p:nvSpPr>
          <p:cNvPr id="28" name="TextBox 27"/>
          <p:cNvSpPr txBox="1"/>
          <p:nvPr/>
        </p:nvSpPr>
        <p:spPr>
          <a:xfrm>
            <a:off x="5742432" y="2724912"/>
            <a:ext cx="2990088" cy="1353312"/>
          </a:xfrm>
          <a:prstGeom prst="rect">
            <a:avLst/>
          </a:prstGeom>
          <a:noFill/>
        </p:spPr>
        <p:txBody>
          <a:bodyPr wrap="square" lIns="27432" rIns="27432" tIns="27432" bIns="27432" anchor="t">
            <a:noAutofit/>
          </a:bodyPr>
          <a:lstStyle/>
          <a:p>
            <a:pPr algn="l" marL="118872" indent="-118872">
              <a:spcBef>
                <a:spcPts val="0"/>
              </a:spcBef>
              <a:spcAft>
                <a:spcPts val="300"/>
              </a:spcAft>
              <a:buChar char="•"/>
            </a:pPr>
            <a:r>
              <a:rPr sz="950" b="0">
                <a:solidFill>
                  <a:srgbClr val="1E2B24"/>
                </a:solidFill>
                <a:latin typeface="Calibri"/>
              </a:rPr>
              <a:t>Match bunches across photos explicitly and compare with the regression counters on the same boxes.</a:t>
            </a:r>
          </a:p>
          <a:p>
            <a:pPr algn="l" marL="118872" indent="-118872">
              <a:spcBef>
                <a:spcPts val="0"/>
              </a:spcBef>
              <a:spcAft>
                <a:spcPts val="300"/>
              </a:spcAft>
              <a:buChar char="•"/>
            </a:pPr>
            <a:r>
              <a:rPr sz="950" b="0">
                <a:solidFill>
                  <a:srgbClr val="1E2B24"/>
                </a:solidFill>
                <a:latin typeface="Calibri"/>
              </a:rPr>
              <a:t>Repeated detector training and more detector families.</a:t>
            </a:r>
          </a:p>
          <a:p>
            <a:pPr algn="l" marL="118872" indent="-118872">
              <a:spcBef>
                <a:spcPts val="0"/>
              </a:spcBef>
              <a:spcAft>
                <a:spcPts val="300"/>
              </a:spcAft>
              <a:buChar char="•"/>
            </a:pPr>
            <a:r>
              <a:rPr sz="950" b="0">
                <a:solidFill>
                  <a:srgbClr val="1E2B24"/>
                </a:solidFill>
                <a:latin typeface="Calibri"/>
              </a:rPr>
              <a:t>An independent plantation.</a:t>
            </a:r>
          </a:p>
          <a:p>
            <a:pPr algn="l" marL="118872" indent="-118872">
              <a:spcBef>
                <a:spcPts val="0"/>
              </a:spcBef>
              <a:spcAft>
                <a:spcPts val="0"/>
              </a:spcAft>
              <a:buChar char="•"/>
            </a:pPr>
            <a:r>
              <a:rPr sz="950" b="0">
                <a:solidFill>
                  <a:srgbClr val="1E2B24"/>
                </a:solidFill>
                <a:latin typeface="Calibri"/>
              </a:rPr>
              <a:t>Measured changes of camera pitch.</a:t>
            </a:r>
          </a:p>
        </p:txBody>
      </p:sp>
      <p:sp>
        <p:nvSpPr>
          <p:cNvPr id="29" name="Rounded Rectangle 28"/>
          <p:cNvSpPr/>
          <p:nvPr/>
        </p:nvSpPr>
        <p:spPr>
          <a:xfrm>
            <a:off x="320040" y="4206240"/>
            <a:ext cx="8503920" cy="640080"/>
          </a:xfrm>
          <a:prstGeom prst="roundRect">
            <a:avLst>
              <a:gd name="adj" fmla="val 8571"/>
            </a:avLst>
          </a:prstGeom>
          <a:solidFill>
            <a:srgbClr val="1229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4206240"/>
            <a:ext cx="8229600" cy="640080"/>
          </a:xfrm>
          <a:prstGeom prst="rect">
            <a:avLst/>
          </a:prstGeom>
          <a:noFill/>
        </p:spPr>
        <p:txBody>
          <a:bodyPr wrap="square" lIns="27432" rIns="27432" tIns="27432" bIns="27432" anchor="ctr">
            <a:noAutofit/>
          </a:bodyPr>
          <a:lstStyle/>
          <a:p>
            <a:pPr algn="l">
              <a:spcBef>
                <a:spcPts val="0"/>
              </a:spcBef>
              <a:spcAft>
                <a:spcPts val="100"/>
              </a:spcAft>
            </a:pPr>
            <a:r>
              <a:rPr sz="900" b="1">
                <a:solidFill>
                  <a:srgbClr val="F2A36B"/>
                </a:solidFill>
                <a:latin typeface="Calibri"/>
              </a:rPr>
              <a:t>ANSWER TO THE OBJECTIVE</a:t>
            </a:r>
          </a:p>
          <a:p>
            <a:pPr algn="l">
              <a:spcBef>
                <a:spcPts val="0"/>
              </a:spcBef>
              <a:spcAft>
                <a:spcPts val="0"/>
              </a:spcAft>
            </a:pPr>
            <a:r>
              <a:rPr sz="1250" b="0">
                <a:solidFill>
                  <a:srgbClr val="FFFFFF"/>
                </a:solidFill>
                <a:latin typeface="Calibri"/>
              </a:rPr>
              <a:t>On SawitMVC, the count depends far more on the detector output than on the choice of counter.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291D"/>
        </a:solidFill>
        <a:effectLst/>
      </p:bgPr>
    </p:bg>
    <p:spTree>
      <p:nvGrpSpPr>
        <p:cNvPr id="1" name=""/>
        <p:cNvGrpSpPr/>
        <p:nvPr/>
      </p:nvGrpSpPr>
      <p:grpSpPr/>
      <p:pic>
        <p:nvPicPr>
          <p:cNvPr id="2" name="Picture 1" descr="s13_0.jpg"/>
          <p:cNvPicPr>
            <a:picLocks noChangeAspect="1"/>
          </p:cNvPicPr>
          <p:nvPr/>
        </p:nvPicPr>
        <p:blipFill>
          <a:blip r:embed="rId2"/>
          <a:srcRect l="2593" r="2593"/>
          <a:stretch>
            <a:fillRect/>
          </a:stretch>
        </p:blipFill>
        <p:spPr>
          <a:xfrm>
            <a:off x="0" y="0"/>
            <a:ext cx="3657600" cy="5143500"/>
          </a:xfrm>
          <a:prstGeom prst="rect">
            <a:avLst/>
          </a:prstGeom>
        </p:spPr>
      </p:pic>
      <p:sp>
        <p:nvSpPr>
          <p:cNvPr id="3" name="TextBox 2"/>
          <p:cNvSpPr txBox="1"/>
          <p:nvPr/>
        </p:nvSpPr>
        <p:spPr>
          <a:xfrm>
            <a:off x="4206240" y="1097280"/>
            <a:ext cx="4572000" cy="822960"/>
          </a:xfrm>
          <a:prstGeom prst="rect">
            <a:avLst/>
          </a:prstGeom>
          <a:noFill/>
        </p:spPr>
        <p:txBody>
          <a:bodyPr wrap="square" lIns="27432" rIns="27432" tIns="27432" bIns="27432" anchor="t">
            <a:noAutofit/>
          </a:bodyPr>
          <a:lstStyle/>
          <a:p>
            <a:pPr algn="l">
              <a:spcBef>
                <a:spcPts val="0"/>
              </a:spcBef>
              <a:spcAft>
                <a:spcPts val="0"/>
              </a:spcAft>
            </a:pPr>
            <a:r>
              <a:rPr sz="4400" b="1">
                <a:solidFill>
                  <a:srgbClr val="FFFFFF"/>
                </a:solidFill>
                <a:latin typeface="Cambria"/>
              </a:rPr>
              <a:t>Thank you</a:t>
            </a:r>
          </a:p>
        </p:txBody>
      </p:sp>
      <p:pic>
        <p:nvPicPr>
          <p:cNvPr id="4" name="Picture 3" descr="s13_1.png"/>
          <p:cNvPicPr>
            <a:picLocks noChangeAspect="1"/>
          </p:cNvPicPr>
          <p:nvPr/>
        </p:nvPicPr>
        <p:blipFill>
          <a:blip r:embed="rId3"/>
          <a:srcRect/>
          <a:stretch>
            <a:fillRect/>
          </a:stretch>
        </p:blipFill>
        <p:spPr>
          <a:xfrm>
            <a:off x="4206240" y="2514600"/>
            <a:ext cx="292608" cy="292608"/>
          </a:xfrm>
          <a:prstGeom prst="rect">
            <a:avLst/>
          </a:prstGeom>
        </p:spPr>
      </p:pic>
      <p:sp>
        <p:nvSpPr>
          <p:cNvPr id="5" name="TextBox 4"/>
          <p:cNvSpPr txBox="1"/>
          <p:nvPr/>
        </p:nvSpPr>
        <p:spPr>
          <a:xfrm>
            <a:off x="4617720" y="2468880"/>
            <a:ext cx="4206240" cy="384048"/>
          </a:xfrm>
          <a:prstGeom prst="rect">
            <a:avLst/>
          </a:prstGeom>
          <a:noFill/>
        </p:spPr>
        <p:txBody>
          <a:bodyPr wrap="square" lIns="27432" rIns="27432" tIns="27432" bIns="27432" anchor="ctr">
            <a:noAutofit/>
          </a:bodyPr>
          <a:lstStyle/>
          <a:p>
            <a:pPr algn="l">
              <a:spcBef>
                <a:spcPts val="0"/>
              </a:spcBef>
              <a:spcAft>
                <a:spcPts val="0"/>
              </a:spcAft>
            </a:pPr>
            <a:r>
              <a:rPr sz="1300" b="0">
                <a:solidFill>
                  <a:srgbClr val="FFFFFF"/>
                </a:solidFill>
                <a:latin typeface="Calibri"/>
              </a:rPr>
              <a:t>github.com/ULM-SawitMVC/Baseline-SawitMVC</a:t>
            </a:r>
          </a:p>
        </p:txBody>
      </p:sp>
      <p:pic>
        <p:nvPicPr>
          <p:cNvPr id="6" name="Picture 5" descr="s13_2.png"/>
          <p:cNvPicPr>
            <a:picLocks noChangeAspect="1"/>
          </p:cNvPicPr>
          <p:nvPr/>
        </p:nvPicPr>
        <p:blipFill>
          <a:blip r:embed="rId4"/>
          <a:srcRect/>
          <a:stretch>
            <a:fillRect/>
          </a:stretch>
        </p:blipFill>
        <p:spPr>
          <a:xfrm>
            <a:off x="4206240" y="3017520"/>
            <a:ext cx="292608" cy="292608"/>
          </a:xfrm>
          <a:prstGeom prst="rect">
            <a:avLst/>
          </a:prstGeom>
        </p:spPr>
      </p:pic>
      <p:sp>
        <p:nvSpPr>
          <p:cNvPr id="7" name="TextBox 6"/>
          <p:cNvSpPr txBox="1"/>
          <p:nvPr/>
        </p:nvSpPr>
        <p:spPr>
          <a:xfrm>
            <a:off x="4617720" y="2971800"/>
            <a:ext cx="4206240" cy="384048"/>
          </a:xfrm>
          <a:prstGeom prst="rect">
            <a:avLst/>
          </a:prstGeom>
          <a:noFill/>
        </p:spPr>
        <p:txBody>
          <a:bodyPr wrap="square" lIns="27432" rIns="27432" tIns="27432" bIns="27432" anchor="ctr">
            <a:noAutofit/>
          </a:bodyPr>
          <a:lstStyle/>
          <a:p>
            <a:pPr algn="l">
              <a:spcBef>
                <a:spcPts val="0"/>
              </a:spcBef>
              <a:spcAft>
                <a:spcPts val="0"/>
              </a:spcAft>
            </a:pPr>
            <a:r>
              <a:rPr sz="1300" b="0">
                <a:solidFill>
                  <a:srgbClr val="FFFFFF"/>
                </a:solidFill>
                <a:latin typeface="Calibri"/>
              </a:rPr>
              <a:t>mz.muttaqin1@gmail.com</a:t>
            </a:r>
          </a:p>
        </p:txBody>
      </p:sp>
      <p:sp>
        <p:nvSpPr>
          <p:cNvPr id="8" name="TextBox 7"/>
          <p:cNvSpPr txBox="1"/>
          <p:nvPr/>
        </p:nvSpPr>
        <p:spPr>
          <a:xfrm>
            <a:off x="4206240" y="3931920"/>
            <a:ext cx="4572000" cy="640080"/>
          </a:xfrm>
          <a:prstGeom prst="rect">
            <a:avLst/>
          </a:prstGeom>
          <a:noFill/>
        </p:spPr>
        <p:txBody>
          <a:bodyPr wrap="square" lIns="27432" rIns="27432" tIns="27432" bIns="27432" anchor="t">
            <a:noAutofit/>
          </a:bodyPr>
          <a:lstStyle/>
          <a:p>
            <a:pPr algn="l">
              <a:spcBef>
                <a:spcPts val="0"/>
              </a:spcBef>
              <a:spcAft>
                <a:spcPts val="300"/>
              </a:spcAft>
            </a:pPr>
            <a:r>
              <a:rPr sz="1000" b="0">
                <a:solidFill>
                  <a:srgbClr val="A9C9A4"/>
                </a:solidFill>
                <a:latin typeface="Calibri"/>
              </a:rPr>
              <a:t>Lambung Mangkurat University · Banjarbaru, Indonesia</a:t>
            </a:r>
          </a:p>
          <a:p>
            <a:pPr algn="l">
              <a:spcBef>
                <a:spcPts val="0"/>
              </a:spcBef>
              <a:spcAft>
                <a:spcPts val="0"/>
              </a:spcAft>
            </a:pPr>
            <a:r>
              <a:rPr sz="1000" b="0">
                <a:solidFill>
                  <a:srgbClr val="A9C9A4"/>
                </a:solidFill>
                <a:latin typeface="Calibri"/>
              </a:rPr>
              <a:t>Funded by Badan Pengelola Dana Perkebunan (BPDP), Indonesia, contract PRJ-36/BPDP/2026.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